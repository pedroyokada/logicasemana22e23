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2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29"/>
  </p:notesMasterIdLst>
  <p:sldIdLst>
    <p:sldId id="283" r:id="rId4"/>
    <p:sldId id="284" r:id="rId5"/>
    <p:sldId id="629" r:id="rId6"/>
    <p:sldId id="286" r:id="rId7"/>
    <p:sldId id="287" r:id="rId8"/>
    <p:sldId id="288" r:id="rId9"/>
    <p:sldId id="289" r:id="rId10"/>
    <p:sldId id="290" r:id="rId11"/>
    <p:sldId id="590" r:id="rId12"/>
    <p:sldId id="589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625" r:id="rId27"/>
    <p:sldId id="307" r:id="rId28"/>
  </p:sldIdLst>
  <p:sldSz cx="12192000" cy="6858000"/>
  <p:notesSz cx="6858000" cy="9144000"/>
  <p:embeddedFontLs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Light" panose="00000400000000000000" pitchFamily="2" charset="0"/>
      <p:regular r:id="rId34"/>
      <p:bold r:id="rId35"/>
      <p:italic r:id="rId36"/>
      <p:boldItalic r:id="rId37"/>
    </p:embeddedFont>
    <p:embeddedFont>
      <p:font typeface="Poppins Medium" panose="000006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2" id="{1EE562C0-79F9-459D-BD06-143C8FE9FF2F}">
          <p14:sldIdLst>
            <p14:sldId id="283"/>
            <p14:sldId id="284"/>
            <p14:sldId id="629"/>
            <p14:sldId id="286"/>
            <p14:sldId id="287"/>
            <p14:sldId id="288"/>
            <p14:sldId id="289"/>
            <p14:sldId id="290"/>
            <p14:sldId id="590"/>
            <p14:sldId id="589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625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07A45E-4514-CAE5-3C40-E2CD3DAFA70C}" name="Isabel Cruz do amaral Pupo" initials="IC" userId="S::isabel_pupo@vanzolini-ead.org.br::8f4c32d8-231f-4630-ae3e-1dca2f05616d" providerId="AD"/>
  <p188:author id="{5609E583-6F6E-D26E-3483-A990B1ED9307}" name="Alice Girodo Elias" initials="AE" userId="S::alice_elias@vanzolini-ead.org.br::83a86b8d-5fdd-48ae-8c3d-d7029cde8382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8117E4-6555-4A4F-B310-87134BD24971}">
  <a:tblStyle styleId="{F98117E4-6555-4A4F-B310-87134BD2497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7" autoAdjust="0"/>
    <p:restoredTop sz="87400" autoAdjust="0"/>
  </p:normalViewPr>
  <p:slideViewPr>
    <p:cSldViewPr snapToGrid="0">
      <p:cViewPr varScale="1">
        <p:scale>
          <a:sx n="93" d="100"/>
          <a:sy n="93" d="100"/>
        </p:scale>
        <p:origin x="1332" y="84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0.fntdata"/><Relationship Id="rId21" Type="http://schemas.openxmlformats.org/officeDocument/2006/relationships/slide" Target="slides/slide18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microsoft.com/office/2018/10/relationships/authors" Target="authors.xml"/><Relationship Id="rId20" Type="http://schemas.openxmlformats.org/officeDocument/2006/relationships/slide" Target="slides/slide17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6" name="Google Shape;309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097" name="Google Shape;309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g3f6172b20c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1" name="Google Shape;3101;g3f6172b20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0614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3f6172b20c7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1" name="Google Shape;3151;g3f6172b20c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3f6172b20c7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0" name="Google Shape;3170;g3f6172b20c7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3f6172b20c7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9" name="Google Shape;3179;g3f6172b20c7_0_4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0" name="Google Shape;3180;g3f6172b20c7_0_4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g3f6172b20c7_0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7" name="Google Shape;3187;g3f6172b20c7_0_10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8" name="Google Shape;3188;g3f6172b20c7_0_10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g3f3d9c91c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4" name="Google Shape;3194;g3f3d9c91c0d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5" name="Google Shape;3195;g3f3d9c91c0d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CD75C42D-4BE1-5EDF-5736-59E5E6E9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A60CA8E8-B613-54EA-DC8A-6C4031A82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EE372EEF-3727-55FD-F6B4-C59D87367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5977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g3f3d9c91c0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4" name="Google Shape;3244;g3f3d9c91c0d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5" name="Google Shape;3245;g3f3d9c91c0d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Google Shape;3252;g3f3d9c91c0d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3" name="Google Shape;3253;g3f3d9c91c0d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4" name="Google Shape;3254;g3f3d9c91c0d_0_1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3f3d9c91c0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2" name="Google Shape;3262;g3f3d9c91c0d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3" name="Google Shape;3263;g3f3d9c91c0d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g3f3d9c91c0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2" name="Google Shape;3272;g3f3d9c91c0d_0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3" name="Google Shape;3273;g3f3d9c91c0d_0_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3f3d9c91c0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3f3d9c91c0d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3" name="Google Shape;3283;g3f3d9c91c0d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g3f3d9c91c0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1" name="Google Shape;3291;g3f3d9c91c0d_0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2" name="Google Shape;3292;g3f3d9c91c0d_0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g3f58166c373_0_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299" name="Google Shape;3299;g3f58166c37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g3f58166c373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5" name="Google Shape;3305;g3f58166c37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g3f58166c373_0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1" name="Google Shape;3311;g3f58166c37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f58166c37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7" name="Google Shape;3317;g3f58166c373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318" name="Google Shape;3318;g3f58166c373_0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f58166c37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2" name="Google Shape;3322;g3f58166c373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323" name="Google Shape;3323;g3f58166c373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" name="Google Shape;3342;g3f58166c37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3" name="Google Shape;3343;g3f58166c373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344" name="Google Shape;3344;g3f58166c373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" name="Google Shape;3358;g3f3d9c91c0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9" name="Google Shape;3359;g3f3d9c91c0d_0_2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0" name="Google Shape;3360;g3f3d9c91c0d_0_2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053" name="Google Shape;3053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4" name="Google Shape;341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5" name="Google Shape;341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416" name="Google Shape;3416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6.png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89241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07641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2225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83038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215300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94286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0134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1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84612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9.xml"/><Relationship Id="rId47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07.xml"/><Relationship Id="rId55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4.xml"/><Relationship Id="rId40" Type="http://schemas.openxmlformats.org/officeDocument/2006/relationships/slideLayout" Target="../slideLayouts/slideLayout97.xml"/><Relationship Id="rId45" Type="http://schemas.openxmlformats.org/officeDocument/2006/relationships/slideLayout" Target="../slideLayouts/slideLayout102.xml"/><Relationship Id="rId53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100.xml"/><Relationship Id="rId48" Type="http://schemas.openxmlformats.org/officeDocument/2006/relationships/slideLayout" Target="../slideLayouts/slideLayout105.xml"/><Relationship Id="rId56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65.xml"/><Relationship Id="rId51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90.xml"/><Relationship Id="rId38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77.xml"/><Relationship Id="rId41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106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101.xml"/><Relationship Id="rId52" Type="http://schemas.openxmlformats.org/officeDocument/2006/relationships/slideLayout" Target="../slideLayouts/slideLayout109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4.xml"/><Relationship Id="rId42" Type="http://schemas.openxmlformats.org/officeDocument/2006/relationships/slideLayout" Target="../slideLayouts/slideLayout155.xml"/><Relationship Id="rId47" Type="http://schemas.openxmlformats.org/officeDocument/2006/relationships/slideLayout" Target="../slideLayouts/slideLayout160.xml"/><Relationship Id="rId63" Type="http://schemas.openxmlformats.org/officeDocument/2006/relationships/slideLayout" Target="../slideLayouts/slideLayout176.xml"/><Relationship Id="rId68" Type="http://schemas.openxmlformats.org/officeDocument/2006/relationships/slideLayout" Target="../slideLayouts/slideLayout181.xml"/><Relationship Id="rId1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24.xml"/><Relationship Id="rId32" Type="http://schemas.openxmlformats.org/officeDocument/2006/relationships/slideLayout" Target="../slideLayouts/slideLayout145.xml"/><Relationship Id="rId37" Type="http://schemas.openxmlformats.org/officeDocument/2006/relationships/slideLayout" Target="../slideLayouts/slideLayout150.xml"/><Relationship Id="rId53" Type="http://schemas.openxmlformats.org/officeDocument/2006/relationships/slideLayout" Target="../slideLayouts/slideLayout166.xml"/><Relationship Id="rId58" Type="http://schemas.openxmlformats.org/officeDocument/2006/relationships/slideLayout" Target="../slideLayouts/slideLayout171.xml"/><Relationship Id="rId74" Type="http://schemas.openxmlformats.org/officeDocument/2006/relationships/slideLayout" Target="../slideLayouts/slideLayout187.xml"/><Relationship Id="rId79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18.xml"/><Relationship Id="rId61" Type="http://schemas.openxmlformats.org/officeDocument/2006/relationships/slideLayout" Target="../slideLayouts/slideLayout174.xml"/><Relationship Id="rId82" Type="http://schemas.openxmlformats.org/officeDocument/2006/relationships/theme" Target="../theme/theme3.xml"/><Relationship Id="rId1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27.xml"/><Relationship Id="rId22" Type="http://schemas.openxmlformats.org/officeDocument/2006/relationships/slideLayout" Target="../slideLayouts/slideLayout135.xml"/><Relationship Id="rId27" Type="http://schemas.openxmlformats.org/officeDocument/2006/relationships/slideLayout" Target="../slideLayouts/slideLayout140.xml"/><Relationship Id="rId30" Type="http://schemas.openxmlformats.org/officeDocument/2006/relationships/slideLayout" Target="../slideLayouts/slideLayout143.xml"/><Relationship Id="rId35" Type="http://schemas.openxmlformats.org/officeDocument/2006/relationships/slideLayout" Target="../slideLayouts/slideLayout148.xml"/><Relationship Id="rId43" Type="http://schemas.openxmlformats.org/officeDocument/2006/relationships/slideLayout" Target="../slideLayouts/slideLayout156.xml"/><Relationship Id="rId48" Type="http://schemas.openxmlformats.org/officeDocument/2006/relationships/slideLayout" Target="../slideLayouts/slideLayout161.xml"/><Relationship Id="rId56" Type="http://schemas.openxmlformats.org/officeDocument/2006/relationships/slideLayout" Target="../slideLayouts/slideLayout169.xml"/><Relationship Id="rId64" Type="http://schemas.openxmlformats.org/officeDocument/2006/relationships/slideLayout" Target="../slideLayouts/slideLayout177.xml"/><Relationship Id="rId69" Type="http://schemas.openxmlformats.org/officeDocument/2006/relationships/slideLayout" Target="../slideLayouts/slideLayout182.xml"/><Relationship Id="rId77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21.xml"/><Relationship Id="rId51" Type="http://schemas.openxmlformats.org/officeDocument/2006/relationships/slideLayout" Target="../slideLayouts/slideLayout164.xml"/><Relationship Id="rId72" Type="http://schemas.openxmlformats.org/officeDocument/2006/relationships/slideLayout" Target="../slideLayouts/slideLayout185.xml"/><Relationship Id="rId80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30.xml"/><Relationship Id="rId25" Type="http://schemas.openxmlformats.org/officeDocument/2006/relationships/slideLayout" Target="../slideLayouts/slideLayout138.xml"/><Relationship Id="rId33" Type="http://schemas.openxmlformats.org/officeDocument/2006/relationships/slideLayout" Target="../slideLayouts/slideLayout146.xml"/><Relationship Id="rId38" Type="http://schemas.openxmlformats.org/officeDocument/2006/relationships/slideLayout" Target="../slideLayouts/slideLayout151.xml"/><Relationship Id="rId46" Type="http://schemas.openxmlformats.org/officeDocument/2006/relationships/slideLayout" Target="../slideLayouts/slideLayout159.xml"/><Relationship Id="rId59" Type="http://schemas.openxmlformats.org/officeDocument/2006/relationships/slideLayout" Target="../slideLayouts/slideLayout172.xml"/><Relationship Id="rId67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33.xml"/><Relationship Id="rId41" Type="http://schemas.openxmlformats.org/officeDocument/2006/relationships/slideLayout" Target="../slideLayouts/slideLayout154.xml"/><Relationship Id="rId54" Type="http://schemas.openxmlformats.org/officeDocument/2006/relationships/slideLayout" Target="../slideLayouts/slideLayout167.xml"/><Relationship Id="rId62" Type="http://schemas.openxmlformats.org/officeDocument/2006/relationships/slideLayout" Target="../slideLayouts/slideLayout175.xml"/><Relationship Id="rId70" Type="http://schemas.openxmlformats.org/officeDocument/2006/relationships/slideLayout" Target="../slideLayouts/slideLayout183.xml"/><Relationship Id="rId75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8.xml"/><Relationship Id="rId23" Type="http://schemas.openxmlformats.org/officeDocument/2006/relationships/slideLayout" Target="../slideLayouts/slideLayout136.xml"/><Relationship Id="rId28" Type="http://schemas.openxmlformats.org/officeDocument/2006/relationships/slideLayout" Target="../slideLayouts/slideLayout141.xml"/><Relationship Id="rId36" Type="http://schemas.openxmlformats.org/officeDocument/2006/relationships/slideLayout" Target="../slideLayouts/slideLayout149.xml"/><Relationship Id="rId49" Type="http://schemas.openxmlformats.org/officeDocument/2006/relationships/slideLayout" Target="../slideLayouts/slideLayout162.xml"/><Relationship Id="rId57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44.xml"/><Relationship Id="rId44" Type="http://schemas.openxmlformats.org/officeDocument/2006/relationships/slideLayout" Target="../slideLayouts/slideLayout157.xml"/><Relationship Id="rId52" Type="http://schemas.openxmlformats.org/officeDocument/2006/relationships/slideLayout" Target="../slideLayouts/slideLayout165.xml"/><Relationship Id="rId60" Type="http://schemas.openxmlformats.org/officeDocument/2006/relationships/slideLayout" Target="../slideLayouts/slideLayout173.xml"/><Relationship Id="rId65" Type="http://schemas.openxmlformats.org/officeDocument/2006/relationships/slideLayout" Target="../slideLayouts/slideLayout178.xml"/><Relationship Id="rId73" Type="http://schemas.openxmlformats.org/officeDocument/2006/relationships/slideLayout" Target="../slideLayouts/slideLayout186.xml"/><Relationship Id="rId78" Type="http://schemas.openxmlformats.org/officeDocument/2006/relationships/slideLayout" Target="../slideLayouts/slideLayout191.xml"/><Relationship Id="rId81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3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31.xml"/><Relationship Id="rId39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47.xml"/><Relationship Id="rId50" Type="http://schemas.openxmlformats.org/officeDocument/2006/relationships/slideLayout" Target="../slideLayouts/slideLayout163.xml"/><Relationship Id="rId55" Type="http://schemas.openxmlformats.org/officeDocument/2006/relationships/slideLayout" Target="../slideLayouts/slideLayout168.xml"/><Relationship Id="rId76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20.xml"/><Relationship Id="rId71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42.xml"/><Relationship Id="rId24" Type="http://schemas.openxmlformats.org/officeDocument/2006/relationships/slideLayout" Target="../slideLayouts/slideLayout137.xml"/><Relationship Id="rId40" Type="http://schemas.openxmlformats.org/officeDocument/2006/relationships/slideLayout" Target="../slideLayouts/slideLayout153.xml"/><Relationship Id="rId45" Type="http://schemas.openxmlformats.org/officeDocument/2006/relationships/slideLayout" Target="../slideLayouts/slideLayout158.xml"/><Relationship Id="rId66" Type="http://schemas.openxmlformats.org/officeDocument/2006/relationships/slideLayout" Target="../slideLayouts/slideLayout1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911" r:id="rId5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  <p:sldLayoutId id="2147483853" r:id="rId29"/>
    <p:sldLayoutId id="2147483854" r:id="rId30"/>
    <p:sldLayoutId id="2147483855" r:id="rId31"/>
    <p:sldLayoutId id="2147483856" r:id="rId32"/>
    <p:sldLayoutId id="2147483857" r:id="rId33"/>
    <p:sldLayoutId id="2147483858" r:id="rId34"/>
    <p:sldLayoutId id="2147483859" r:id="rId35"/>
    <p:sldLayoutId id="2147483860" r:id="rId36"/>
    <p:sldLayoutId id="2147483861" r:id="rId37"/>
    <p:sldLayoutId id="2147483862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  <p:sldLayoutId id="2147483870" r:id="rId46"/>
    <p:sldLayoutId id="2147483871" r:id="rId47"/>
    <p:sldLayoutId id="2147483872" r:id="rId48"/>
    <p:sldLayoutId id="2147483873" r:id="rId49"/>
    <p:sldLayoutId id="2147483874" r:id="rId50"/>
    <p:sldLayoutId id="2147483875" r:id="rId51"/>
    <p:sldLayoutId id="2147483876" r:id="rId52"/>
    <p:sldLayoutId id="2147483877" r:id="rId53"/>
    <p:sldLayoutId id="2147483878" r:id="rId54"/>
    <p:sldLayoutId id="2147483879" r:id="rId55"/>
    <p:sldLayoutId id="2147483880" r:id="rId56"/>
    <p:sldLayoutId id="2147483881" r:id="rId57"/>
    <p:sldLayoutId id="2147483882" r:id="rId58"/>
    <p:sldLayoutId id="2147483883" r:id="rId59"/>
    <p:sldLayoutId id="2147483884" r:id="rId60"/>
    <p:sldLayoutId id="2147483885" r:id="rId61"/>
    <p:sldLayoutId id="2147483886" r:id="rId62"/>
    <p:sldLayoutId id="2147483887" r:id="rId63"/>
    <p:sldLayoutId id="2147483888" r:id="rId64"/>
    <p:sldLayoutId id="2147483889" r:id="rId65"/>
    <p:sldLayoutId id="2147483890" r:id="rId66"/>
    <p:sldLayoutId id="2147483891" r:id="rId67"/>
    <p:sldLayoutId id="2147483892" r:id="rId68"/>
    <p:sldLayoutId id="2147483893" r:id="rId69"/>
    <p:sldLayoutId id="2147483894" r:id="rId70"/>
    <p:sldLayoutId id="2147483895" r:id="rId71"/>
    <p:sldLayoutId id="2147483896" r:id="rId72"/>
    <p:sldLayoutId id="2147483898" r:id="rId73"/>
    <p:sldLayoutId id="2147483899" r:id="rId74"/>
    <p:sldLayoutId id="2147483900" r:id="rId75"/>
    <p:sldLayoutId id="2147483901" r:id="rId76"/>
    <p:sldLayoutId id="2147483902" r:id="rId77"/>
    <p:sldLayoutId id="2147483903" r:id="rId78"/>
    <p:sldLayoutId id="2147483904" r:id="rId79"/>
    <p:sldLayoutId id="2147483905" r:id="rId80"/>
    <p:sldLayoutId id="2147483906" r:id="rId8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L4YDtFnCt4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media.com.br/python-estrutura-de-repeticao-while/38546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4.xml"/><Relationship Id="rId6" Type="http://schemas.openxmlformats.org/officeDocument/2006/relationships/hyperlink" Target="https://www.freecodecamp.org/portuguese/news/laco-for-em-python-exemplo-de-for-i-in-range/" TargetMode="External"/><Relationship Id="rId5" Type="http://schemas.openxmlformats.org/officeDocument/2006/relationships/hyperlink" Target="https://docs.python.org/pt-br/3/tutorial/controlflow.html" TargetMode="External"/><Relationship Id="rId4" Type="http://schemas.openxmlformats.org/officeDocument/2006/relationships/hyperlink" Target="https://pythonacademy.com.br/blog/estruturas-de-repeticao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42.pn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p292"/>
          <p:cNvSpPr txBox="1"/>
          <p:nvPr/>
        </p:nvSpPr>
        <p:spPr>
          <a:xfrm>
            <a:off x="858555" y="3588528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23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p292"/>
          <p:cNvSpPr txBox="1"/>
          <p:nvPr/>
        </p:nvSpPr>
        <p:spPr>
          <a:xfrm>
            <a:off x="208042" y="2893570"/>
            <a:ext cx="8115826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2: Organizar o cálculo para ficar claro e reutilizável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189A089A-DBA5-38B1-8DA4-292773557479}"/>
              </a:ext>
            </a:extLst>
          </p:cNvPr>
          <p:cNvSpPr txBox="1"/>
          <p:nvPr/>
        </p:nvSpPr>
        <p:spPr>
          <a:xfrm>
            <a:off x="858555" y="207479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E905DB5C-CD59-BEA6-3C71-0C705E26FCCF}"/>
              </a:ext>
            </a:extLst>
          </p:cNvPr>
          <p:cNvSpPr txBox="1"/>
          <p:nvPr/>
        </p:nvSpPr>
        <p:spPr>
          <a:xfrm>
            <a:off x="779142" y="1189780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71441465-D1C3-5838-A27A-FA1E90D78F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810FFF6-F888-B091-434D-C0B1344932FC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F66C290C-4D07-17AC-FD71-B15D8348B9A0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F1C8068-D15B-249D-5925-9F222A7856E9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5A92E69E-15C6-669C-087E-A7151D78E31F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3BF9640-8C7D-11F7-AA76-6CF2F5DB221B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869D7D20-101A-087E-4612-26AD608E576E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A0DAA95C-4AFD-6C62-05CB-6EB59A061D47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D5802D08-CABD-EF65-F5F3-235C514BFC0E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F7E9FC2F-D8D1-C98C-1016-9177FFC2B626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A8222719-4DB7-5021-991B-3548693E2D6C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732BEBFC-A267-6FE6-F178-B64309539FC8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953CCAD9-B2CF-D719-975A-67DB96EF99D0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441EC511-D488-BD45-94B0-132885897A0D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4C6082D1-E037-03FF-F316-B57796A21477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678338C0-E8C6-FE66-A100-60BABB5F6B0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9B1386AB-6715-6674-786A-078C9575191B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E168AA26-6573-6652-3A0B-0687D3F7FBCB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186336CD-C6A5-7914-E2B9-F2D953E19F35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4D10159-A660-5948-0C53-7DF0C5982A63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35361FE-B114-C1F5-EB7D-8C0BAB2015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621351B6-A56D-DF93-7413-0AE5549DC584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D04B5FE1-041C-F872-AEE9-432D09E5884C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15B77D35-97E3-8407-A70E-4562217BD345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C6847EA1-C8C6-3745-3CFF-6B6F39CFC295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965AB694-6BA4-78DE-93DC-53A624E91A2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D86EE152-FEDD-E818-D68B-C326D21ED8F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D5C6DA2D-D96B-1D7A-A549-999EBF9EE0DD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A92556FD-776A-C979-6A11-D7803BAA6011}"/>
              </a:ext>
            </a:extLst>
          </p:cNvPr>
          <p:cNvSpPr/>
          <p:nvPr/>
        </p:nvSpPr>
        <p:spPr>
          <a:xfrm>
            <a:off x="8032927" y="241899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DD91D90D-506C-9C69-4D69-D3568A16E33D}"/>
              </a:ext>
            </a:extLst>
          </p:cNvPr>
          <p:cNvCxnSpPr>
            <a:cxnSpLocks/>
            <a:stCxn id="30" idx="3"/>
            <a:endCxn id="17" idx="5"/>
          </p:cNvCxnSpPr>
          <p:nvPr/>
        </p:nvCxnSpPr>
        <p:spPr>
          <a:xfrm flipH="1">
            <a:off x="7661951" y="2876579"/>
            <a:ext cx="449485" cy="5445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43081A8E-CEB9-A4EF-4473-7448A6B06845}"/>
              </a:ext>
            </a:extLst>
          </p:cNvPr>
          <p:cNvSpPr txBox="1"/>
          <p:nvPr/>
        </p:nvSpPr>
        <p:spPr>
          <a:xfrm>
            <a:off x="9951605" y="4353148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B131BD08-5BCB-966F-89FD-50D2E009EAAE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65998" y="358277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23CB367E-B9FC-068E-A302-F5C1D84B982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0A5C1060-4914-BD39-6813-59CECAF2DA0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503A8081-45D3-ECC7-FCD5-2D53C29F2B3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6423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BA8AB0BB-CEF0-F514-EBDA-6761ABF9AC1A}"/>
              </a:ext>
            </a:extLst>
          </p:cNvPr>
          <p:cNvSpPr txBox="1"/>
          <p:nvPr/>
        </p:nvSpPr>
        <p:spPr>
          <a:xfrm>
            <a:off x="260174" y="3853307"/>
            <a:ext cx="2083089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/>
                <a:ea typeface="Poppins Light"/>
                <a:cs typeface="Poppins"/>
                <a:sym typeface="Poppins Light"/>
              </a:rPr>
              <a:t>Funções e procedimentos – modularização I</a:t>
            </a:r>
            <a:endParaRPr lang="pt-BR" sz="1700" dirty="0">
              <a:latin typeface="Poppins"/>
              <a:cs typeface="Poppins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65381A14-A427-1076-D6DD-FBF65B7A9742}"/>
              </a:ext>
            </a:extLst>
          </p:cNvPr>
          <p:cNvSpPr txBox="1"/>
          <p:nvPr/>
        </p:nvSpPr>
        <p:spPr>
          <a:xfrm>
            <a:off x="4108077" y="5836005"/>
            <a:ext cx="2432456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E0BA7294-C38A-4D39-88C1-22F873763396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1BD8E53D-4B67-26AB-F2CB-19504CE95577}"/>
              </a:ext>
            </a:extLst>
          </p:cNvPr>
          <p:cNvSpPr txBox="1"/>
          <p:nvPr/>
        </p:nvSpPr>
        <p:spPr>
          <a:xfrm>
            <a:off x="8610341" y="2345867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59BB7FC5-E4D9-B7CF-63EB-13FBA9D734C2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4565AF1A-24C1-6018-E8EC-94842C1F5596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2C82E4A7-B8F0-D021-06AA-5DB2B7B90909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0D18264-179E-F55E-A5CE-93443C4FC959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0CDCA7D0-FFEB-4D57-1615-7E70DAAC4F22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C01BC356-72C4-0262-1694-661A7F108F33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05D28DE0-B285-7252-D925-8783D9BF16F5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15738" y="552120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3610EC55-98EA-5A69-684B-77E5928D755B}"/>
              </a:ext>
            </a:extLst>
          </p:cNvPr>
          <p:cNvSpPr txBox="1"/>
          <p:nvPr/>
        </p:nvSpPr>
        <p:spPr>
          <a:xfrm>
            <a:off x="9951605" y="4635157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76C387CA-C83D-8C6C-8A26-1F116293472D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991E9F05-88F9-D6CC-A0AD-064675E6FDE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35155218-1BDA-0F40-6FED-2456CEB6DD88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BCE75480-4F01-B268-6099-DBC86F2139ED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0506B1A2-A058-3BA1-57D9-51A9E20369FC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496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3" name="Google Shape;3153;p29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154" name="Google Shape;3154;p294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5" name="Google Shape;3155;p294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6" name="Google Shape;3156;p294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7" name="Google Shape;3157;p294"/>
          <p:cNvSpPr txBox="1"/>
          <p:nvPr/>
        </p:nvSpPr>
        <p:spPr>
          <a:xfrm>
            <a:off x="3331829" y="5351322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SISANO1C1B4S23A2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1" name="Google Shape;3161;p294"/>
          <p:cNvSpPr txBox="1"/>
          <p:nvPr/>
        </p:nvSpPr>
        <p:spPr>
          <a:xfrm>
            <a:off x="3331829" y="3260975"/>
            <a:ext cx="467712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2" name="Google Shape;3162;p294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p294"/>
          <p:cNvSpPr txBox="1"/>
          <p:nvPr/>
        </p:nvSpPr>
        <p:spPr>
          <a:xfrm>
            <a:off x="3331829" y="4507800"/>
            <a:ext cx="56745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2: Organizar o cálculo para ficar claro e reutilizável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0D0A1FE-13FB-ACBD-53E4-6A11D6F7352A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21A1FC0D-30B2-68F6-FD5E-EB3B55E789B3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DFA1D38-E248-B5CA-4C50-54B66C3F313F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6A32B0CE-9DCD-C00E-B23C-D864907BCE7B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29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Analisar formas de organizar algoritmos de cálculo e exibição de resultados com clareza e reaproveitamento de lógica.</a:t>
            </a:r>
            <a:endParaRPr dirty="0"/>
          </a:p>
        </p:txBody>
      </p:sp>
      <p:sp>
        <p:nvSpPr>
          <p:cNvPr id="3174" name="Google Shape;3174;p29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funções, vetores e condicionais compostas no desenvolvimento de programas que calculem e classifiquem resultados.</a:t>
            </a:r>
            <a:endParaRPr/>
          </a:p>
        </p:txBody>
      </p:sp>
      <p:sp>
        <p:nvSpPr>
          <p:cNvPr id="3175" name="Google Shape;3175;p295"/>
          <p:cNvSpPr txBox="1">
            <a:spLocks noGrp="1"/>
          </p:cNvSpPr>
          <p:nvPr>
            <p:ph type="body" idx="3"/>
          </p:nvPr>
        </p:nvSpPr>
        <p:spPr>
          <a:xfrm>
            <a:off x="7467375" y="3398979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Explorar com curiosidade diferentes formas de calcular e comparar resultados, investigando estratégias para organizar melhor as soluções.</a:t>
            </a:r>
            <a:endParaRPr dirty="0"/>
          </a:p>
        </p:txBody>
      </p:sp>
      <p:sp>
        <p:nvSpPr>
          <p:cNvPr id="3176" name="Google Shape;3176;p295"/>
          <p:cNvSpPr txBox="1">
            <a:spLocks noGrp="1"/>
          </p:cNvSpPr>
          <p:nvPr>
            <p:ph type="body" idx="4"/>
          </p:nvPr>
        </p:nvSpPr>
        <p:spPr>
          <a:xfrm>
            <a:off x="1467909" y="3398979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Roteiro de atividade prática.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296"/>
          <p:cNvSpPr txBox="1">
            <a:spLocks noGrp="1"/>
          </p:cNvSpPr>
          <p:nvPr>
            <p:ph type="body" idx="1"/>
          </p:nvPr>
        </p:nvSpPr>
        <p:spPr>
          <a:xfrm>
            <a:off x="2681900" y="795928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Quando o código cresce</a:t>
            </a:r>
            <a:endParaRPr sz="3200" dirty="0"/>
          </a:p>
        </p:txBody>
      </p:sp>
      <p:sp>
        <p:nvSpPr>
          <p:cNvPr id="3183" name="Google Shape;3183;p296"/>
          <p:cNvSpPr txBox="1">
            <a:spLocks noGrp="1"/>
          </p:cNvSpPr>
          <p:nvPr>
            <p:ph type="body" idx="2"/>
          </p:nvPr>
        </p:nvSpPr>
        <p:spPr>
          <a:xfrm>
            <a:off x="2681900" y="1887563"/>
            <a:ext cx="4035611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programa pode começar simples e funcionar bem. Quando entram novas funções, o mesmo trecho de código passa a fazer várias coisas ao mesmo tempo.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programa precisa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a média, classificar o desempenho de vendas e mostrar o resultado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esse trecho cresce depressa.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4" name="Google Shape;3184;p296"/>
          <p:cNvSpPr txBox="1"/>
          <p:nvPr/>
        </p:nvSpPr>
        <p:spPr>
          <a:xfrm>
            <a:off x="6765308" y="2125219"/>
            <a:ext cx="5409364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quantidades do Caderno já obtidas das vendas</a:t>
            </a:r>
            <a:endParaRPr sz="1600"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q1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q2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q3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8</a:t>
            </a:r>
            <a:endParaRPr sz="1600" dirty="0"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q1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q2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q3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</a:t>
            </a:r>
            <a:endParaRPr sz="1600" dirty="0"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30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"Alto"</a:t>
            </a:r>
            <a:endParaRPr sz="16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"Médio"</a:t>
            </a:r>
            <a:endParaRPr sz="16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"Baixo"</a:t>
            </a:r>
            <a:endParaRPr sz="16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CD9D1BBA-E091-88A2-E7D7-3608C5871B35}"/>
              </a:ext>
            </a:extLst>
          </p:cNvPr>
          <p:cNvSpPr txBox="1"/>
          <p:nvPr/>
        </p:nvSpPr>
        <p:spPr>
          <a:xfrm>
            <a:off x="6765307" y="5155157"/>
            <a:ext cx="54093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0" name="Google Shape;3190;p297"/>
          <p:cNvSpPr txBox="1">
            <a:spLocks noGrp="1"/>
          </p:cNvSpPr>
          <p:nvPr>
            <p:ph type="body" idx="1"/>
          </p:nvPr>
        </p:nvSpPr>
        <p:spPr>
          <a:xfrm>
            <a:off x="2728928" y="795928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Separar para organizar</a:t>
            </a:r>
            <a:endParaRPr sz="3200" dirty="0"/>
          </a:p>
        </p:txBody>
      </p:sp>
      <p:sp>
        <p:nvSpPr>
          <p:cNvPr id="3191" name="Google Shape;3191;p297"/>
          <p:cNvSpPr txBox="1">
            <a:spLocks noGrp="1"/>
          </p:cNvSpPr>
          <p:nvPr>
            <p:ph type="body" idx="2"/>
          </p:nvPr>
        </p:nvSpPr>
        <p:spPr>
          <a:xfrm>
            <a:off x="2728928" y="1697140"/>
            <a:ext cx="9205406" cy="1077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forma de organizar melhor o código é </a:t>
            </a: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modularizar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dividir o algoritmo em partes, cada uma com uma tarefa clara. Em vez de juntar tudo em um único bloco, podemos separar: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566;p14">
            <a:extLst>
              <a:ext uri="{FF2B5EF4-FFF2-40B4-BE49-F238E27FC236}">
                <a16:creationId xmlns:a16="http://schemas.microsoft.com/office/drawing/2014/main" id="{8B0F6938-1793-724B-999D-759FEBB1B43F}"/>
              </a:ext>
            </a:extLst>
          </p:cNvPr>
          <p:cNvSpPr/>
          <p:nvPr/>
        </p:nvSpPr>
        <p:spPr>
          <a:xfrm>
            <a:off x="2747629" y="3068959"/>
            <a:ext cx="600000" cy="600000"/>
          </a:xfrm>
          <a:prstGeom prst="ellipse">
            <a:avLst/>
          </a:prstGeom>
          <a:solidFill>
            <a:srgbClr val="529AC2"/>
          </a:solidFill>
          <a:ln w="25400" cap="flat" cmpd="sng">
            <a:solidFill>
              <a:srgbClr val="529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800"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63;p14">
            <a:extLst>
              <a:ext uri="{FF2B5EF4-FFF2-40B4-BE49-F238E27FC236}">
                <a16:creationId xmlns:a16="http://schemas.microsoft.com/office/drawing/2014/main" id="{CAD6995F-4A11-AFE9-C12A-8F5C0F285FD6}"/>
              </a:ext>
            </a:extLst>
          </p:cNvPr>
          <p:cNvSpPr/>
          <p:nvPr/>
        </p:nvSpPr>
        <p:spPr>
          <a:xfrm>
            <a:off x="2728928" y="3962323"/>
            <a:ext cx="600000" cy="600000"/>
          </a:xfrm>
          <a:prstGeom prst="ellipse">
            <a:avLst/>
          </a:prstGeom>
          <a:solidFill>
            <a:srgbClr val="529AC2"/>
          </a:solidFill>
          <a:ln w="25400" cap="flat" cmpd="sng">
            <a:solidFill>
              <a:srgbClr val="529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800"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69;p14">
            <a:extLst>
              <a:ext uri="{FF2B5EF4-FFF2-40B4-BE49-F238E27FC236}">
                <a16:creationId xmlns:a16="http://schemas.microsoft.com/office/drawing/2014/main" id="{DCF1DD8E-E649-D2AB-613C-AE550B16F469}"/>
              </a:ext>
            </a:extLst>
          </p:cNvPr>
          <p:cNvSpPr/>
          <p:nvPr/>
        </p:nvSpPr>
        <p:spPr>
          <a:xfrm>
            <a:off x="2728928" y="4874272"/>
            <a:ext cx="600000" cy="600000"/>
          </a:xfrm>
          <a:prstGeom prst="ellipse">
            <a:avLst/>
          </a:prstGeom>
          <a:solidFill>
            <a:srgbClr val="529AC2"/>
          </a:solidFill>
          <a:ln w="25400" cap="flat" cmpd="sng">
            <a:solidFill>
              <a:srgbClr val="529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800"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Espaço Reservado para Texto 22">
            <a:extLst>
              <a:ext uri="{FF2B5EF4-FFF2-40B4-BE49-F238E27FC236}">
                <a16:creationId xmlns:a16="http://schemas.microsoft.com/office/drawing/2014/main" id="{EE4F45EA-80D6-4C9A-F2EB-F4B0F0CC6FA6}"/>
              </a:ext>
            </a:extLst>
          </p:cNvPr>
          <p:cNvSpPr txBox="1">
            <a:spLocks/>
          </p:cNvSpPr>
          <p:nvPr/>
        </p:nvSpPr>
        <p:spPr>
          <a:xfrm>
            <a:off x="3423029" y="3067833"/>
            <a:ext cx="4123484" cy="3611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b="1" dirty="0">
                <a:latin typeface="Poppins" pitchFamily="2" charset="77"/>
                <a:cs typeface="Poppins" pitchFamily="2" charset="77"/>
              </a:rPr>
              <a:t>Cálculo</a:t>
            </a:r>
          </a:p>
        </p:txBody>
      </p:sp>
      <p:sp>
        <p:nvSpPr>
          <p:cNvPr id="6" name="Espaço Reservado para Texto 22">
            <a:extLst>
              <a:ext uri="{FF2B5EF4-FFF2-40B4-BE49-F238E27FC236}">
                <a16:creationId xmlns:a16="http://schemas.microsoft.com/office/drawing/2014/main" id="{D7D26BAB-E9AA-86A6-22F3-D793DE667440}"/>
              </a:ext>
            </a:extLst>
          </p:cNvPr>
          <p:cNvSpPr txBox="1">
            <a:spLocks/>
          </p:cNvSpPr>
          <p:nvPr/>
        </p:nvSpPr>
        <p:spPr>
          <a:xfrm>
            <a:off x="3418705" y="3961999"/>
            <a:ext cx="4123484" cy="2317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b="1" dirty="0">
                <a:latin typeface="Poppins" pitchFamily="2" charset="77"/>
                <a:cs typeface="Poppins" pitchFamily="2" charset="77"/>
              </a:rPr>
              <a:t>Regra</a:t>
            </a:r>
          </a:p>
        </p:txBody>
      </p:sp>
      <p:sp>
        <p:nvSpPr>
          <p:cNvPr id="7" name="Espaço Reservado para Texto 22">
            <a:extLst>
              <a:ext uri="{FF2B5EF4-FFF2-40B4-BE49-F238E27FC236}">
                <a16:creationId xmlns:a16="http://schemas.microsoft.com/office/drawing/2014/main" id="{6AB5908D-E99D-0DA0-E6D4-500C8288196E}"/>
              </a:ext>
            </a:extLst>
          </p:cNvPr>
          <p:cNvSpPr txBox="1">
            <a:spLocks/>
          </p:cNvSpPr>
          <p:nvPr/>
        </p:nvSpPr>
        <p:spPr>
          <a:xfrm>
            <a:off x="3418705" y="4873948"/>
            <a:ext cx="4104783" cy="231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b="1">
                <a:latin typeface="Poppins" pitchFamily="2" charset="77"/>
                <a:cs typeface="Poppins" pitchFamily="2" charset="77"/>
              </a:rPr>
              <a:t>Exibição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C6498366-B36C-330F-4581-1323EAABAA17}"/>
              </a:ext>
            </a:extLst>
          </p:cNvPr>
          <p:cNvSpPr txBox="1">
            <a:spLocks/>
          </p:cNvSpPr>
          <p:nvPr/>
        </p:nvSpPr>
        <p:spPr>
          <a:xfrm>
            <a:off x="3437406" y="3422631"/>
            <a:ext cx="4123483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Obter a média das quantidades.</a:t>
            </a:r>
          </a:p>
          <a:p>
            <a:endParaRPr lang="pt-BR" sz="1500" dirty="0"/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03777A08-ABF2-A831-AAEE-9D1491044C13}"/>
              </a:ext>
            </a:extLst>
          </p:cNvPr>
          <p:cNvSpPr txBox="1">
            <a:spLocks/>
          </p:cNvSpPr>
          <p:nvPr/>
        </p:nvSpPr>
        <p:spPr>
          <a:xfrm>
            <a:off x="3418705" y="4323628"/>
            <a:ext cx="4123483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pt-BR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lassificar o desempenho.</a:t>
            </a:r>
          </a:p>
          <a:p>
            <a:endParaRPr lang="pt-BR" sz="1500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A285F759-6C04-B527-94AF-CBC8A472D832}"/>
              </a:ext>
            </a:extLst>
          </p:cNvPr>
          <p:cNvSpPr txBox="1">
            <a:spLocks/>
          </p:cNvSpPr>
          <p:nvPr/>
        </p:nvSpPr>
        <p:spPr>
          <a:xfrm>
            <a:off x="3418705" y="5221934"/>
            <a:ext cx="5777169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Mostrar o resultado na tela (ou em outro lugar).</a:t>
            </a:r>
            <a:endParaRPr lang="pt-BR" sz="1500">
              <a:solidFill>
                <a:schemeClr val="dk1"/>
              </a:solidFill>
            </a:endParaRPr>
          </a:p>
        </p:txBody>
      </p:sp>
      <p:grpSp>
        <p:nvGrpSpPr>
          <p:cNvPr id="14" name="Google Shape;1758;p100">
            <a:extLst>
              <a:ext uri="{FF2B5EF4-FFF2-40B4-BE49-F238E27FC236}">
                <a16:creationId xmlns:a16="http://schemas.microsoft.com/office/drawing/2014/main" id="{7FD57ABD-2535-6A0F-410C-F23F146DCB89}"/>
              </a:ext>
            </a:extLst>
          </p:cNvPr>
          <p:cNvGrpSpPr/>
          <p:nvPr/>
        </p:nvGrpSpPr>
        <p:grpSpPr>
          <a:xfrm>
            <a:off x="2883836" y="5040248"/>
            <a:ext cx="320158" cy="268047"/>
            <a:chOff x="2789489" y="5710600"/>
            <a:chExt cx="480237" cy="402070"/>
          </a:xfrm>
          <a:solidFill>
            <a:schemeClr val="bg1"/>
          </a:solidFill>
        </p:grpSpPr>
        <p:grpSp>
          <p:nvGrpSpPr>
            <p:cNvPr id="15" name="Google Shape;1759;p100">
              <a:extLst>
                <a:ext uri="{FF2B5EF4-FFF2-40B4-BE49-F238E27FC236}">
                  <a16:creationId xmlns:a16="http://schemas.microsoft.com/office/drawing/2014/main" id="{2B905702-D1A2-698C-44BB-EAF90C864736}"/>
                </a:ext>
              </a:extLst>
            </p:cNvPr>
            <p:cNvGrpSpPr/>
            <p:nvPr/>
          </p:nvGrpSpPr>
          <p:grpSpPr>
            <a:xfrm>
              <a:off x="2789489" y="5800941"/>
              <a:ext cx="480237" cy="311729"/>
              <a:chOff x="2789489" y="5800941"/>
              <a:chExt cx="480237" cy="311729"/>
            </a:xfrm>
            <a:grpFill/>
          </p:grpSpPr>
          <p:sp>
            <p:nvSpPr>
              <p:cNvPr id="22" name="Google Shape;1760;p100">
                <a:extLst>
                  <a:ext uri="{FF2B5EF4-FFF2-40B4-BE49-F238E27FC236}">
                    <a16:creationId xmlns:a16="http://schemas.microsoft.com/office/drawing/2014/main" id="{999A2A46-8963-CC9E-3605-DAB52BB73A1D}"/>
                  </a:ext>
                </a:extLst>
              </p:cNvPr>
              <p:cNvSpPr/>
              <p:nvPr/>
            </p:nvSpPr>
            <p:spPr>
              <a:xfrm>
                <a:off x="2855874" y="5800941"/>
                <a:ext cx="347468" cy="235286"/>
              </a:xfrm>
              <a:custGeom>
                <a:avLst/>
                <a:gdLst/>
                <a:ahLst/>
                <a:cxnLst/>
                <a:rect l="l" t="t" r="r" b="b"/>
                <a:pathLst>
                  <a:path w="347468" h="235286" extrusionOk="0">
                    <a:moveTo>
                      <a:pt x="340023" y="235286"/>
                    </a:moveTo>
                    <a:lnTo>
                      <a:pt x="7446" y="235286"/>
                    </a:lnTo>
                    <a:cubicBezTo>
                      <a:pt x="3336" y="235286"/>
                      <a:pt x="0" y="231951"/>
                      <a:pt x="0" y="227840"/>
                    </a:cubicBezTo>
                    <a:lnTo>
                      <a:pt x="0" y="7446"/>
                    </a:lnTo>
                    <a:cubicBezTo>
                      <a:pt x="0" y="3336"/>
                      <a:pt x="3336" y="0"/>
                      <a:pt x="7446" y="0"/>
                    </a:cubicBezTo>
                    <a:lnTo>
                      <a:pt x="91613" y="0"/>
                    </a:lnTo>
                    <a:cubicBezTo>
                      <a:pt x="95723" y="0"/>
                      <a:pt x="99058" y="3336"/>
                      <a:pt x="99058" y="7446"/>
                    </a:cubicBezTo>
                    <a:cubicBezTo>
                      <a:pt x="99058" y="11556"/>
                      <a:pt x="95723" y="14892"/>
                      <a:pt x="91613" y="14892"/>
                    </a:cubicBezTo>
                    <a:lnTo>
                      <a:pt x="14892" y="14892"/>
                    </a:lnTo>
                    <a:lnTo>
                      <a:pt x="14892" y="220395"/>
                    </a:lnTo>
                    <a:lnTo>
                      <a:pt x="332577" y="220395"/>
                    </a:lnTo>
                    <a:lnTo>
                      <a:pt x="332577" y="128564"/>
                    </a:lnTo>
                    <a:cubicBezTo>
                      <a:pt x="332577" y="124453"/>
                      <a:pt x="335913" y="121118"/>
                      <a:pt x="340023" y="121118"/>
                    </a:cubicBezTo>
                    <a:cubicBezTo>
                      <a:pt x="344133" y="121118"/>
                      <a:pt x="347469" y="124453"/>
                      <a:pt x="347469" y="128564"/>
                    </a:cubicBezTo>
                    <a:lnTo>
                      <a:pt x="347469" y="227840"/>
                    </a:lnTo>
                    <a:cubicBezTo>
                      <a:pt x="347469" y="231951"/>
                      <a:pt x="344133" y="235286"/>
                      <a:pt x="340023" y="23528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761;p100">
                <a:extLst>
                  <a:ext uri="{FF2B5EF4-FFF2-40B4-BE49-F238E27FC236}">
                    <a16:creationId xmlns:a16="http://schemas.microsoft.com/office/drawing/2014/main" id="{B8EF89E9-BC42-3FF9-E853-2DD1961271C6}"/>
                  </a:ext>
                </a:extLst>
              </p:cNvPr>
              <p:cNvSpPr/>
              <p:nvPr/>
            </p:nvSpPr>
            <p:spPr>
              <a:xfrm>
                <a:off x="2789489" y="6021336"/>
                <a:ext cx="480237" cy="91334"/>
              </a:xfrm>
              <a:custGeom>
                <a:avLst/>
                <a:gdLst/>
                <a:ahLst/>
                <a:cxnLst/>
                <a:rect l="l" t="t" r="r" b="b"/>
                <a:pathLst>
                  <a:path w="480237" h="91334" extrusionOk="0">
                    <a:moveTo>
                      <a:pt x="472794" y="91335"/>
                    </a:moveTo>
                    <a:lnTo>
                      <a:pt x="7444" y="91335"/>
                    </a:lnTo>
                    <a:cubicBezTo>
                      <a:pt x="4525" y="91335"/>
                      <a:pt x="1884" y="89627"/>
                      <a:pt x="673" y="86976"/>
                    </a:cubicBezTo>
                    <a:cubicBezTo>
                      <a:pt x="-538" y="84326"/>
                      <a:pt x="-91" y="81209"/>
                      <a:pt x="1825" y="79005"/>
                    </a:cubicBezTo>
                    <a:lnTo>
                      <a:pt x="68211" y="2561"/>
                    </a:lnTo>
                    <a:cubicBezTo>
                      <a:pt x="69621" y="933"/>
                      <a:pt x="71676" y="0"/>
                      <a:pt x="73830" y="0"/>
                    </a:cubicBezTo>
                    <a:lnTo>
                      <a:pt x="406408" y="0"/>
                    </a:lnTo>
                    <a:cubicBezTo>
                      <a:pt x="408562" y="0"/>
                      <a:pt x="410617" y="933"/>
                      <a:pt x="412027" y="2561"/>
                    </a:cubicBezTo>
                    <a:lnTo>
                      <a:pt x="478413" y="79005"/>
                    </a:lnTo>
                    <a:cubicBezTo>
                      <a:pt x="480329" y="81209"/>
                      <a:pt x="480776" y="84326"/>
                      <a:pt x="479565" y="86976"/>
                    </a:cubicBezTo>
                    <a:cubicBezTo>
                      <a:pt x="478353" y="89627"/>
                      <a:pt x="475703" y="91335"/>
                      <a:pt x="472794" y="91335"/>
                    </a:cubicBezTo>
                    <a:close/>
                    <a:moveTo>
                      <a:pt x="23765" y="76443"/>
                    </a:moveTo>
                    <a:lnTo>
                      <a:pt x="456463" y="76443"/>
                    </a:lnTo>
                    <a:lnTo>
                      <a:pt x="403012" y="14892"/>
                    </a:lnTo>
                    <a:lnTo>
                      <a:pt x="77225" y="14892"/>
                    </a:lnTo>
                    <a:lnTo>
                      <a:pt x="23775" y="76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762;p100">
              <a:extLst>
                <a:ext uri="{FF2B5EF4-FFF2-40B4-BE49-F238E27FC236}">
                  <a16:creationId xmlns:a16="http://schemas.microsoft.com/office/drawing/2014/main" id="{249CC5AC-6113-35CC-7771-B49B0D9227E0}"/>
                </a:ext>
              </a:extLst>
            </p:cNvPr>
            <p:cNvSpPr/>
            <p:nvPr/>
          </p:nvSpPr>
          <p:spPr>
            <a:xfrm>
              <a:off x="2972554" y="5710600"/>
              <a:ext cx="292826" cy="240250"/>
            </a:xfrm>
            <a:custGeom>
              <a:avLst/>
              <a:gdLst/>
              <a:ahLst/>
              <a:cxnLst/>
              <a:rect l="l" t="t" r="r" b="b"/>
              <a:pathLst>
                <a:path w="292826" h="240250" extrusionOk="0">
                  <a:moveTo>
                    <a:pt x="111647" y="240250"/>
                  </a:moveTo>
                  <a:cubicBezTo>
                    <a:pt x="110733" y="240250"/>
                    <a:pt x="109820" y="240081"/>
                    <a:pt x="108936" y="239744"/>
                  </a:cubicBezTo>
                  <a:cubicBezTo>
                    <a:pt x="106077" y="238632"/>
                    <a:pt x="104201" y="235872"/>
                    <a:pt x="104201" y="232804"/>
                  </a:cubicBezTo>
                  <a:lnTo>
                    <a:pt x="104201" y="202525"/>
                  </a:lnTo>
                  <a:lnTo>
                    <a:pt x="101262" y="202525"/>
                  </a:lnTo>
                  <a:cubicBezTo>
                    <a:pt x="45429" y="202525"/>
                    <a:pt x="0" y="157096"/>
                    <a:pt x="0" y="101262"/>
                  </a:cubicBezTo>
                  <a:cubicBezTo>
                    <a:pt x="0" y="45429"/>
                    <a:pt x="45429" y="0"/>
                    <a:pt x="101262" y="0"/>
                  </a:cubicBezTo>
                  <a:lnTo>
                    <a:pt x="191565" y="0"/>
                  </a:lnTo>
                  <a:cubicBezTo>
                    <a:pt x="247398" y="0"/>
                    <a:pt x="292827" y="45429"/>
                    <a:pt x="292827" y="101262"/>
                  </a:cubicBezTo>
                  <a:cubicBezTo>
                    <a:pt x="292827" y="157096"/>
                    <a:pt x="247398" y="202525"/>
                    <a:pt x="191565" y="202525"/>
                  </a:cubicBezTo>
                  <a:lnTo>
                    <a:pt x="149680" y="202525"/>
                  </a:lnTo>
                  <a:lnTo>
                    <a:pt x="117127" y="237848"/>
                  </a:lnTo>
                  <a:cubicBezTo>
                    <a:pt x="115687" y="239406"/>
                    <a:pt x="113692" y="240250"/>
                    <a:pt x="111647" y="240250"/>
                  </a:cubicBezTo>
                  <a:close/>
                  <a:moveTo>
                    <a:pt x="101262" y="14892"/>
                  </a:moveTo>
                  <a:cubicBezTo>
                    <a:pt x="53639" y="14892"/>
                    <a:pt x="14892" y="53639"/>
                    <a:pt x="14892" y="101262"/>
                  </a:cubicBezTo>
                  <a:cubicBezTo>
                    <a:pt x="14892" y="148886"/>
                    <a:pt x="53639" y="187633"/>
                    <a:pt x="101262" y="187633"/>
                  </a:cubicBezTo>
                  <a:lnTo>
                    <a:pt x="111647" y="187633"/>
                  </a:lnTo>
                  <a:cubicBezTo>
                    <a:pt x="115757" y="187633"/>
                    <a:pt x="119092" y="190969"/>
                    <a:pt x="119092" y="195079"/>
                  </a:cubicBezTo>
                  <a:lnTo>
                    <a:pt x="119092" y="213733"/>
                  </a:lnTo>
                  <a:lnTo>
                    <a:pt x="140933" y="190026"/>
                  </a:lnTo>
                  <a:cubicBezTo>
                    <a:pt x="142343" y="188497"/>
                    <a:pt x="144329" y="187623"/>
                    <a:pt x="146413" y="187623"/>
                  </a:cubicBezTo>
                  <a:lnTo>
                    <a:pt x="191565" y="187623"/>
                  </a:lnTo>
                  <a:cubicBezTo>
                    <a:pt x="239188" y="187623"/>
                    <a:pt x="277935" y="148876"/>
                    <a:pt x="277935" y="101252"/>
                  </a:cubicBezTo>
                  <a:cubicBezTo>
                    <a:pt x="277935" y="53629"/>
                    <a:pt x="239188" y="14882"/>
                    <a:pt x="191565" y="14882"/>
                  </a:cubicBezTo>
                  <a:lnTo>
                    <a:pt x="101262" y="148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63;p100">
              <a:extLst>
                <a:ext uri="{FF2B5EF4-FFF2-40B4-BE49-F238E27FC236}">
                  <a16:creationId xmlns:a16="http://schemas.microsoft.com/office/drawing/2014/main" id="{292E4BC9-2533-2E2C-7904-AD2D48F00CA6}"/>
                </a:ext>
              </a:extLst>
            </p:cNvPr>
            <p:cNvSpPr/>
            <p:nvPr/>
          </p:nvSpPr>
          <p:spPr>
            <a:xfrm>
              <a:off x="2963589" y="6072960"/>
              <a:ext cx="132038" cy="14891"/>
            </a:xfrm>
            <a:custGeom>
              <a:avLst/>
              <a:gdLst/>
              <a:ahLst/>
              <a:cxnLst/>
              <a:rect l="l" t="t" r="r" b="b"/>
              <a:pathLst>
                <a:path w="132038" h="14891" extrusionOk="0">
                  <a:moveTo>
                    <a:pt x="124592" y="14892"/>
                  </a:moveTo>
                  <a:lnTo>
                    <a:pt x="7446" y="14892"/>
                  </a:lnTo>
                  <a:cubicBezTo>
                    <a:pt x="3336" y="14892"/>
                    <a:pt x="0" y="11556"/>
                    <a:pt x="0" y="7446"/>
                  </a:cubicBezTo>
                  <a:cubicBezTo>
                    <a:pt x="0" y="3336"/>
                    <a:pt x="3336" y="0"/>
                    <a:pt x="7446" y="0"/>
                  </a:cubicBezTo>
                  <a:lnTo>
                    <a:pt x="124592" y="0"/>
                  </a:lnTo>
                  <a:cubicBezTo>
                    <a:pt x="128702" y="0"/>
                    <a:pt x="132038" y="3336"/>
                    <a:pt x="132038" y="7446"/>
                  </a:cubicBezTo>
                  <a:cubicBezTo>
                    <a:pt x="132038" y="11556"/>
                    <a:pt x="128702" y="14892"/>
                    <a:pt x="124592" y="148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" name="Google Shape;1764;p100">
              <a:extLst>
                <a:ext uri="{FF2B5EF4-FFF2-40B4-BE49-F238E27FC236}">
                  <a16:creationId xmlns:a16="http://schemas.microsoft.com/office/drawing/2014/main" id="{F50833D2-6AAE-F180-2577-747C72C8B912}"/>
                </a:ext>
              </a:extLst>
            </p:cNvPr>
            <p:cNvGrpSpPr/>
            <p:nvPr/>
          </p:nvGrpSpPr>
          <p:grpSpPr>
            <a:xfrm>
              <a:off x="3060394" y="5797963"/>
              <a:ext cx="117146" cy="21840"/>
              <a:chOff x="3060394" y="5797963"/>
              <a:chExt cx="117146" cy="21840"/>
            </a:xfrm>
            <a:grpFill/>
          </p:grpSpPr>
          <p:sp>
            <p:nvSpPr>
              <p:cNvPr id="19" name="Google Shape;1765;p100">
                <a:extLst>
                  <a:ext uri="{FF2B5EF4-FFF2-40B4-BE49-F238E27FC236}">
                    <a16:creationId xmlns:a16="http://schemas.microsoft.com/office/drawing/2014/main" id="{B6166FE4-09FA-A54E-27DF-B9C796D0B631}"/>
                  </a:ext>
                </a:extLst>
              </p:cNvPr>
              <p:cNvSpPr/>
              <p:nvPr/>
            </p:nvSpPr>
            <p:spPr>
              <a:xfrm>
                <a:off x="3060394" y="5797963"/>
                <a:ext cx="21840" cy="21840"/>
              </a:xfrm>
              <a:custGeom>
                <a:avLst/>
                <a:gdLst/>
                <a:ahLst/>
                <a:cxnLst/>
                <a:rect l="l" t="t" r="r" b="b"/>
                <a:pathLst>
                  <a:path w="21840" h="21840" extrusionOk="0">
                    <a:moveTo>
                      <a:pt x="21841" y="10920"/>
                    </a:moveTo>
                    <a:cubicBezTo>
                      <a:pt x="21841" y="16952"/>
                      <a:pt x="16952" y="21841"/>
                      <a:pt x="10920" y="21841"/>
                    </a:cubicBezTo>
                    <a:cubicBezTo>
                      <a:pt x="4889" y="21841"/>
                      <a:pt x="0" y="16952"/>
                      <a:pt x="0" y="10920"/>
                    </a:cubicBezTo>
                    <a:cubicBezTo>
                      <a:pt x="0" y="4889"/>
                      <a:pt x="4889" y="0"/>
                      <a:pt x="10920" y="0"/>
                    </a:cubicBezTo>
                    <a:cubicBezTo>
                      <a:pt x="16952" y="0"/>
                      <a:pt x="21841" y="4889"/>
                      <a:pt x="21841" y="109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766;p100">
                <a:extLst>
                  <a:ext uri="{FF2B5EF4-FFF2-40B4-BE49-F238E27FC236}">
                    <a16:creationId xmlns:a16="http://schemas.microsoft.com/office/drawing/2014/main" id="{F09699E0-0132-C056-7C00-A82656F95050}"/>
                  </a:ext>
                </a:extLst>
              </p:cNvPr>
              <p:cNvSpPr/>
              <p:nvPr/>
            </p:nvSpPr>
            <p:spPr>
              <a:xfrm>
                <a:off x="3108047" y="5797963"/>
                <a:ext cx="21840" cy="21840"/>
              </a:xfrm>
              <a:custGeom>
                <a:avLst/>
                <a:gdLst/>
                <a:ahLst/>
                <a:cxnLst/>
                <a:rect l="l" t="t" r="r" b="b"/>
                <a:pathLst>
                  <a:path w="21840" h="21840" extrusionOk="0">
                    <a:moveTo>
                      <a:pt x="21841" y="10920"/>
                    </a:moveTo>
                    <a:cubicBezTo>
                      <a:pt x="21841" y="16952"/>
                      <a:pt x="16952" y="21841"/>
                      <a:pt x="10920" y="21841"/>
                    </a:cubicBezTo>
                    <a:cubicBezTo>
                      <a:pt x="4889" y="21841"/>
                      <a:pt x="0" y="16952"/>
                      <a:pt x="0" y="10920"/>
                    </a:cubicBezTo>
                    <a:cubicBezTo>
                      <a:pt x="0" y="4889"/>
                      <a:pt x="4889" y="0"/>
                      <a:pt x="10920" y="0"/>
                    </a:cubicBezTo>
                    <a:cubicBezTo>
                      <a:pt x="16952" y="0"/>
                      <a:pt x="21841" y="4889"/>
                      <a:pt x="21841" y="109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767;p100">
                <a:extLst>
                  <a:ext uri="{FF2B5EF4-FFF2-40B4-BE49-F238E27FC236}">
                    <a16:creationId xmlns:a16="http://schemas.microsoft.com/office/drawing/2014/main" id="{53767888-04DA-CDB9-23FB-7D24F81D31CF}"/>
                  </a:ext>
                </a:extLst>
              </p:cNvPr>
              <p:cNvSpPr/>
              <p:nvPr/>
            </p:nvSpPr>
            <p:spPr>
              <a:xfrm>
                <a:off x="3155700" y="5797963"/>
                <a:ext cx="21840" cy="21840"/>
              </a:xfrm>
              <a:custGeom>
                <a:avLst/>
                <a:gdLst/>
                <a:ahLst/>
                <a:cxnLst/>
                <a:rect l="l" t="t" r="r" b="b"/>
                <a:pathLst>
                  <a:path w="21840" h="21840" extrusionOk="0">
                    <a:moveTo>
                      <a:pt x="21841" y="10920"/>
                    </a:moveTo>
                    <a:cubicBezTo>
                      <a:pt x="21841" y="16952"/>
                      <a:pt x="16952" y="21841"/>
                      <a:pt x="10920" y="21841"/>
                    </a:cubicBezTo>
                    <a:cubicBezTo>
                      <a:pt x="4889" y="21841"/>
                      <a:pt x="0" y="16952"/>
                      <a:pt x="0" y="10920"/>
                    </a:cubicBezTo>
                    <a:cubicBezTo>
                      <a:pt x="0" y="4889"/>
                      <a:pt x="4889" y="0"/>
                      <a:pt x="10920" y="0"/>
                    </a:cubicBezTo>
                    <a:cubicBezTo>
                      <a:pt x="16952" y="0"/>
                      <a:pt x="21841" y="4889"/>
                      <a:pt x="21841" y="109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CEE7FDB-35E4-3874-E625-FB51A0819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9115" y="3241959"/>
            <a:ext cx="368300" cy="254000"/>
          </a:xfrm>
          <a:prstGeom prst="rect">
            <a:avLst/>
          </a:prstGeom>
        </p:spPr>
      </p:pic>
      <p:sp>
        <p:nvSpPr>
          <p:cNvPr id="33" name="Google Shape;2214;p100">
            <a:extLst>
              <a:ext uri="{FF2B5EF4-FFF2-40B4-BE49-F238E27FC236}">
                <a16:creationId xmlns:a16="http://schemas.microsoft.com/office/drawing/2014/main" id="{7D718F3A-F688-C625-EED7-35718F5C21A2}"/>
              </a:ext>
            </a:extLst>
          </p:cNvPr>
          <p:cNvSpPr/>
          <p:nvPr/>
        </p:nvSpPr>
        <p:spPr>
          <a:xfrm>
            <a:off x="2912445" y="4084269"/>
            <a:ext cx="281639" cy="305087"/>
          </a:xfrm>
          <a:custGeom>
            <a:avLst/>
            <a:gdLst/>
            <a:ahLst/>
            <a:cxnLst/>
            <a:rect l="l" t="t" r="r" b="b"/>
            <a:pathLst>
              <a:path w="457319" h="495395" extrusionOk="0">
                <a:moveTo>
                  <a:pt x="371475" y="333375"/>
                </a:moveTo>
                <a:cubicBezTo>
                  <a:pt x="366236" y="333375"/>
                  <a:pt x="361950" y="337661"/>
                  <a:pt x="361950" y="342900"/>
                </a:cubicBezTo>
                <a:lnTo>
                  <a:pt x="361950" y="476250"/>
                </a:lnTo>
                <a:lnTo>
                  <a:pt x="19050" y="476250"/>
                </a:lnTo>
                <a:lnTo>
                  <a:pt x="19050" y="133350"/>
                </a:lnTo>
                <a:lnTo>
                  <a:pt x="114300" y="133350"/>
                </a:lnTo>
                <a:cubicBezTo>
                  <a:pt x="124778" y="133350"/>
                  <a:pt x="133350" y="124778"/>
                  <a:pt x="133350" y="114300"/>
                </a:cubicBezTo>
                <a:lnTo>
                  <a:pt x="133350" y="19050"/>
                </a:lnTo>
                <a:lnTo>
                  <a:pt x="361950" y="19050"/>
                </a:lnTo>
                <a:lnTo>
                  <a:pt x="361950" y="133350"/>
                </a:lnTo>
                <a:cubicBezTo>
                  <a:pt x="361950" y="138589"/>
                  <a:pt x="366236" y="142875"/>
                  <a:pt x="371475" y="142875"/>
                </a:cubicBezTo>
                <a:cubicBezTo>
                  <a:pt x="376714" y="142875"/>
                  <a:pt x="381000" y="138589"/>
                  <a:pt x="381000" y="133350"/>
                </a:cubicBezTo>
                <a:lnTo>
                  <a:pt x="381000" y="19050"/>
                </a:lnTo>
                <a:cubicBezTo>
                  <a:pt x="381000" y="8573"/>
                  <a:pt x="372428" y="0"/>
                  <a:pt x="361950" y="0"/>
                </a:cubicBezTo>
                <a:lnTo>
                  <a:pt x="123825" y="0"/>
                </a:lnTo>
                <a:cubicBezTo>
                  <a:pt x="122587" y="0"/>
                  <a:pt x="121349" y="286"/>
                  <a:pt x="120206" y="762"/>
                </a:cubicBezTo>
                <a:cubicBezTo>
                  <a:pt x="119063" y="1238"/>
                  <a:pt x="118015" y="1905"/>
                  <a:pt x="117157" y="2858"/>
                </a:cubicBezTo>
                <a:lnTo>
                  <a:pt x="2858" y="117157"/>
                </a:lnTo>
                <a:cubicBezTo>
                  <a:pt x="2000" y="118015"/>
                  <a:pt x="1238" y="119063"/>
                  <a:pt x="762" y="120206"/>
                </a:cubicBezTo>
                <a:cubicBezTo>
                  <a:pt x="286" y="121349"/>
                  <a:pt x="0" y="122587"/>
                  <a:pt x="0" y="123920"/>
                </a:cubicBezTo>
                <a:lnTo>
                  <a:pt x="0" y="476345"/>
                </a:lnTo>
                <a:cubicBezTo>
                  <a:pt x="0" y="486823"/>
                  <a:pt x="8573" y="495395"/>
                  <a:pt x="19050" y="495395"/>
                </a:cubicBezTo>
                <a:lnTo>
                  <a:pt x="361950" y="495395"/>
                </a:lnTo>
                <a:cubicBezTo>
                  <a:pt x="372428" y="495395"/>
                  <a:pt x="381000" y="486823"/>
                  <a:pt x="381000" y="476345"/>
                </a:cubicBezTo>
                <a:lnTo>
                  <a:pt x="381000" y="342995"/>
                </a:lnTo>
                <a:cubicBezTo>
                  <a:pt x="381000" y="337757"/>
                  <a:pt x="376714" y="333470"/>
                  <a:pt x="371475" y="333470"/>
                </a:cubicBezTo>
                <a:close/>
                <a:moveTo>
                  <a:pt x="114300" y="32480"/>
                </a:moveTo>
                <a:lnTo>
                  <a:pt x="114300" y="114300"/>
                </a:lnTo>
                <a:lnTo>
                  <a:pt x="32480" y="114300"/>
                </a:lnTo>
                <a:lnTo>
                  <a:pt x="114300" y="32480"/>
                </a:lnTo>
                <a:close/>
                <a:moveTo>
                  <a:pt x="454438" y="202787"/>
                </a:moveTo>
                <a:lnTo>
                  <a:pt x="406813" y="155162"/>
                </a:lnTo>
                <a:cubicBezTo>
                  <a:pt x="403098" y="151448"/>
                  <a:pt x="397097" y="151448"/>
                  <a:pt x="393383" y="155162"/>
                </a:cubicBezTo>
                <a:lnTo>
                  <a:pt x="212408" y="336137"/>
                </a:lnTo>
                <a:cubicBezTo>
                  <a:pt x="210598" y="337947"/>
                  <a:pt x="209645" y="340328"/>
                  <a:pt x="209645" y="342900"/>
                </a:cubicBezTo>
                <a:lnTo>
                  <a:pt x="209645" y="390525"/>
                </a:lnTo>
                <a:cubicBezTo>
                  <a:pt x="209645" y="395764"/>
                  <a:pt x="213931" y="400050"/>
                  <a:pt x="219170" y="400050"/>
                </a:cubicBezTo>
                <a:lnTo>
                  <a:pt x="266795" y="400050"/>
                </a:lnTo>
                <a:cubicBezTo>
                  <a:pt x="269367" y="400050"/>
                  <a:pt x="271748" y="399002"/>
                  <a:pt x="273558" y="397288"/>
                </a:cubicBezTo>
                <a:lnTo>
                  <a:pt x="454533" y="216313"/>
                </a:lnTo>
                <a:cubicBezTo>
                  <a:pt x="458248" y="212598"/>
                  <a:pt x="458248" y="206597"/>
                  <a:pt x="454533" y="202883"/>
                </a:cubicBezTo>
                <a:close/>
                <a:moveTo>
                  <a:pt x="262795" y="381000"/>
                </a:moveTo>
                <a:lnTo>
                  <a:pt x="228600" y="381000"/>
                </a:lnTo>
                <a:lnTo>
                  <a:pt x="228600" y="346805"/>
                </a:lnTo>
                <a:lnTo>
                  <a:pt x="371475" y="203930"/>
                </a:lnTo>
                <a:lnTo>
                  <a:pt x="405670" y="238125"/>
                </a:lnTo>
                <a:lnTo>
                  <a:pt x="262795" y="381000"/>
                </a:lnTo>
                <a:close/>
                <a:moveTo>
                  <a:pt x="419100" y="224695"/>
                </a:moveTo>
                <a:lnTo>
                  <a:pt x="384905" y="190500"/>
                </a:lnTo>
                <a:lnTo>
                  <a:pt x="400050" y="175355"/>
                </a:lnTo>
                <a:lnTo>
                  <a:pt x="434245" y="209550"/>
                </a:lnTo>
                <a:lnTo>
                  <a:pt x="419100" y="224695"/>
                </a:lnTo>
                <a:close/>
                <a:moveTo>
                  <a:pt x="323850" y="180975"/>
                </a:moveTo>
                <a:cubicBezTo>
                  <a:pt x="323850" y="175736"/>
                  <a:pt x="319564" y="171450"/>
                  <a:pt x="314325" y="171450"/>
                </a:cubicBezTo>
                <a:lnTo>
                  <a:pt x="219075" y="171450"/>
                </a:lnTo>
                <a:cubicBezTo>
                  <a:pt x="213836" y="171450"/>
                  <a:pt x="209550" y="175736"/>
                  <a:pt x="209550" y="180975"/>
                </a:cubicBezTo>
                <a:cubicBezTo>
                  <a:pt x="209550" y="186214"/>
                  <a:pt x="213836" y="190500"/>
                  <a:pt x="219075" y="190500"/>
                </a:cubicBezTo>
                <a:lnTo>
                  <a:pt x="314325" y="190500"/>
                </a:lnTo>
                <a:cubicBezTo>
                  <a:pt x="319564" y="190500"/>
                  <a:pt x="323850" y="186214"/>
                  <a:pt x="323850" y="180975"/>
                </a:cubicBezTo>
                <a:close/>
                <a:moveTo>
                  <a:pt x="219075" y="209550"/>
                </a:moveTo>
                <a:cubicBezTo>
                  <a:pt x="213836" y="209550"/>
                  <a:pt x="209550" y="213836"/>
                  <a:pt x="209550" y="219075"/>
                </a:cubicBezTo>
                <a:cubicBezTo>
                  <a:pt x="209550" y="224314"/>
                  <a:pt x="213836" y="228600"/>
                  <a:pt x="219075" y="228600"/>
                </a:cubicBezTo>
                <a:lnTo>
                  <a:pt x="276225" y="228600"/>
                </a:lnTo>
                <a:cubicBezTo>
                  <a:pt x="281464" y="228600"/>
                  <a:pt x="285750" y="224314"/>
                  <a:pt x="285750" y="219075"/>
                </a:cubicBezTo>
                <a:cubicBezTo>
                  <a:pt x="285750" y="213836"/>
                  <a:pt x="281464" y="209550"/>
                  <a:pt x="276225" y="209550"/>
                </a:cubicBezTo>
                <a:lnTo>
                  <a:pt x="219075" y="209550"/>
                </a:lnTo>
                <a:close/>
                <a:moveTo>
                  <a:pt x="133350" y="171450"/>
                </a:moveTo>
                <a:cubicBezTo>
                  <a:pt x="138589" y="171450"/>
                  <a:pt x="142875" y="167164"/>
                  <a:pt x="142875" y="161925"/>
                </a:cubicBezTo>
                <a:cubicBezTo>
                  <a:pt x="142875" y="156686"/>
                  <a:pt x="138589" y="152400"/>
                  <a:pt x="133350" y="152400"/>
                </a:cubicBezTo>
                <a:lnTo>
                  <a:pt x="76200" y="152400"/>
                </a:lnTo>
                <a:cubicBezTo>
                  <a:pt x="65723" y="152400"/>
                  <a:pt x="57150" y="160973"/>
                  <a:pt x="57150" y="171450"/>
                </a:cubicBezTo>
                <a:lnTo>
                  <a:pt x="57150" y="247650"/>
                </a:lnTo>
                <a:cubicBezTo>
                  <a:pt x="57150" y="258128"/>
                  <a:pt x="65723" y="266700"/>
                  <a:pt x="76200" y="266700"/>
                </a:cubicBezTo>
                <a:lnTo>
                  <a:pt x="152400" y="266700"/>
                </a:lnTo>
                <a:cubicBezTo>
                  <a:pt x="162878" y="266700"/>
                  <a:pt x="171450" y="258128"/>
                  <a:pt x="171450" y="247650"/>
                </a:cubicBezTo>
                <a:lnTo>
                  <a:pt x="171450" y="228600"/>
                </a:lnTo>
                <a:cubicBezTo>
                  <a:pt x="171450" y="223361"/>
                  <a:pt x="167164" y="219075"/>
                  <a:pt x="161925" y="219075"/>
                </a:cubicBezTo>
                <a:cubicBezTo>
                  <a:pt x="156686" y="219075"/>
                  <a:pt x="152400" y="223361"/>
                  <a:pt x="152400" y="228600"/>
                </a:cubicBezTo>
                <a:lnTo>
                  <a:pt x="152400" y="247650"/>
                </a:lnTo>
                <a:lnTo>
                  <a:pt x="76200" y="247650"/>
                </a:lnTo>
                <a:lnTo>
                  <a:pt x="76200" y="171450"/>
                </a:lnTo>
                <a:lnTo>
                  <a:pt x="133350" y="171450"/>
                </a:lnTo>
                <a:close/>
                <a:moveTo>
                  <a:pt x="187738" y="155162"/>
                </a:moveTo>
                <a:cubicBezTo>
                  <a:pt x="184023" y="151448"/>
                  <a:pt x="178022" y="151448"/>
                  <a:pt x="174308" y="155162"/>
                </a:cubicBezTo>
                <a:lnTo>
                  <a:pt x="123920" y="205550"/>
                </a:lnTo>
                <a:lnTo>
                  <a:pt x="111633" y="193262"/>
                </a:lnTo>
                <a:cubicBezTo>
                  <a:pt x="107918" y="189548"/>
                  <a:pt x="101918" y="189548"/>
                  <a:pt x="98203" y="193262"/>
                </a:cubicBezTo>
                <a:cubicBezTo>
                  <a:pt x="94488" y="196977"/>
                  <a:pt x="94488" y="202978"/>
                  <a:pt x="98203" y="206693"/>
                </a:cubicBezTo>
                <a:lnTo>
                  <a:pt x="117253" y="225743"/>
                </a:lnTo>
                <a:cubicBezTo>
                  <a:pt x="119063" y="227552"/>
                  <a:pt x="121444" y="228505"/>
                  <a:pt x="124016" y="228505"/>
                </a:cubicBezTo>
                <a:cubicBezTo>
                  <a:pt x="126587" y="228505"/>
                  <a:pt x="128969" y="227457"/>
                  <a:pt x="130778" y="225743"/>
                </a:cubicBezTo>
                <a:lnTo>
                  <a:pt x="187928" y="168593"/>
                </a:lnTo>
                <a:cubicBezTo>
                  <a:pt x="191643" y="164878"/>
                  <a:pt x="191643" y="158877"/>
                  <a:pt x="187928" y="155162"/>
                </a:cubicBezTo>
                <a:close/>
                <a:moveTo>
                  <a:pt x="57150" y="400050"/>
                </a:moveTo>
                <a:cubicBezTo>
                  <a:pt x="57150" y="410528"/>
                  <a:pt x="65723" y="419100"/>
                  <a:pt x="76200" y="419100"/>
                </a:cubicBezTo>
                <a:lnTo>
                  <a:pt x="152400" y="419100"/>
                </a:lnTo>
                <a:cubicBezTo>
                  <a:pt x="162878" y="419100"/>
                  <a:pt x="171450" y="410528"/>
                  <a:pt x="171450" y="400050"/>
                </a:cubicBezTo>
                <a:lnTo>
                  <a:pt x="171450" y="381000"/>
                </a:lnTo>
                <a:cubicBezTo>
                  <a:pt x="171450" y="375761"/>
                  <a:pt x="167164" y="371475"/>
                  <a:pt x="161925" y="371475"/>
                </a:cubicBezTo>
                <a:cubicBezTo>
                  <a:pt x="156686" y="371475"/>
                  <a:pt x="152400" y="375761"/>
                  <a:pt x="152400" y="381000"/>
                </a:cubicBezTo>
                <a:lnTo>
                  <a:pt x="152400" y="400050"/>
                </a:lnTo>
                <a:lnTo>
                  <a:pt x="76200" y="400050"/>
                </a:lnTo>
                <a:lnTo>
                  <a:pt x="76200" y="323850"/>
                </a:lnTo>
                <a:lnTo>
                  <a:pt x="133350" y="323850"/>
                </a:lnTo>
                <a:cubicBezTo>
                  <a:pt x="138589" y="323850"/>
                  <a:pt x="142875" y="319564"/>
                  <a:pt x="142875" y="314325"/>
                </a:cubicBezTo>
                <a:cubicBezTo>
                  <a:pt x="142875" y="309086"/>
                  <a:pt x="138589" y="304800"/>
                  <a:pt x="133350" y="304800"/>
                </a:cubicBezTo>
                <a:lnTo>
                  <a:pt x="76200" y="304800"/>
                </a:lnTo>
                <a:cubicBezTo>
                  <a:pt x="65723" y="304800"/>
                  <a:pt x="57150" y="313373"/>
                  <a:pt x="57150" y="323850"/>
                </a:cubicBezTo>
                <a:lnTo>
                  <a:pt x="57150" y="400050"/>
                </a:lnTo>
                <a:close/>
                <a:moveTo>
                  <a:pt x="187738" y="307562"/>
                </a:moveTo>
                <a:cubicBezTo>
                  <a:pt x="184023" y="303848"/>
                  <a:pt x="178022" y="303848"/>
                  <a:pt x="174308" y="307562"/>
                </a:cubicBezTo>
                <a:lnTo>
                  <a:pt x="123920" y="357950"/>
                </a:lnTo>
                <a:lnTo>
                  <a:pt x="111633" y="345662"/>
                </a:lnTo>
                <a:cubicBezTo>
                  <a:pt x="107918" y="341948"/>
                  <a:pt x="101918" y="341948"/>
                  <a:pt x="98203" y="345662"/>
                </a:cubicBezTo>
                <a:cubicBezTo>
                  <a:pt x="94488" y="349377"/>
                  <a:pt x="94488" y="355378"/>
                  <a:pt x="98203" y="359093"/>
                </a:cubicBezTo>
                <a:lnTo>
                  <a:pt x="117253" y="378143"/>
                </a:lnTo>
                <a:cubicBezTo>
                  <a:pt x="119063" y="379952"/>
                  <a:pt x="121444" y="380905"/>
                  <a:pt x="124016" y="380905"/>
                </a:cubicBezTo>
                <a:cubicBezTo>
                  <a:pt x="126587" y="380905"/>
                  <a:pt x="128969" y="379857"/>
                  <a:pt x="130778" y="378143"/>
                </a:cubicBezTo>
                <a:lnTo>
                  <a:pt x="187928" y="320993"/>
                </a:lnTo>
                <a:cubicBezTo>
                  <a:pt x="191643" y="317278"/>
                  <a:pt x="191643" y="311277"/>
                  <a:pt x="187928" y="3075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p298"/>
          <p:cNvSpPr txBox="1">
            <a:spLocks noGrp="1"/>
          </p:cNvSpPr>
          <p:nvPr>
            <p:ph type="body" idx="1"/>
          </p:nvPr>
        </p:nvSpPr>
        <p:spPr>
          <a:xfrm>
            <a:off x="2728928" y="796526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Funções com responsabilidade única</a:t>
            </a:r>
            <a:endParaRPr sz="3200" dirty="0"/>
          </a:p>
        </p:txBody>
      </p:sp>
      <p:sp>
        <p:nvSpPr>
          <p:cNvPr id="3198" name="Google Shape;3198;p298"/>
          <p:cNvSpPr txBox="1">
            <a:spLocks noGrp="1"/>
          </p:cNvSpPr>
          <p:nvPr>
            <p:ph type="body" idx="2"/>
          </p:nvPr>
        </p:nvSpPr>
        <p:spPr>
          <a:xfrm>
            <a:off x="2728928" y="1759561"/>
            <a:ext cx="4081447" cy="26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Funções ajudam a nomear cada tarefa e a deixá-la em um só lugar.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programa principal chama essas rotinas quando precisar delas.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9" name="Google Shape;3199;p298"/>
          <p:cNvSpPr txBox="1"/>
          <p:nvPr/>
        </p:nvSpPr>
        <p:spPr>
          <a:xfrm>
            <a:off x="7198846" y="1591052"/>
            <a:ext cx="4412129" cy="427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b="1" dirty="0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[]</a:t>
            </a:r>
            <a:endParaRPr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item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item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==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    </a:t>
            </a:r>
            <a:r>
              <a:rPr lang="pt-BR" dirty="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dirty="0" err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dirty="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item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])</a:t>
            </a:r>
            <a:endParaRPr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len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==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 err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sum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len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b="1" dirty="0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classificar_desempenho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 err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"Sem histórico"</a:t>
            </a:r>
            <a:endParaRPr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30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"Alto"</a:t>
            </a:r>
            <a:endParaRPr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"Médio"</a:t>
            </a:r>
            <a:endParaRPr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"Baixo"</a:t>
            </a:r>
            <a:endParaRPr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48D1125D-E5E5-607C-F58C-2FFB3B087FE9}"/>
              </a:ext>
            </a:extLst>
          </p:cNvPr>
          <p:cNvSpPr txBox="1"/>
          <p:nvPr/>
        </p:nvSpPr>
        <p:spPr>
          <a:xfrm>
            <a:off x="7198846" y="5754816"/>
            <a:ext cx="4088279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4238CB6A-6EE0-D220-6DDD-D616C59D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70125059-7DA2-574D-CDCB-2CD752DC5BAB}"/>
              </a:ext>
            </a:extLst>
          </p:cNvPr>
          <p:cNvSpPr/>
          <p:nvPr/>
        </p:nvSpPr>
        <p:spPr>
          <a:xfrm>
            <a:off x="3026388" y="3920569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5CE16B37-E09C-D50F-1A11-DF3D0C388807}"/>
              </a:ext>
            </a:extLst>
          </p:cNvPr>
          <p:cNvSpPr/>
          <p:nvPr/>
        </p:nvSpPr>
        <p:spPr>
          <a:xfrm>
            <a:off x="6738417" y="3907297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05BAA13A-6E88-3AB6-1785-DB83C56B62EA}"/>
              </a:ext>
            </a:extLst>
          </p:cNvPr>
          <p:cNvSpPr/>
          <p:nvPr/>
        </p:nvSpPr>
        <p:spPr>
          <a:xfrm>
            <a:off x="3026388" y="5160695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AA9557F8-B30C-9737-BE90-E90DE4406297}"/>
              </a:ext>
            </a:extLst>
          </p:cNvPr>
          <p:cNvSpPr/>
          <p:nvPr/>
        </p:nvSpPr>
        <p:spPr>
          <a:xfrm>
            <a:off x="6738417" y="5147423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3250A2E4-8318-525E-5E9A-C478E8FD3B65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5C4311E1-1E69-8479-7637-7C5CB5658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404D4C73-27CE-3AC1-1B23-2EBCD702FD4C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5773567E-27BA-3EBD-D63B-18684DC8F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2071" y="527812"/>
            <a:ext cx="7611154" cy="1527129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2800" dirty="0"/>
              <a:t>Um algoritmo de desempenho de vendas foi organizado em partes: calcular a média, classificar o resultado e exibir a informação.</a:t>
            </a:r>
          </a:p>
          <a:p>
            <a:pPr lvl="4"/>
            <a:r>
              <a:rPr lang="pt-BR" sz="2800" dirty="0">
                <a:latin typeface="Poppins"/>
                <a:cs typeface="Poppins"/>
              </a:rPr>
              <a:t>Se a empresa mudar as faixas (por exemplo, médio a partir de 12), qual parte do algoritmo precisa ser alterada?</a:t>
            </a:r>
          </a:p>
          <a:p>
            <a:pPr lvl="4"/>
            <a:endParaRPr lang="pt-BR" sz="2800" dirty="0"/>
          </a:p>
          <a:p>
            <a:pPr lvl="4"/>
            <a:endParaRPr lang="pt-BR" sz="2800" dirty="0"/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E21079E5-725B-8AB5-CD57-6C7AFA432686}"/>
              </a:ext>
            </a:extLst>
          </p:cNvPr>
          <p:cNvSpPr txBox="1"/>
          <p:nvPr/>
        </p:nvSpPr>
        <p:spPr>
          <a:xfrm>
            <a:off x="3235419" y="5342477"/>
            <a:ext cx="297701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parte que exibe o resultado.</a:t>
            </a:r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C58B080C-0773-7749-F779-594451F61FAE}"/>
              </a:ext>
            </a:extLst>
          </p:cNvPr>
          <p:cNvSpPr txBox="1"/>
          <p:nvPr/>
        </p:nvSpPr>
        <p:spPr>
          <a:xfrm>
            <a:off x="6966332" y="5203918"/>
            <a:ext cx="293924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Todas, porque o programa depende das faixas.</a:t>
            </a:r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2D2F3DA7-1B16-B0B5-03B4-8DC2A913D765}"/>
              </a:ext>
            </a:extLst>
          </p:cNvPr>
          <p:cNvSpPr txBox="1"/>
          <p:nvPr/>
        </p:nvSpPr>
        <p:spPr>
          <a:xfrm>
            <a:off x="3288133" y="3939036"/>
            <a:ext cx="29054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parte que calcula a média das quantidades.</a:t>
            </a:r>
            <a:endParaRPr lang="pt-BR" sz="2000" dirty="0"/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73124C5E-A041-4925-41FF-56C0B18EC16C}"/>
              </a:ext>
            </a:extLst>
          </p:cNvPr>
          <p:cNvSpPr txBox="1"/>
          <p:nvPr/>
        </p:nvSpPr>
        <p:spPr>
          <a:xfrm>
            <a:off x="6966332" y="3933454"/>
            <a:ext cx="296854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parte que compara média com faixas de desempenho.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19990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90901B14-1D82-3DB6-97E1-CF4CCD2ECC31}"/>
              </a:ext>
            </a:extLst>
          </p:cNvPr>
          <p:cNvSpPr/>
          <p:nvPr/>
        </p:nvSpPr>
        <p:spPr>
          <a:xfrm>
            <a:off x="2448429" y="5359811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5;p98">
            <a:extLst>
              <a:ext uri="{FF2B5EF4-FFF2-40B4-BE49-F238E27FC236}">
                <a16:creationId xmlns:a16="http://schemas.microsoft.com/office/drawing/2014/main" id="{9FD76F00-80C9-C32C-B707-9B706920B70A}"/>
              </a:ext>
            </a:extLst>
          </p:cNvPr>
          <p:cNvSpPr/>
          <p:nvPr/>
        </p:nvSpPr>
        <p:spPr>
          <a:xfrm>
            <a:off x="2437471" y="4135358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36;p98">
            <a:extLst>
              <a:ext uri="{FF2B5EF4-FFF2-40B4-BE49-F238E27FC236}">
                <a16:creationId xmlns:a16="http://schemas.microsoft.com/office/drawing/2014/main" id="{E013079C-2188-FD91-E8B8-894B37166A33}"/>
              </a:ext>
            </a:extLst>
          </p:cNvPr>
          <p:cNvSpPr/>
          <p:nvPr/>
        </p:nvSpPr>
        <p:spPr>
          <a:xfrm>
            <a:off x="10206085" y="537721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37;p98">
            <a:extLst>
              <a:ext uri="{FF2B5EF4-FFF2-40B4-BE49-F238E27FC236}">
                <a16:creationId xmlns:a16="http://schemas.microsoft.com/office/drawing/2014/main" id="{93394F96-66FC-0DDF-4A6C-BA980A73178C}"/>
              </a:ext>
            </a:extLst>
          </p:cNvPr>
          <p:cNvSpPr/>
          <p:nvPr/>
        </p:nvSpPr>
        <p:spPr>
          <a:xfrm rot="-3043640">
            <a:off x="10270656" y="4224460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49;p64">
            <a:extLst>
              <a:ext uri="{FF2B5EF4-FFF2-40B4-BE49-F238E27FC236}">
                <a16:creationId xmlns:a16="http://schemas.microsoft.com/office/drawing/2014/main" id="{50ADD062-2D66-6E4B-FDE7-5C9BF5E73E1D}"/>
              </a:ext>
            </a:extLst>
          </p:cNvPr>
          <p:cNvSpPr/>
          <p:nvPr/>
        </p:nvSpPr>
        <p:spPr>
          <a:xfrm>
            <a:off x="3026388" y="3920569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0;p64">
            <a:extLst>
              <a:ext uri="{FF2B5EF4-FFF2-40B4-BE49-F238E27FC236}">
                <a16:creationId xmlns:a16="http://schemas.microsoft.com/office/drawing/2014/main" id="{03C32874-184D-5AA9-F4E5-05D447AF130E}"/>
              </a:ext>
            </a:extLst>
          </p:cNvPr>
          <p:cNvSpPr/>
          <p:nvPr/>
        </p:nvSpPr>
        <p:spPr>
          <a:xfrm>
            <a:off x="6738417" y="3907297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AC12DB44-5A7C-C2AF-AD00-30BE72E50525}"/>
              </a:ext>
            </a:extLst>
          </p:cNvPr>
          <p:cNvSpPr/>
          <p:nvPr/>
        </p:nvSpPr>
        <p:spPr>
          <a:xfrm>
            <a:off x="3026388" y="5160695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3;p64">
            <a:extLst>
              <a:ext uri="{FF2B5EF4-FFF2-40B4-BE49-F238E27FC236}">
                <a16:creationId xmlns:a16="http://schemas.microsoft.com/office/drawing/2014/main" id="{86319A17-07E5-B3E2-E036-69E4527C3B9E}"/>
              </a:ext>
            </a:extLst>
          </p:cNvPr>
          <p:cNvSpPr/>
          <p:nvPr/>
        </p:nvSpPr>
        <p:spPr>
          <a:xfrm>
            <a:off x="6738417" y="5147423"/>
            <a:ext cx="3395078" cy="1005664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78A2F679-925B-68E6-BA3C-F8DB338AE4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2071" y="527812"/>
            <a:ext cx="7611154" cy="1527129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2800" dirty="0"/>
              <a:t>Um algoritmo de desempenho de vendas foi organizado em partes: calcular a média, classificar o resultado e exibir a informação.</a:t>
            </a:r>
          </a:p>
          <a:p>
            <a:pPr lvl="4"/>
            <a:r>
              <a:rPr lang="pt-BR" sz="2800" dirty="0">
                <a:latin typeface="Poppins"/>
                <a:cs typeface="Poppins"/>
              </a:rPr>
              <a:t>Se a empresa mudar as faixas (por exemplo, médio a partir de 12), qual parte do algoritmo precisa ser alterada?</a:t>
            </a:r>
            <a:endParaRPr lang="pt-BR" sz="2800" dirty="0"/>
          </a:p>
        </p:txBody>
      </p:sp>
      <p:sp>
        <p:nvSpPr>
          <p:cNvPr id="25" name="Google Shape;852;p64">
            <a:extLst>
              <a:ext uri="{FF2B5EF4-FFF2-40B4-BE49-F238E27FC236}">
                <a16:creationId xmlns:a16="http://schemas.microsoft.com/office/drawing/2014/main" id="{E444A63A-342E-EEDC-1092-F386A4245FF0}"/>
              </a:ext>
            </a:extLst>
          </p:cNvPr>
          <p:cNvSpPr txBox="1"/>
          <p:nvPr/>
        </p:nvSpPr>
        <p:spPr>
          <a:xfrm>
            <a:off x="3235419" y="5342477"/>
            <a:ext cx="297701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parte que exibe o resultado.</a:t>
            </a:r>
          </a:p>
        </p:txBody>
      </p:sp>
      <p:sp>
        <p:nvSpPr>
          <p:cNvPr id="26" name="Google Shape;854;p64">
            <a:extLst>
              <a:ext uri="{FF2B5EF4-FFF2-40B4-BE49-F238E27FC236}">
                <a16:creationId xmlns:a16="http://schemas.microsoft.com/office/drawing/2014/main" id="{63DFEA17-4618-292C-D743-43D358814695}"/>
              </a:ext>
            </a:extLst>
          </p:cNvPr>
          <p:cNvSpPr txBox="1"/>
          <p:nvPr/>
        </p:nvSpPr>
        <p:spPr>
          <a:xfrm>
            <a:off x="6966332" y="5203918"/>
            <a:ext cx="293924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Todas, porque o programa depende das faixas.</a:t>
            </a:r>
          </a:p>
        </p:txBody>
      </p:sp>
      <p:sp>
        <p:nvSpPr>
          <p:cNvPr id="27" name="Google Shape;855;p64">
            <a:extLst>
              <a:ext uri="{FF2B5EF4-FFF2-40B4-BE49-F238E27FC236}">
                <a16:creationId xmlns:a16="http://schemas.microsoft.com/office/drawing/2014/main" id="{81B0E04D-08F4-60B7-D0DC-A40E74B47952}"/>
              </a:ext>
            </a:extLst>
          </p:cNvPr>
          <p:cNvSpPr txBox="1"/>
          <p:nvPr/>
        </p:nvSpPr>
        <p:spPr>
          <a:xfrm>
            <a:off x="3288133" y="3939036"/>
            <a:ext cx="29054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parte que calcula a média das quantidades.</a:t>
            </a:r>
            <a:endParaRPr lang="pt-BR" sz="2000" dirty="0"/>
          </a:p>
        </p:txBody>
      </p:sp>
      <p:sp>
        <p:nvSpPr>
          <p:cNvPr id="28" name="Google Shape;856;p64">
            <a:extLst>
              <a:ext uri="{FF2B5EF4-FFF2-40B4-BE49-F238E27FC236}">
                <a16:creationId xmlns:a16="http://schemas.microsoft.com/office/drawing/2014/main" id="{0012915C-571C-1E21-79A8-CFFE87FC6CA4}"/>
              </a:ext>
            </a:extLst>
          </p:cNvPr>
          <p:cNvSpPr txBox="1"/>
          <p:nvPr/>
        </p:nvSpPr>
        <p:spPr>
          <a:xfrm>
            <a:off x="6966332" y="3933454"/>
            <a:ext cx="296854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parte que compara média com faixas de desempenho.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12388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7" name="Google Shape;3247;p301"/>
          <p:cNvSpPr txBox="1">
            <a:spLocks noGrp="1"/>
          </p:cNvSpPr>
          <p:nvPr>
            <p:ph type="body" idx="1"/>
          </p:nvPr>
        </p:nvSpPr>
        <p:spPr>
          <a:xfrm>
            <a:off x="2706775" y="756795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Reaproveitar em vez de repetir</a:t>
            </a:r>
            <a:endParaRPr sz="3200" dirty="0"/>
          </a:p>
        </p:txBody>
      </p:sp>
      <p:sp>
        <p:nvSpPr>
          <p:cNvPr id="3248" name="Google Shape;3248;p301"/>
          <p:cNvSpPr txBox="1">
            <a:spLocks noGrp="1"/>
          </p:cNvSpPr>
          <p:nvPr>
            <p:ph type="body" idx="2"/>
          </p:nvPr>
        </p:nvSpPr>
        <p:spPr>
          <a:xfrm>
            <a:off x="2706775" y="1685638"/>
            <a:ext cx="8748346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a mesma tarefa aparece mais de uma vez no programa, usamos a mesma rotina.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9" name="Google Shape;3249;p301"/>
          <p:cNvSpPr txBox="1"/>
          <p:nvPr/>
        </p:nvSpPr>
        <p:spPr>
          <a:xfrm>
            <a:off x="2706775" y="2751289"/>
            <a:ext cx="902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media_caderno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media_caneta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0" name="Google Shape;3250;p301"/>
          <p:cNvSpPr txBox="1">
            <a:spLocks noGrp="1"/>
          </p:cNvSpPr>
          <p:nvPr>
            <p:ph type="body" idx="3"/>
          </p:nvPr>
        </p:nvSpPr>
        <p:spPr>
          <a:xfrm>
            <a:off x="2706775" y="3869866"/>
            <a:ext cx="8869340" cy="1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a forma de calcular a média mudar, a alteração pode ser feita na função que realiza esse cálculo, não em vários pontos espalhados.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A007C37A-402A-24C6-BD22-2BC66AF3F864}"/>
              </a:ext>
            </a:extLst>
          </p:cNvPr>
          <p:cNvSpPr txBox="1"/>
          <p:nvPr/>
        </p:nvSpPr>
        <p:spPr>
          <a:xfrm>
            <a:off x="2706775" y="3422746"/>
            <a:ext cx="54093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302"/>
          <p:cNvSpPr txBox="1">
            <a:spLocks noGrp="1"/>
          </p:cNvSpPr>
          <p:nvPr>
            <p:ph type="body" idx="1"/>
          </p:nvPr>
        </p:nvSpPr>
        <p:spPr>
          <a:xfrm>
            <a:off x="2706775" y="758776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Uma rotina pode alimentar outra</a:t>
            </a:r>
            <a:endParaRPr sz="3200" dirty="0"/>
          </a:p>
        </p:txBody>
      </p:sp>
      <p:sp>
        <p:nvSpPr>
          <p:cNvPr id="3257" name="Google Shape;3257;p302"/>
          <p:cNvSpPr txBox="1">
            <a:spLocks noGrp="1"/>
          </p:cNvSpPr>
          <p:nvPr>
            <p:ph type="body" idx="2"/>
          </p:nvPr>
        </p:nvSpPr>
        <p:spPr>
          <a:xfrm>
            <a:off x="2706775" y="1685732"/>
            <a:ext cx="8294517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partes do algoritmo podem trabalhar em sequência. O resultado de uma rotina entra na próxima.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8" name="Google Shape;3258;p302"/>
          <p:cNvSpPr txBox="1">
            <a:spLocks noGrp="1"/>
          </p:cNvSpPr>
          <p:nvPr>
            <p:ph type="body" idx="3"/>
          </p:nvPr>
        </p:nvSpPr>
        <p:spPr>
          <a:xfrm>
            <a:off x="2753400" y="4265638"/>
            <a:ext cx="50316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Neste fluxo, temos: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9" name="Google Shape;3259;p302"/>
          <p:cNvSpPr txBox="1"/>
          <p:nvPr/>
        </p:nvSpPr>
        <p:spPr>
          <a:xfrm>
            <a:off x="2706775" y="2637882"/>
            <a:ext cx="8294517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classificar_desempenho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AAA0FA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exibir_resultado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C132EF42-7926-ABED-C9E8-5A81553F21FE}"/>
              </a:ext>
            </a:extLst>
          </p:cNvPr>
          <p:cNvSpPr txBox="1"/>
          <p:nvPr/>
        </p:nvSpPr>
        <p:spPr>
          <a:xfrm>
            <a:off x="2706775" y="3597120"/>
            <a:ext cx="54093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Espaço Reservado para Texto 44">
            <a:extLst>
              <a:ext uri="{FF2B5EF4-FFF2-40B4-BE49-F238E27FC236}">
                <a16:creationId xmlns:a16="http://schemas.microsoft.com/office/drawing/2014/main" id="{295FF54E-75F3-44BC-BE78-813CCF32A013}"/>
              </a:ext>
            </a:extLst>
          </p:cNvPr>
          <p:cNvSpPr txBox="1">
            <a:spLocks/>
          </p:cNvSpPr>
          <p:nvPr/>
        </p:nvSpPr>
        <p:spPr>
          <a:xfrm>
            <a:off x="3505215" y="4821952"/>
            <a:ext cx="1575834" cy="655021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a média.</a:t>
            </a:r>
          </a:p>
          <a:p>
            <a:endParaRPr lang="pt-BR" sz="1500" dirty="0"/>
          </a:p>
        </p:txBody>
      </p:sp>
      <p:sp>
        <p:nvSpPr>
          <p:cNvPr id="4" name="Google Shape;591;p15">
            <a:extLst>
              <a:ext uri="{FF2B5EF4-FFF2-40B4-BE49-F238E27FC236}">
                <a16:creationId xmlns:a16="http://schemas.microsoft.com/office/drawing/2014/main" id="{1C0F0E3E-B817-486B-353A-3085A991B485}"/>
              </a:ext>
            </a:extLst>
          </p:cNvPr>
          <p:cNvSpPr txBox="1"/>
          <p:nvPr/>
        </p:nvSpPr>
        <p:spPr>
          <a:xfrm>
            <a:off x="2819389" y="4811539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Espaço Reservado para Texto 44">
            <a:extLst>
              <a:ext uri="{FF2B5EF4-FFF2-40B4-BE49-F238E27FC236}">
                <a16:creationId xmlns:a16="http://schemas.microsoft.com/office/drawing/2014/main" id="{B27D0117-6984-34CC-2F1C-2A2E7531A71A}"/>
              </a:ext>
            </a:extLst>
          </p:cNvPr>
          <p:cNvSpPr txBox="1">
            <a:spLocks/>
          </p:cNvSpPr>
          <p:nvPr/>
        </p:nvSpPr>
        <p:spPr>
          <a:xfrm>
            <a:off x="5934872" y="4811539"/>
            <a:ext cx="1743831" cy="665434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Classificar o desempenho.</a:t>
            </a:r>
          </a:p>
          <a:p>
            <a:endParaRPr lang="pt-BR" sz="1500" dirty="0"/>
          </a:p>
        </p:txBody>
      </p:sp>
      <p:sp>
        <p:nvSpPr>
          <p:cNvPr id="6" name="Google Shape;591;p15">
            <a:extLst>
              <a:ext uri="{FF2B5EF4-FFF2-40B4-BE49-F238E27FC236}">
                <a16:creationId xmlns:a16="http://schemas.microsoft.com/office/drawing/2014/main" id="{2BD1D429-D12E-C277-CF89-2504397BC8DC}"/>
              </a:ext>
            </a:extLst>
          </p:cNvPr>
          <p:cNvSpPr txBox="1"/>
          <p:nvPr/>
        </p:nvSpPr>
        <p:spPr>
          <a:xfrm>
            <a:off x="5249046" y="4807717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Espaço Reservado para Texto 44">
            <a:extLst>
              <a:ext uri="{FF2B5EF4-FFF2-40B4-BE49-F238E27FC236}">
                <a16:creationId xmlns:a16="http://schemas.microsoft.com/office/drawing/2014/main" id="{60D29597-ED19-6DBA-BEAD-964BCA39AF11}"/>
              </a:ext>
            </a:extLst>
          </p:cNvPr>
          <p:cNvSpPr txBox="1">
            <a:spLocks/>
          </p:cNvSpPr>
          <p:nvPr/>
        </p:nvSpPr>
        <p:spPr>
          <a:xfrm>
            <a:off x="8770137" y="4921988"/>
            <a:ext cx="2805980" cy="319316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Comunicar o resultado.</a:t>
            </a:r>
          </a:p>
          <a:p>
            <a:endParaRPr lang="pt-BR" sz="1500" dirty="0"/>
          </a:p>
        </p:txBody>
      </p:sp>
      <p:sp>
        <p:nvSpPr>
          <p:cNvPr id="8" name="Google Shape;591;p15">
            <a:extLst>
              <a:ext uri="{FF2B5EF4-FFF2-40B4-BE49-F238E27FC236}">
                <a16:creationId xmlns:a16="http://schemas.microsoft.com/office/drawing/2014/main" id="{F4D6C433-C75C-C040-C659-607212D3EA29}"/>
              </a:ext>
            </a:extLst>
          </p:cNvPr>
          <p:cNvSpPr txBox="1"/>
          <p:nvPr/>
        </p:nvSpPr>
        <p:spPr>
          <a:xfrm>
            <a:off x="8034069" y="4807717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5" name="Google Shape;3265;p303"/>
          <p:cNvSpPr txBox="1">
            <a:spLocks noGrp="1"/>
          </p:cNvSpPr>
          <p:nvPr>
            <p:ph type="body" idx="1"/>
          </p:nvPr>
        </p:nvSpPr>
        <p:spPr>
          <a:xfrm>
            <a:off x="2735870" y="758242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Exibir na tela ou gravar em arquivo</a:t>
            </a:r>
            <a:endParaRPr sz="3200" dirty="0"/>
          </a:p>
        </p:txBody>
      </p:sp>
      <p:sp>
        <p:nvSpPr>
          <p:cNvPr id="3266" name="Google Shape;3266;p303"/>
          <p:cNvSpPr txBox="1">
            <a:spLocks noGrp="1"/>
          </p:cNvSpPr>
          <p:nvPr>
            <p:ph type="body" idx="2"/>
          </p:nvPr>
        </p:nvSpPr>
        <p:spPr>
          <a:xfrm>
            <a:off x="2735870" y="1693134"/>
            <a:ext cx="8913899" cy="114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 média e o desempenho de vendas já calculados, quase nada muda no processamento. O que muda é o destino do resultado.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267" name="Google Shape;3267;p303"/>
          <p:cNvGraphicFramePr/>
          <p:nvPr>
            <p:extLst>
              <p:ext uri="{D42A27DB-BD31-4B8C-83A1-F6EECF244321}">
                <p14:modId xmlns:p14="http://schemas.microsoft.com/office/powerpoint/2010/main" val="3465110061"/>
              </p:ext>
            </p:extLst>
          </p:nvPr>
        </p:nvGraphicFramePr>
        <p:xfrm>
          <a:off x="2873350" y="2845972"/>
          <a:ext cx="8149692" cy="1578309"/>
        </p:xfrm>
        <a:graphic>
          <a:graphicData uri="http://schemas.openxmlformats.org/drawingml/2006/table">
            <a:tbl>
              <a:tblPr>
                <a:noFill/>
                <a:tableStyleId>{F98117E4-6555-4A4F-B310-87134BD24971}</a:tableStyleId>
              </a:tblPr>
              <a:tblGrid>
                <a:gridCol w="2330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8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Destino</a:t>
                      </a:r>
                      <a:endParaRPr sz="18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Ideia</a:t>
                      </a:r>
                      <a:endParaRPr sz="1800" u="none" strike="noStrike" cap="none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Tela</a:t>
                      </a:r>
                      <a:endParaRPr sz="1800" u="none" strike="noStrike" cap="none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>
                          <a:latin typeface="Poppins"/>
                          <a:ea typeface="Poppins"/>
                          <a:cs typeface="Poppins"/>
                        </a:rPr>
                        <a:t>Print</a:t>
                      </a:r>
                      <a:r>
                        <a:rPr lang="pt-BR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: a equipe vê na hora</a:t>
                      </a:r>
                      <a:endParaRPr sz="1800" u="none" strike="noStrike" cap="none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Arquivo</a:t>
                      </a:r>
                      <a:endParaRPr sz="1800" u="none" strike="noStrike" cap="none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</a:rPr>
                        <a:t>Gravar</a:t>
                      </a: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uma linha em desempenho.txt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68" name="Google Shape;3268;p303"/>
          <p:cNvSpPr txBox="1"/>
          <p:nvPr/>
        </p:nvSpPr>
        <p:spPr>
          <a:xfrm>
            <a:off x="2816788" y="5106687"/>
            <a:ext cx="545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with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open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"desempenho.txt"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arquivo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arquivo</a:t>
            </a:r>
            <a:r>
              <a:rPr lang="pt-BR" sz="1800" err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sz="180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write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"Caderno;10.0;Médio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\n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9" name="Google Shape;3269;p303"/>
          <p:cNvSpPr txBox="1"/>
          <p:nvPr/>
        </p:nvSpPr>
        <p:spPr>
          <a:xfrm>
            <a:off x="2816788" y="4400117"/>
            <a:ext cx="3000000" cy="81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em Python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3A3C4606-7E55-A86E-CC7F-849F9CDCC21A}"/>
              </a:ext>
            </a:extLst>
          </p:cNvPr>
          <p:cNvSpPr txBox="1"/>
          <p:nvPr/>
        </p:nvSpPr>
        <p:spPr>
          <a:xfrm>
            <a:off x="2837606" y="5751317"/>
            <a:ext cx="54093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304"/>
          <p:cNvSpPr txBox="1">
            <a:spLocks noGrp="1"/>
          </p:cNvSpPr>
          <p:nvPr>
            <p:ph type="body" idx="4"/>
          </p:nvPr>
        </p:nvSpPr>
        <p:spPr>
          <a:xfrm>
            <a:off x="2735870" y="756385"/>
            <a:ext cx="8424785" cy="58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</a:rPr>
              <a:t>Desempenho de vendas com funções</a:t>
            </a:r>
            <a:endParaRPr sz="3200" b="1" dirty="0">
              <a:solidFill>
                <a:srgbClr val="FF161F"/>
              </a:solidFill>
            </a:endParaRPr>
          </a:p>
        </p:txBody>
      </p:sp>
      <p:sp>
        <p:nvSpPr>
          <p:cNvPr id="3277" name="Google Shape;3277;p304"/>
          <p:cNvSpPr txBox="1"/>
          <p:nvPr/>
        </p:nvSpPr>
        <p:spPr>
          <a:xfrm>
            <a:off x="7521470" y="1752678"/>
            <a:ext cx="3340679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endParaRPr sz="15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"2026-01-15"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5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"2026-02-10"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5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pt-BR" sz="15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"2026-03-05"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5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pt-BR" sz="15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40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5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5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"2026-02-20"</a:t>
            </a: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5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endParaRPr sz="15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9" name="Google Shape;3279;p304"/>
          <p:cNvSpPr txBox="1"/>
          <p:nvPr/>
        </p:nvSpPr>
        <p:spPr>
          <a:xfrm>
            <a:off x="2735870" y="1642300"/>
            <a:ext cx="4145697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 é preciso organizar o desempenho de vendas na Papelaria Ponto Certo, que já tem vendas registradas em memória.</a:t>
            </a: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D608F4B5-1A9A-B24A-0415-5070D8FF7B53}"/>
              </a:ext>
            </a:extLst>
          </p:cNvPr>
          <p:cNvSpPr txBox="1"/>
          <p:nvPr/>
        </p:nvSpPr>
        <p:spPr>
          <a:xfrm>
            <a:off x="7521470" y="3234644"/>
            <a:ext cx="3742732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1BA35277-71B3-E473-1B43-FCDCFA23C1DE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4" name="Espaço Reservado para Texto 60">
            <a:extLst>
              <a:ext uri="{FF2B5EF4-FFF2-40B4-BE49-F238E27FC236}">
                <a16:creationId xmlns:a16="http://schemas.microsoft.com/office/drawing/2014/main" id="{29CC2A6B-85C7-2E2E-3733-109F792B2533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Durante a aula</a:t>
            </a:r>
          </a:p>
        </p:txBody>
      </p:sp>
      <p:sp>
        <p:nvSpPr>
          <p:cNvPr id="35" name="Google Shape;610;p16">
            <a:extLst>
              <a:ext uri="{FF2B5EF4-FFF2-40B4-BE49-F238E27FC236}">
                <a16:creationId xmlns:a16="http://schemas.microsoft.com/office/drawing/2014/main" id="{4A9FB07D-B370-BE7B-B7A7-AC9D6DB79056}"/>
              </a:ext>
            </a:extLst>
          </p:cNvPr>
          <p:cNvSpPr/>
          <p:nvPr/>
        </p:nvSpPr>
        <p:spPr>
          <a:xfrm rot="10800000" flipH="1">
            <a:off x="2799665" y="3799957"/>
            <a:ext cx="8576640" cy="1993963"/>
          </a:xfrm>
          <a:prstGeom prst="foldedCorner">
            <a:avLst>
              <a:gd name="adj" fmla="val 16667"/>
            </a:avLst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  <a:highlight>
                <a:srgbClr val="E28099"/>
              </a:highlight>
            </a:endParaRPr>
          </a:p>
        </p:txBody>
      </p:sp>
      <p:sp>
        <p:nvSpPr>
          <p:cNvPr id="36" name="Espaço Reservado para Texto 3">
            <a:extLst>
              <a:ext uri="{FF2B5EF4-FFF2-40B4-BE49-F238E27FC236}">
                <a16:creationId xmlns:a16="http://schemas.microsoft.com/office/drawing/2014/main" id="{FA5B7C00-45CB-C5AA-AB03-980D63A7A71E}"/>
              </a:ext>
            </a:extLst>
          </p:cNvPr>
          <p:cNvSpPr txBox="1">
            <a:spLocks/>
          </p:cNvSpPr>
          <p:nvPr/>
        </p:nvSpPr>
        <p:spPr>
          <a:xfrm>
            <a:off x="2993354" y="3913203"/>
            <a:ext cx="8017710" cy="167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bg1"/>
              </a:buClr>
            </a:pP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Considerando essas informações: </a:t>
            </a:r>
          </a:p>
          <a:p>
            <a:pPr marL="0" indent="0">
              <a:spcAft>
                <a:spcPts val="600"/>
              </a:spcAft>
              <a:buClr>
                <a:schemeClr val="bg1"/>
              </a:buClr>
            </a:pPr>
            <a:r>
              <a:rPr lang="pt-BR" sz="18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1. 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Digitem </a:t>
            </a:r>
            <a:r>
              <a:rPr lang="pt-BR" sz="18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calcular_media_vendas</a:t>
            </a:r>
            <a:r>
              <a:rPr lang="pt-BR" sz="18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 </a:t>
            </a:r>
            <a:r>
              <a:rPr lang="pt-BR" sz="18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classificar_desempenho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.</a:t>
            </a:r>
          </a:p>
          <a:p>
            <a:pPr marL="0" indent="0">
              <a:spcAft>
                <a:spcPts val="600"/>
              </a:spcAft>
              <a:buClr>
                <a:schemeClr val="bg1"/>
              </a:buClr>
            </a:pPr>
            <a:r>
              <a:rPr lang="pt-BR" sz="18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2. 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Calculem a média do </a:t>
            </a:r>
            <a:r>
              <a:rPr lang="pt-BR" sz="18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Caderno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classifiquem e exibam na tela.</a:t>
            </a:r>
          </a:p>
          <a:p>
            <a:pPr marL="0" indent="0">
              <a:spcAft>
                <a:spcPts val="600"/>
              </a:spcAft>
              <a:buClr>
                <a:schemeClr val="bg1"/>
              </a:buClr>
            </a:pPr>
            <a:r>
              <a:rPr lang="pt-BR" sz="18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3. 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Registrem o mesmo resultado em desempenho.txt (uma linha).</a:t>
            </a:r>
          </a:p>
          <a:p>
            <a:pPr marL="0" indent="0">
              <a:spcAft>
                <a:spcPts val="600"/>
              </a:spcAft>
              <a:buClr>
                <a:schemeClr val="bg1"/>
              </a:buClr>
            </a:pPr>
            <a:r>
              <a:rPr lang="pt-BR" sz="18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4. </a:t>
            </a:r>
            <a:r>
              <a:rPr lang="pt-BR" sz="18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Expliquem o que muda entre tela e arquivo, e o que não muda.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0AF79462-4921-7198-832B-535ECA6BD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7220" y="5812297"/>
            <a:ext cx="1744133" cy="406400"/>
          </a:xfrm>
          <a:prstGeom prst="rect">
            <a:avLst/>
          </a:prstGeom>
        </p:spPr>
      </p:pic>
      <p:grpSp>
        <p:nvGrpSpPr>
          <p:cNvPr id="38" name="Gráfico 85">
            <a:extLst>
              <a:ext uri="{FF2B5EF4-FFF2-40B4-BE49-F238E27FC236}">
                <a16:creationId xmlns:a16="http://schemas.microsoft.com/office/drawing/2014/main" id="{25142355-45C8-75E7-8C52-563FC2A98A20}"/>
              </a:ext>
            </a:extLst>
          </p:cNvPr>
          <p:cNvGrpSpPr/>
          <p:nvPr/>
        </p:nvGrpSpPr>
        <p:grpSpPr>
          <a:xfrm>
            <a:off x="10630846" y="5896544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39" name="Forma Livre 150">
              <a:extLst>
                <a:ext uri="{FF2B5EF4-FFF2-40B4-BE49-F238E27FC236}">
                  <a16:creationId xmlns:a16="http://schemas.microsoft.com/office/drawing/2014/main" id="{A7543C24-63A0-3693-DB6B-E3DF9A0EEABC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0" name="Forma Livre 151">
              <a:extLst>
                <a:ext uri="{FF2B5EF4-FFF2-40B4-BE49-F238E27FC236}">
                  <a16:creationId xmlns:a16="http://schemas.microsoft.com/office/drawing/2014/main" id="{F4DF6B2B-2453-A979-3624-D9541A11DC55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1" name="Forma Livre 152">
              <a:extLst>
                <a:ext uri="{FF2B5EF4-FFF2-40B4-BE49-F238E27FC236}">
                  <a16:creationId xmlns:a16="http://schemas.microsoft.com/office/drawing/2014/main" id="{9A464910-D2E0-0C7E-B023-E528F269E646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2" name="Forma Livre 153">
              <a:extLst>
                <a:ext uri="{FF2B5EF4-FFF2-40B4-BE49-F238E27FC236}">
                  <a16:creationId xmlns:a16="http://schemas.microsoft.com/office/drawing/2014/main" id="{32AA385A-8C91-768C-2C06-64D9E8F32051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3" name="Forma Livre 154">
              <a:extLst>
                <a:ext uri="{FF2B5EF4-FFF2-40B4-BE49-F238E27FC236}">
                  <a16:creationId xmlns:a16="http://schemas.microsoft.com/office/drawing/2014/main" id="{9EC4EAD4-0351-A197-6CD1-C4884632961D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4" name="Forma Livre 155">
              <a:extLst>
                <a:ext uri="{FF2B5EF4-FFF2-40B4-BE49-F238E27FC236}">
                  <a16:creationId xmlns:a16="http://schemas.microsoft.com/office/drawing/2014/main" id="{CF2FAAFC-EE71-72C6-BE00-DFC3684059B3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5" name="Forma Livre 156">
              <a:extLst>
                <a:ext uri="{FF2B5EF4-FFF2-40B4-BE49-F238E27FC236}">
                  <a16:creationId xmlns:a16="http://schemas.microsoft.com/office/drawing/2014/main" id="{002D56DA-AF28-AF4C-68F0-34E5DEE27AFF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6" name="Forma Livre 157">
              <a:extLst>
                <a:ext uri="{FF2B5EF4-FFF2-40B4-BE49-F238E27FC236}">
                  <a16:creationId xmlns:a16="http://schemas.microsoft.com/office/drawing/2014/main" id="{1519B343-E529-CFC6-6F60-263A7F13A413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grpSp>
        <p:nvGrpSpPr>
          <p:cNvPr id="50" name="Google Shape;474;p35">
            <a:extLst>
              <a:ext uri="{FF2B5EF4-FFF2-40B4-BE49-F238E27FC236}">
                <a16:creationId xmlns:a16="http://schemas.microsoft.com/office/drawing/2014/main" id="{E0489D7B-F671-055A-E91B-7A1D48BCCBF4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51" name="Google Shape;475;p35">
              <a:extLst>
                <a:ext uri="{FF2B5EF4-FFF2-40B4-BE49-F238E27FC236}">
                  <a16:creationId xmlns:a16="http://schemas.microsoft.com/office/drawing/2014/main" id="{DC490CF5-D03B-68E6-5383-E88DFEB1B66E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476;p35">
              <a:extLst>
                <a:ext uri="{FF2B5EF4-FFF2-40B4-BE49-F238E27FC236}">
                  <a16:creationId xmlns:a16="http://schemas.microsoft.com/office/drawing/2014/main" id="{4E0D6435-4DE5-5AEC-17A9-59A9B1B6774E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477;p35">
              <a:extLst>
                <a:ext uri="{FF2B5EF4-FFF2-40B4-BE49-F238E27FC236}">
                  <a16:creationId xmlns:a16="http://schemas.microsoft.com/office/drawing/2014/main" id="{FC194A79-B8D6-84FB-89A6-A8631C34EDAA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78;p35">
              <a:extLst>
                <a:ext uri="{FF2B5EF4-FFF2-40B4-BE49-F238E27FC236}">
                  <a16:creationId xmlns:a16="http://schemas.microsoft.com/office/drawing/2014/main" id="{803696E8-9C1C-1C6F-08D5-BD63A4E47E95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" name="Google Shape;479;p35">
              <a:extLst>
                <a:ext uri="{FF2B5EF4-FFF2-40B4-BE49-F238E27FC236}">
                  <a16:creationId xmlns:a16="http://schemas.microsoft.com/office/drawing/2014/main" id="{2DB6EDA1-2E47-ECD8-A192-A8DD9183C1C9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56" name="Google Shape;480;p35">
                <a:extLst>
                  <a:ext uri="{FF2B5EF4-FFF2-40B4-BE49-F238E27FC236}">
                    <a16:creationId xmlns:a16="http://schemas.microsoft.com/office/drawing/2014/main" id="{2DD86174-A4FD-A4E6-BD6D-D9460790BF3A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481;p35">
                <a:extLst>
                  <a:ext uri="{FF2B5EF4-FFF2-40B4-BE49-F238E27FC236}">
                    <a16:creationId xmlns:a16="http://schemas.microsoft.com/office/drawing/2014/main" id="{6E52779B-4887-4361-C307-161BE5657538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482;p35">
                <a:extLst>
                  <a:ext uri="{FF2B5EF4-FFF2-40B4-BE49-F238E27FC236}">
                    <a16:creationId xmlns:a16="http://schemas.microsoft.com/office/drawing/2014/main" id="{A8F1B679-C6B7-6B93-98B5-6019B136D0BB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483;p35">
                <a:extLst>
                  <a:ext uri="{FF2B5EF4-FFF2-40B4-BE49-F238E27FC236}">
                    <a16:creationId xmlns:a16="http://schemas.microsoft.com/office/drawing/2014/main" id="{4DD19C47-B2AD-5092-10A1-7F030C409D35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484;p35">
                <a:extLst>
                  <a:ext uri="{FF2B5EF4-FFF2-40B4-BE49-F238E27FC236}">
                    <a16:creationId xmlns:a16="http://schemas.microsoft.com/office/drawing/2014/main" id="{2F7A3BA2-4E3F-9F29-7175-93AFDDB7523B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485;p35">
                <a:extLst>
                  <a:ext uri="{FF2B5EF4-FFF2-40B4-BE49-F238E27FC236}">
                    <a16:creationId xmlns:a16="http://schemas.microsoft.com/office/drawing/2014/main" id="{E9DBA486-F290-9479-F2D0-E80F37434274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486;p35">
                <a:extLst>
                  <a:ext uri="{FF2B5EF4-FFF2-40B4-BE49-F238E27FC236}">
                    <a16:creationId xmlns:a16="http://schemas.microsoft.com/office/drawing/2014/main" id="{53D48023-373F-C06A-BD9F-431C0551D075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487;p35">
                <a:extLst>
                  <a:ext uri="{FF2B5EF4-FFF2-40B4-BE49-F238E27FC236}">
                    <a16:creationId xmlns:a16="http://schemas.microsoft.com/office/drawing/2014/main" id="{0FCE9D4A-4C81-88B6-B2A9-3F3B69D421E5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4" name="Google Shape;488;p35">
                <a:extLst>
                  <a:ext uri="{FF2B5EF4-FFF2-40B4-BE49-F238E27FC236}">
                    <a16:creationId xmlns:a16="http://schemas.microsoft.com/office/drawing/2014/main" id="{55DF3175-2798-14AD-1FAA-EB14D5F7CEFE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489;p35">
                <a:extLst>
                  <a:ext uri="{FF2B5EF4-FFF2-40B4-BE49-F238E27FC236}">
                    <a16:creationId xmlns:a16="http://schemas.microsoft.com/office/drawing/2014/main" id="{66F523B1-55E6-F015-AEDB-B6CC075D3AEA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266" name="Gráfico 3265">
            <a:extLst>
              <a:ext uri="{FF2B5EF4-FFF2-40B4-BE49-F238E27FC236}">
                <a16:creationId xmlns:a16="http://schemas.microsoft.com/office/drawing/2014/main" id="{1681EA37-9ACF-AE8D-D45D-B79CFFC13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p305"/>
          <p:cNvSpPr txBox="1"/>
          <p:nvPr/>
        </p:nvSpPr>
        <p:spPr>
          <a:xfrm>
            <a:off x="2746889" y="2276580"/>
            <a:ext cx="4224574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b="1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percorra vendas; junte as quantidades do nome</a:t>
            </a:r>
            <a:endParaRPr i="1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se não houver vendas, retorne </a:t>
            </a:r>
            <a:r>
              <a:rPr lang="pt-BR" i="1" err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endParaRPr i="1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senão, retorne a média</a:t>
            </a:r>
            <a:endParaRPr i="1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>
                <a:solidFill>
                  <a:srgbClr val="CCCCC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...</a:t>
            </a:r>
            <a:endParaRPr>
              <a:solidFill>
                <a:srgbClr val="CCCCC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b="1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classificar_desempenho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Sem histórico / Alto / Médio / Baixo</a:t>
            </a:r>
            <a:endParaRPr i="1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>
                <a:solidFill>
                  <a:srgbClr val="CCCCC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...</a:t>
            </a:r>
            <a:endParaRPr>
              <a:solidFill>
                <a:srgbClr val="CCCCC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b="1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exibir_resultado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7" name="Google Shape;3287;p305"/>
          <p:cNvSpPr txBox="1"/>
          <p:nvPr/>
        </p:nvSpPr>
        <p:spPr>
          <a:xfrm>
            <a:off x="6971462" y="2384987"/>
            <a:ext cx="4650837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b="1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registrar_desempenho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with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open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"desempenho.txt"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"a"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i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arquivo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arquivo</a:t>
            </a:r>
            <a:r>
              <a:rPr lang="pt-BR" err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write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pt-BR">
                <a:solidFill>
                  <a:srgbClr val="F8C762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>
                <a:solidFill>
                  <a:srgbClr val="F8C762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r>
              <a:rPr lang="pt-BR">
                <a:solidFill>
                  <a:srgbClr val="F8C762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F8C762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r>
              <a:rPr lang="pt-BR">
                <a:solidFill>
                  <a:srgbClr val="F8C762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pt-BR" i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F8C762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\n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fluxo principal</a:t>
            </a:r>
            <a:endParaRPr i="1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classificar_desempenho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exibir_resultado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registrar_desempenho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8" name="Google Shape;3288;p305"/>
          <p:cNvSpPr txBox="1"/>
          <p:nvPr/>
        </p:nvSpPr>
        <p:spPr>
          <a:xfrm>
            <a:off x="2746888" y="1663502"/>
            <a:ext cx="648386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Em seguida, completem e testem: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1EFFBBBD-75A3-59CC-0D20-97B6D73771C9}"/>
              </a:ext>
            </a:extLst>
          </p:cNvPr>
          <p:cNvSpPr txBox="1"/>
          <p:nvPr/>
        </p:nvSpPr>
        <p:spPr>
          <a:xfrm>
            <a:off x="2746888" y="5607805"/>
            <a:ext cx="54093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B34EA68A-3514-545A-9A1A-32623BEC4EC7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4" name="Espaço Reservado para Texto 60">
            <a:extLst>
              <a:ext uri="{FF2B5EF4-FFF2-40B4-BE49-F238E27FC236}">
                <a16:creationId xmlns:a16="http://schemas.microsoft.com/office/drawing/2014/main" id="{0D217B06-2FE5-E39F-4A37-1C33F6BD316C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Durante a aula</a:t>
            </a:r>
          </a:p>
        </p:txBody>
      </p:sp>
      <p:sp>
        <p:nvSpPr>
          <p:cNvPr id="37" name="Google Shape;3275;p304">
            <a:extLst>
              <a:ext uri="{FF2B5EF4-FFF2-40B4-BE49-F238E27FC236}">
                <a16:creationId xmlns:a16="http://schemas.microsoft.com/office/drawing/2014/main" id="{D9B1DA4F-AE3D-A854-4940-B15E897191FD}"/>
              </a:ext>
            </a:extLst>
          </p:cNvPr>
          <p:cNvSpPr txBox="1">
            <a:spLocks/>
          </p:cNvSpPr>
          <p:nvPr/>
        </p:nvSpPr>
        <p:spPr>
          <a:xfrm>
            <a:off x="2735870" y="756385"/>
            <a:ext cx="8424785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 spc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3200" b="1">
                <a:solidFill>
                  <a:srgbClr val="FF161F"/>
                </a:solidFill>
              </a:rPr>
              <a:t>Desempenho de vendas com funções</a:t>
            </a:r>
            <a:endParaRPr lang="pt-BR" sz="3200" b="1" dirty="0">
              <a:solidFill>
                <a:srgbClr val="FF161F"/>
              </a:solidFill>
            </a:endParaRPr>
          </a:p>
        </p:txBody>
      </p:sp>
      <p:grpSp>
        <p:nvGrpSpPr>
          <p:cNvPr id="48" name="Google Shape;474;p35">
            <a:extLst>
              <a:ext uri="{FF2B5EF4-FFF2-40B4-BE49-F238E27FC236}">
                <a16:creationId xmlns:a16="http://schemas.microsoft.com/office/drawing/2014/main" id="{B5D32D70-DCB5-033B-FD3E-14EF69D57D89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49" name="Google Shape;475;p35">
              <a:extLst>
                <a:ext uri="{FF2B5EF4-FFF2-40B4-BE49-F238E27FC236}">
                  <a16:creationId xmlns:a16="http://schemas.microsoft.com/office/drawing/2014/main" id="{5CC7B0D6-6D3D-71E1-A1D3-DA46E491232F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476;p35">
              <a:extLst>
                <a:ext uri="{FF2B5EF4-FFF2-40B4-BE49-F238E27FC236}">
                  <a16:creationId xmlns:a16="http://schemas.microsoft.com/office/drawing/2014/main" id="{AD08CC41-A9DB-EDB8-9692-028E08A9218C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477;p35">
              <a:extLst>
                <a:ext uri="{FF2B5EF4-FFF2-40B4-BE49-F238E27FC236}">
                  <a16:creationId xmlns:a16="http://schemas.microsoft.com/office/drawing/2014/main" id="{191975AC-05F7-8244-802E-FCFB4071BBF8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478;p35">
              <a:extLst>
                <a:ext uri="{FF2B5EF4-FFF2-40B4-BE49-F238E27FC236}">
                  <a16:creationId xmlns:a16="http://schemas.microsoft.com/office/drawing/2014/main" id="{478C9EC2-BC0E-A9FC-5014-AAAFB59F7C4A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" name="Google Shape;479;p35">
              <a:extLst>
                <a:ext uri="{FF2B5EF4-FFF2-40B4-BE49-F238E27FC236}">
                  <a16:creationId xmlns:a16="http://schemas.microsoft.com/office/drawing/2014/main" id="{227B47D2-C911-9F9E-0056-6B6BAABD20C8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54" name="Google Shape;480;p35">
                <a:extLst>
                  <a:ext uri="{FF2B5EF4-FFF2-40B4-BE49-F238E27FC236}">
                    <a16:creationId xmlns:a16="http://schemas.microsoft.com/office/drawing/2014/main" id="{A387DAA1-FC9F-0171-9AB9-F10D4B709C99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481;p35">
                <a:extLst>
                  <a:ext uri="{FF2B5EF4-FFF2-40B4-BE49-F238E27FC236}">
                    <a16:creationId xmlns:a16="http://schemas.microsoft.com/office/drawing/2014/main" id="{30695025-6994-A5D3-E83D-1009EACCF63D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482;p35">
                <a:extLst>
                  <a:ext uri="{FF2B5EF4-FFF2-40B4-BE49-F238E27FC236}">
                    <a16:creationId xmlns:a16="http://schemas.microsoft.com/office/drawing/2014/main" id="{B275094A-D34A-EFA0-283E-33694BE1A5DB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483;p35">
                <a:extLst>
                  <a:ext uri="{FF2B5EF4-FFF2-40B4-BE49-F238E27FC236}">
                    <a16:creationId xmlns:a16="http://schemas.microsoft.com/office/drawing/2014/main" id="{9F380639-AEAE-B642-E171-11AF8B715DF5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484;p35">
                <a:extLst>
                  <a:ext uri="{FF2B5EF4-FFF2-40B4-BE49-F238E27FC236}">
                    <a16:creationId xmlns:a16="http://schemas.microsoft.com/office/drawing/2014/main" id="{2724D840-5D9E-27BE-2E72-D1E537124807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485;p35">
                <a:extLst>
                  <a:ext uri="{FF2B5EF4-FFF2-40B4-BE49-F238E27FC236}">
                    <a16:creationId xmlns:a16="http://schemas.microsoft.com/office/drawing/2014/main" id="{216B8714-A6B8-DB8C-8923-1BF71B47D45F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486;p35">
                <a:extLst>
                  <a:ext uri="{FF2B5EF4-FFF2-40B4-BE49-F238E27FC236}">
                    <a16:creationId xmlns:a16="http://schemas.microsoft.com/office/drawing/2014/main" id="{2D9A2C84-920C-63DF-6E87-888C0E70DE83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487;p35">
                <a:extLst>
                  <a:ext uri="{FF2B5EF4-FFF2-40B4-BE49-F238E27FC236}">
                    <a16:creationId xmlns:a16="http://schemas.microsoft.com/office/drawing/2014/main" id="{924BAA89-95E9-1DC0-9550-C28592C09B21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488;p35">
                <a:extLst>
                  <a:ext uri="{FF2B5EF4-FFF2-40B4-BE49-F238E27FC236}">
                    <a16:creationId xmlns:a16="http://schemas.microsoft.com/office/drawing/2014/main" id="{28FC309E-BAE6-CD43-0659-28A249C35D29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489;p35">
                <a:extLst>
                  <a:ext uri="{FF2B5EF4-FFF2-40B4-BE49-F238E27FC236}">
                    <a16:creationId xmlns:a16="http://schemas.microsoft.com/office/drawing/2014/main" id="{E1E7E3BD-BB0A-0CAE-B287-D8D4F5696410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264" name="Gráfico 3263">
            <a:extLst>
              <a:ext uri="{FF2B5EF4-FFF2-40B4-BE49-F238E27FC236}">
                <a16:creationId xmlns:a16="http://schemas.microsoft.com/office/drawing/2014/main" id="{1B06C7D3-992E-E04B-2D05-F624C5FB4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Google Shape;3294;p306"/>
          <p:cNvSpPr txBox="1">
            <a:spLocks noGrp="1"/>
          </p:cNvSpPr>
          <p:nvPr>
            <p:ph type="body" idx="4"/>
          </p:nvPr>
        </p:nvSpPr>
        <p:spPr>
          <a:xfrm>
            <a:off x="2737887" y="765164"/>
            <a:ext cx="8223818" cy="58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</a:rPr>
              <a:t>Expectativa de resposta</a:t>
            </a:r>
            <a:endParaRPr sz="3200" b="1" dirty="0">
              <a:solidFill>
                <a:srgbClr val="FF161F"/>
              </a:solidFill>
            </a:endParaRPr>
          </a:p>
        </p:txBody>
      </p:sp>
      <p:sp>
        <p:nvSpPr>
          <p:cNvPr id="3295" name="Google Shape;3295;p306"/>
          <p:cNvSpPr txBox="1"/>
          <p:nvPr/>
        </p:nvSpPr>
        <p:spPr>
          <a:xfrm>
            <a:off x="177544" y="2211475"/>
            <a:ext cx="5577753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b="1" dirty="0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calcular_media_vendas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[]</a:t>
            </a:r>
            <a:endParaRPr sz="18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item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item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    </a:t>
            </a:r>
            <a:r>
              <a:rPr lang="pt-BR" sz="1800" dirty="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sz="1800" dirty="0" err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sz="1800" dirty="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item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])</a:t>
            </a:r>
            <a:endParaRPr sz="18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len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 err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sum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len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quantidades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3295;p306">
            <a:extLst>
              <a:ext uri="{FF2B5EF4-FFF2-40B4-BE49-F238E27FC236}">
                <a16:creationId xmlns:a16="http://schemas.microsoft.com/office/drawing/2014/main" id="{23005FEE-D9B1-92FC-6AEC-728DD02AA00D}"/>
              </a:ext>
            </a:extLst>
          </p:cNvPr>
          <p:cNvSpPr txBox="1"/>
          <p:nvPr/>
        </p:nvSpPr>
        <p:spPr>
          <a:xfrm>
            <a:off x="6836230" y="2211475"/>
            <a:ext cx="4810728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b="1" dirty="0" err="1">
                <a:solidFill>
                  <a:srgbClr val="EFB08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classificar_desempenho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 err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"Sem histórico"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30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"Alto"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"Médio"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pt-BR" sz="18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"Baixo"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839;p271">
            <a:extLst>
              <a:ext uri="{FF2B5EF4-FFF2-40B4-BE49-F238E27FC236}">
                <a16:creationId xmlns:a16="http://schemas.microsoft.com/office/drawing/2014/main" id="{BF0358EA-1CD9-46D5-A072-5EE23D754A6C}"/>
              </a:ext>
            </a:extLst>
          </p:cNvPr>
          <p:cNvSpPr txBox="1"/>
          <p:nvPr/>
        </p:nvSpPr>
        <p:spPr>
          <a:xfrm>
            <a:off x="177544" y="4563763"/>
            <a:ext cx="54093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pt-BR" sz="1100" dirty="0">
              <a:latin typeface="Poppins"/>
              <a:ea typeface="Poppins"/>
              <a:cs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1" name="Google Shape;3301;p307" title="diagrama (2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450" y="1857575"/>
            <a:ext cx="7776975" cy="25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2" name="Google Shape;3302;p307"/>
          <p:cNvSpPr txBox="1"/>
          <p:nvPr/>
        </p:nvSpPr>
        <p:spPr>
          <a:xfrm>
            <a:off x="5798550" y="4477375"/>
            <a:ext cx="48123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308"/>
          <p:cNvSpPr txBox="1">
            <a:spLocks noGrp="1"/>
          </p:cNvSpPr>
          <p:nvPr>
            <p:ph type="body" idx="1"/>
          </p:nvPr>
        </p:nvSpPr>
        <p:spPr>
          <a:xfrm>
            <a:off x="5541900" y="1913910"/>
            <a:ext cx="5907150" cy="192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Acompanhe o funcionamento básico do for até exemplos práticos com range e listas: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CURSO EM VÍDEO. Curso Python #013 - Estrutura de repetição for. Disponível em: 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https://www.youtube.com/watch?v=cL4YDtFnCt4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>
                <a:solidFill>
                  <a:schemeClr val="hlink"/>
                </a:solidFill>
              </a:rPr>
              <a:t> </a:t>
            </a:r>
            <a:r>
              <a:rPr lang="pt-BR" sz="1800" dirty="0"/>
              <a:t>Acesso em: 17 ago. 2026.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3308" name="Google Shape;3308;p308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309"/>
          <p:cNvSpPr txBox="1">
            <a:spLocks noGrp="1"/>
          </p:cNvSpPr>
          <p:nvPr>
            <p:ph type="body" idx="1"/>
          </p:nvPr>
        </p:nvSpPr>
        <p:spPr>
          <a:xfrm>
            <a:off x="555150" y="1501775"/>
            <a:ext cx="11351100" cy="29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</a:pPr>
            <a:r>
              <a:rPr lang="pt-BR" dirty="0"/>
              <a:t>DEVMEDIA. Python: estrutura de repetição </a:t>
            </a:r>
            <a:r>
              <a:rPr lang="pt-BR" dirty="0" err="1"/>
              <a:t>while</a:t>
            </a:r>
            <a:r>
              <a:rPr lang="pt-BR" dirty="0"/>
              <a:t>, 2019. Disponível em: </a:t>
            </a:r>
            <a:r>
              <a:rPr lang="pt-BR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https://www.devmedia.com.br/python-estrutura-de-repeticao-while/38546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</a:pPr>
            <a:r>
              <a:rPr lang="pt-BR" dirty="0"/>
              <a:t>LOPES, E. Loops e estruturas de repetição no Python. </a:t>
            </a:r>
            <a:r>
              <a:rPr lang="pt-BR" b="1" dirty="0"/>
              <a:t>Python </a:t>
            </a:r>
            <a:r>
              <a:rPr lang="pt-BR" b="1" dirty="0" err="1"/>
              <a:t>Academy</a:t>
            </a:r>
            <a:r>
              <a:rPr lang="pt-BR" dirty="0"/>
              <a:t>, 30 maio 2026. Disponível em: </a:t>
            </a:r>
            <a:r>
              <a:rPr lang="pt-BR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https://pythonacademy.com.br/blog/estruturas-de-repeticao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</a:pPr>
            <a:r>
              <a:rPr lang="pt-BR" dirty="0"/>
              <a:t>PYTHON SOFTWARE FOUNDATION. Mais ferramentas de controle de fluxo, 26 ago. 2026. Disponível em: </a:t>
            </a:r>
            <a:r>
              <a:rPr lang="pt-BR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https://docs.python.org/pt-br/3/tutorial/controlflow.html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ROSA, D. Laço for em Python: exemplo de for i in range. </a:t>
            </a:r>
            <a:r>
              <a:rPr lang="pt-BR" b="1" dirty="0" err="1"/>
              <a:t>freeCodeCamp</a:t>
            </a:r>
            <a:r>
              <a:rPr lang="pt-BR" dirty="0"/>
              <a:t>, 11 nov. 2021. Disponível em: </a:t>
            </a:r>
            <a:r>
              <a:rPr lang="pt-BR" u="sng" dirty="0">
                <a:solidFill>
                  <a:schemeClr val="hlink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https://www.freecodecamp.org/portuguese/news/laco-for-em-python-exemplo-de-for-i-in-range/</a:t>
            </a:r>
            <a:r>
              <a:rPr lang="pt-BR" dirty="0"/>
              <a:t>. Acesso em: 02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p311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8" name="Google Shape;3328;p311"/>
          <p:cNvCxnSpPr>
            <a:cxnSpLocks/>
          </p:cNvCxnSpPr>
          <p:nvPr/>
        </p:nvCxnSpPr>
        <p:spPr>
          <a:xfrm flipV="1">
            <a:off x="683554" y="981075"/>
            <a:ext cx="0" cy="38766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26" name="Google Shape;3326;p311"/>
          <p:cNvSpPr txBox="1"/>
          <p:nvPr/>
        </p:nvSpPr>
        <p:spPr>
          <a:xfrm>
            <a:off x="955053" y="78890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>
              <a:buSzPts val="3000"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 a 8 – 11 a 13</a:t>
            </a:r>
            <a:endParaRPr sz="30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7" name="Google Shape;3327;p311"/>
          <p:cNvSpPr txBox="1"/>
          <p:nvPr/>
        </p:nvSpPr>
        <p:spPr>
          <a:xfrm>
            <a:off x="955053" y="1417160"/>
            <a:ext cx="10902473" cy="320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Construindo o conceito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 Conduza os slides seguindo a sequência: código concentrando responsabilidades, separação em funções, reaproveitamento da lógica, encadeamento dos resultados e, por fim, diferentes destinos para o resultado. No trecho sobre arquivo, destaque que ele aparece como uma segunda saída do processamento, não como um novo conteúdo central da aula.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 minutos.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mantenha a turma acompanhando o código na tela. Evite transformar a seção em uma explicação expositiva longa. Faça perguntas curtas antes de revelar a organização seguinte e incentive os estudantes a comparar as duas formas de estruturar o mesmo processamento. No código das funções, não retome sintaxe básica de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def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, parâmetros ou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return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, a menos que surja uma dificuldade pontual. O objetivo é que os estudantes reconheçam essas estruturas e concentrem a atenção na responsabilidade de cada função.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no primeiro exemplo, peça que os estudantes identifiquem quantas tarefas diferentes estão misturadas no mesmo trecho: cálculo, classificação e exibição.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Ao apresentar a modularização, faça a comparação direta com o código anterior. Pergunte o que aconteceria se a faixa de desempenho mudasse. Conduza a turma para perceber que, com a classificação isolada, a alteração fica concentrada em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classificar_desempenho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Ao chegar ao reaproveitamento, mostre que a mesma função pode receber diferentes produtos sem duplicar a lógica. No encadeamento, destaque que o resultado de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calcular_media_vendas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passa para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classificar_desempenho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, e depois pode ser utilizado pela exibição.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No trecho de arquivo, retome a limitação da memória trabalhada anteriormente. Mostre que o programa já possui um resultado pronto e que o arquivo apenas oferece outro destino para esse resultado. Não avance para leitura do arquivo ou reconstrução da lista.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grpSp>
        <p:nvGrpSpPr>
          <p:cNvPr id="3330" name="Google Shape;3330;p311"/>
          <p:cNvGrpSpPr/>
          <p:nvPr/>
        </p:nvGrpSpPr>
        <p:grpSpPr>
          <a:xfrm>
            <a:off x="497841" y="1404329"/>
            <a:ext cx="386100" cy="382500"/>
            <a:chOff x="497841" y="1318604"/>
            <a:chExt cx="386100" cy="382500"/>
          </a:xfrm>
        </p:grpSpPr>
        <p:sp>
          <p:nvSpPr>
            <p:cNvPr id="3331" name="Google Shape;3331;p311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311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3" name="Google Shape;3333;p311"/>
          <p:cNvGrpSpPr/>
          <p:nvPr/>
        </p:nvGrpSpPr>
        <p:grpSpPr>
          <a:xfrm>
            <a:off x="497841" y="2479827"/>
            <a:ext cx="386100" cy="382500"/>
            <a:chOff x="497841" y="2265726"/>
            <a:chExt cx="386100" cy="382500"/>
          </a:xfrm>
        </p:grpSpPr>
        <p:sp>
          <p:nvSpPr>
            <p:cNvPr id="3334" name="Google Shape;3334;p311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311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6" name="Google Shape;3336;p311"/>
          <p:cNvGrpSpPr/>
          <p:nvPr/>
        </p:nvGrpSpPr>
        <p:grpSpPr>
          <a:xfrm>
            <a:off x="497841" y="1949751"/>
            <a:ext cx="386100" cy="382500"/>
            <a:chOff x="497841" y="1802325"/>
            <a:chExt cx="386100" cy="382500"/>
          </a:xfrm>
        </p:grpSpPr>
        <p:sp>
          <p:nvSpPr>
            <p:cNvPr id="3337" name="Google Shape;3337;p311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8" name="Google Shape;3338;p3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39" name="Google Shape;3339;p311"/>
          <p:cNvGrpSpPr/>
          <p:nvPr/>
        </p:nvGrpSpPr>
        <p:grpSpPr>
          <a:xfrm>
            <a:off x="497841" y="3229393"/>
            <a:ext cx="386100" cy="382500"/>
            <a:chOff x="497841" y="3037886"/>
            <a:chExt cx="386100" cy="382500"/>
          </a:xfrm>
        </p:grpSpPr>
        <p:sp>
          <p:nvSpPr>
            <p:cNvPr id="3329" name="Google Shape;3329;p311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0" name="Google Shape;3340;p311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6" name="Google Shape;3346;p312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3328;p311">
            <a:extLst>
              <a:ext uri="{FF2B5EF4-FFF2-40B4-BE49-F238E27FC236}">
                <a16:creationId xmlns:a16="http://schemas.microsoft.com/office/drawing/2014/main" id="{505577A0-2107-E5A0-5413-E70C81FD5CBE}"/>
              </a:ext>
            </a:extLst>
          </p:cNvPr>
          <p:cNvCxnSpPr>
            <a:cxnSpLocks/>
          </p:cNvCxnSpPr>
          <p:nvPr/>
        </p:nvCxnSpPr>
        <p:spPr>
          <a:xfrm flipV="1">
            <a:off x="683554" y="981075"/>
            <a:ext cx="0" cy="217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47" name="Google Shape;3347;p312"/>
          <p:cNvSpPr txBox="1"/>
          <p:nvPr/>
        </p:nvSpPr>
        <p:spPr>
          <a:xfrm>
            <a:off x="944138" y="795752"/>
            <a:ext cx="671068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 e 10</a:t>
            </a:r>
            <a:endParaRPr dirty="0"/>
          </a:p>
        </p:txBody>
      </p:sp>
      <p:sp>
        <p:nvSpPr>
          <p:cNvPr id="5" name="Google Shape;3647;p338">
            <a:extLst>
              <a:ext uri="{FF2B5EF4-FFF2-40B4-BE49-F238E27FC236}">
                <a16:creationId xmlns:a16="http://schemas.microsoft.com/office/drawing/2014/main" id="{17ACD343-D1C1-9A3B-8B41-2F3566D38C9A}"/>
              </a:ext>
            </a:extLst>
          </p:cNvPr>
          <p:cNvSpPr txBox="1"/>
          <p:nvPr/>
        </p:nvSpPr>
        <p:spPr>
          <a:xfrm>
            <a:off x="944138" y="1485153"/>
            <a:ext cx="11018400" cy="13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spcAft>
                <a:spcPts val="600"/>
              </a:spcAft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 minutos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Resposta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 parte que compara média com faixas de desempenho. 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 da atividade: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modularizar concentra cada responsabilidade em um lugar. Mudar as faixas altera só a classificação. O cálculo da média e a exibição do resultado continuam iguais.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oogle Shape;3653;p338">
            <a:extLst>
              <a:ext uri="{FF2B5EF4-FFF2-40B4-BE49-F238E27FC236}">
                <a16:creationId xmlns:a16="http://schemas.microsoft.com/office/drawing/2014/main" id="{6DA37099-2154-DD83-66DE-D4A81A225AEB}"/>
              </a:ext>
            </a:extLst>
          </p:cNvPr>
          <p:cNvGrpSpPr/>
          <p:nvPr/>
        </p:nvGrpSpPr>
        <p:grpSpPr>
          <a:xfrm>
            <a:off x="488316" y="2346191"/>
            <a:ext cx="386100" cy="382500"/>
            <a:chOff x="497841" y="3801694"/>
            <a:chExt cx="386100" cy="382500"/>
          </a:xfrm>
        </p:grpSpPr>
        <p:sp>
          <p:nvSpPr>
            <p:cNvPr id="10" name="Google Shape;3654;p338">
              <a:extLst>
                <a:ext uri="{FF2B5EF4-FFF2-40B4-BE49-F238E27FC236}">
                  <a16:creationId xmlns:a16="http://schemas.microsoft.com/office/drawing/2014/main" id="{46E72E66-0E8D-23DC-1186-8C163EAAD102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3649;p338">
              <a:extLst>
                <a:ext uri="{FF2B5EF4-FFF2-40B4-BE49-F238E27FC236}">
                  <a16:creationId xmlns:a16="http://schemas.microsoft.com/office/drawing/2014/main" id="{F8807380-2DB0-1D9F-79AA-113E9DAEB223}"/>
                </a:ext>
              </a:extLst>
            </p:cNvPr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3655;p338">
            <a:extLst>
              <a:ext uri="{FF2B5EF4-FFF2-40B4-BE49-F238E27FC236}">
                <a16:creationId xmlns:a16="http://schemas.microsoft.com/office/drawing/2014/main" id="{A8A09AF5-1406-0C79-AE6C-096BB21AA263}"/>
              </a:ext>
            </a:extLst>
          </p:cNvPr>
          <p:cNvGrpSpPr/>
          <p:nvPr/>
        </p:nvGrpSpPr>
        <p:grpSpPr>
          <a:xfrm>
            <a:off x="488316" y="1823197"/>
            <a:ext cx="386100" cy="382500"/>
            <a:chOff x="497841" y="1802325"/>
            <a:chExt cx="386100" cy="382500"/>
          </a:xfrm>
        </p:grpSpPr>
        <p:sp>
          <p:nvSpPr>
            <p:cNvPr id="13" name="Google Shape;3656;p338">
              <a:extLst>
                <a:ext uri="{FF2B5EF4-FFF2-40B4-BE49-F238E27FC236}">
                  <a16:creationId xmlns:a16="http://schemas.microsoft.com/office/drawing/2014/main" id="{06557642-E48F-E552-190D-65E1E53F4DC7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3657;p338">
              <a:extLst>
                <a:ext uri="{FF2B5EF4-FFF2-40B4-BE49-F238E27FC236}">
                  <a16:creationId xmlns:a16="http://schemas.microsoft.com/office/drawing/2014/main" id="{8F627492-3BA4-1B4B-1CA2-D47767102D9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oogle Shape;3330;p311">
            <a:extLst>
              <a:ext uri="{FF2B5EF4-FFF2-40B4-BE49-F238E27FC236}">
                <a16:creationId xmlns:a16="http://schemas.microsoft.com/office/drawing/2014/main" id="{48EC0019-9135-D2C9-AD1E-5E2AA6C6135B}"/>
              </a:ext>
            </a:extLst>
          </p:cNvPr>
          <p:cNvGrpSpPr/>
          <p:nvPr/>
        </p:nvGrpSpPr>
        <p:grpSpPr>
          <a:xfrm>
            <a:off x="497841" y="1404329"/>
            <a:ext cx="386100" cy="382500"/>
            <a:chOff x="497841" y="1318604"/>
            <a:chExt cx="386100" cy="382500"/>
          </a:xfrm>
        </p:grpSpPr>
        <p:sp>
          <p:nvSpPr>
            <p:cNvPr id="16" name="Google Shape;3331;p311">
              <a:extLst>
                <a:ext uri="{FF2B5EF4-FFF2-40B4-BE49-F238E27FC236}">
                  <a16:creationId xmlns:a16="http://schemas.microsoft.com/office/drawing/2014/main" id="{939C1B60-BEC8-5B1B-CBEB-6DC5123D2958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332;p311">
              <a:extLst>
                <a:ext uri="{FF2B5EF4-FFF2-40B4-BE49-F238E27FC236}">
                  <a16:creationId xmlns:a16="http://schemas.microsoft.com/office/drawing/2014/main" id="{40232492-E9CE-0FF5-7E5C-525C56012A80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313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3328;p311">
            <a:extLst>
              <a:ext uri="{FF2B5EF4-FFF2-40B4-BE49-F238E27FC236}">
                <a16:creationId xmlns:a16="http://schemas.microsoft.com/office/drawing/2014/main" id="{BC2978F3-6D4E-AAE6-2581-5E4C87CB6520}"/>
              </a:ext>
            </a:extLst>
          </p:cNvPr>
          <p:cNvCxnSpPr>
            <a:cxnSpLocks/>
          </p:cNvCxnSpPr>
          <p:nvPr/>
        </p:nvCxnSpPr>
        <p:spPr>
          <a:xfrm flipV="1">
            <a:off x="683554" y="981075"/>
            <a:ext cx="0" cy="575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63" name="Google Shape;3363;p313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14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16</a:t>
            </a:r>
            <a:endParaRPr dirty="0"/>
          </a:p>
        </p:txBody>
      </p:sp>
      <p:sp>
        <p:nvSpPr>
          <p:cNvPr id="3364" name="Google Shape;3364;p313"/>
          <p:cNvSpPr txBox="1"/>
          <p:nvPr/>
        </p:nvSpPr>
        <p:spPr>
          <a:xfrm>
            <a:off x="955053" y="1343484"/>
            <a:ext cx="10854052" cy="537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 Organize os estudantes em duplas no computador e retome rapidamente que a atividade é uma continuação do sistema desenvolvido nas semanas anteriores. O objetivo é aplicar a organização apresentada nos slides: separar cálculo, classificação e exibição, reutilizar as funções e registrar o resultado em arquivo. A atividade deve ser conduzida como uma ampliação do código existente, e não como a criação de um novo programa. Oriente as duplas a preservar a estrutura que já possuem e acrescentar as novas rotinas conforme o enunciado.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25 minutos.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certifique-se de que cada dupla tenha acesso ao código trabalhado anteriormente. Circule pela sala verificando primeiro se as funções estão sendo implementadas separadamente e, depois, se o fluxo principal está utilizando essas funções. Evite resolver o código diretamente para os estudantes. Quando houver dificuldade, peça que identifiquem em qual etapa do fluxo o problema está: cálculo, classificação, exibição ou registro.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</a:t>
            </a:r>
            <a:endParaRPr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peça que as duplas retomem a lista vendas fornecida no enunciado;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oriente a implementação ou complementação de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calcular_media_vendas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solicite que testem a função com o Caderno e confirmem a média esperada de 10.0;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em seguida, peça que utilizem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classificar_desempenho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para transformar a média em uma categoria;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oriente a chamada de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exibir_resultado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, verificando que a tela recebe o mesmo resultado produzido pelas funções;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por último, apresente o registro em desempenho.txt como outro destino para o mesmo resultado;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1800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AutoNum type="arabicPeriod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ao final, peça que as duplas expliquem o que mudou entre exibir na tela e registrar no arquivo e o que permaneceu igual.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disponível nos slides do professor. Espera-se que os estudantes obtenham para o produto Caderno: média: 10.0; desempenho: médio; registro no arquivo: Caderno;10.0;Médio. A solução deve manter separadas as responsabilidades de cálculo, classificação, exibição e registro. O estudante deve perceber que tela e arquivo recebem o mesmo resultado já processado, sem necessidade de recalcular ou classificar novamente.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Respostas mais alinhadas à proposta da atividade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separa cálculo, classificação e exibição;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usa as funções no fluxo principal;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vê que tela e arquivo usam o mesmo resultado;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entende que mudar faixas altera só </a:t>
            </a:r>
            <a:r>
              <a:rPr lang="pt-BR" sz="1000" dirty="0" err="1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classificar_desempenho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Respostas menos alinhadas à proposta da atividade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mistura tudo de novo em um único bloco;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confunde cálculo com classificação;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trata o arquivo como se recalculasse a média.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</p:txBody>
      </p:sp>
      <p:grpSp>
        <p:nvGrpSpPr>
          <p:cNvPr id="3367" name="Google Shape;3367;p313"/>
          <p:cNvGrpSpPr/>
          <p:nvPr/>
        </p:nvGrpSpPr>
        <p:grpSpPr>
          <a:xfrm>
            <a:off x="497841" y="1337654"/>
            <a:ext cx="386100" cy="382500"/>
            <a:chOff x="497841" y="1318604"/>
            <a:chExt cx="386100" cy="382500"/>
          </a:xfrm>
        </p:grpSpPr>
        <p:sp>
          <p:nvSpPr>
            <p:cNvPr id="3368" name="Google Shape;3368;p313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313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0" name="Google Shape;3370;p313"/>
          <p:cNvGrpSpPr/>
          <p:nvPr/>
        </p:nvGrpSpPr>
        <p:grpSpPr>
          <a:xfrm>
            <a:off x="497841" y="2479827"/>
            <a:ext cx="386100" cy="382500"/>
            <a:chOff x="497841" y="2265726"/>
            <a:chExt cx="386100" cy="382500"/>
          </a:xfrm>
        </p:grpSpPr>
        <p:sp>
          <p:nvSpPr>
            <p:cNvPr id="3371" name="Google Shape;3371;p313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313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3" name="Google Shape;3373;p313"/>
          <p:cNvGrpSpPr/>
          <p:nvPr/>
        </p:nvGrpSpPr>
        <p:grpSpPr>
          <a:xfrm>
            <a:off x="497841" y="4426007"/>
            <a:ext cx="386100" cy="382500"/>
            <a:chOff x="497841" y="3801694"/>
            <a:chExt cx="386100" cy="382500"/>
          </a:xfrm>
        </p:grpSpPr>
        <p:sp>
          <p:nvSpPr>
            <p:cNvPr id="3374" name="Google Shape;3374;p313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6" name="Google Shape;3366;p31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5" name="Google Shape;3375;p313"/>
          <p:cNvGrpSpPr/>
          <p:nvPr/>
        </p:nvGrpSpPr>
        <p:grpSpPr>
          <a:xfrm>
            <a:off x="497841" y="2016426"/>
            <a:ext cx="386100" cy="382500"/>
            <a:chOff x="497841" y="1802325"/>
            <a:chExt cx="386100" cy="382500"/>
          </a:xfrm>
        </p:grpSpPr>
        <p:sp>
          <p:nvSpPr>
            <p:cNvPr id="3376" name="Google Shape;3376;p313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7" name="Google Shape;3377;p3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8" name="Google Shape;3378;p313"/>
          <p:cNvGrpSpPr/>
          <p:nvPr/>
        </p:nvGrpSpPr>
        <p:grpSpPr>
          <a:xfrm>
            <a:off x="497841" y="3029368"/>
            <a:ext cx="386100" cy="382500"/>
            <a:chOff x="497841" y="3037886"/>
            <a:chExt cx="386100" cy="382500"/>
          </a:xfrm>
        </p:grpSpPr>
        <p:sp>
          <p:nvSpPr>
            <p:cNvPr id="3379" name="Google Shape;3379;p313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80" name="Google Shape;3380;p313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381327C-9063-1B78-C23F-88A723E2EA52}"/>
              </a:ext>
            </a:extLst>
          </p:cNvPr>
          <p:cNvSpPr/>
          <p:nvPr/>
        </p:nvSpPr>
        <p:spPr>
          <a:xfrm>
            <a:off x="0" y="4935683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BB6DDC3D-9D9B-6EFA-AD41-616BC3D2D776}"/>
              </a:ext>
            </a:extLst>
          </p:cNvPr>
          <p:cNvSpPr/>
          <p:nvPr/>
        </p:nvSpPr>
        <p:spPr>
          <a:xfrm>
            <a:off x="0" y="7811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B78F11A6-9635-D2D7-289D-5C1876EEC0F1}"/>
              </a:ext>
            </a:extLst>
          </p:cNvPr>
          <p:cNvCxnSpPr>
            <a:cxnSpLocks/>
          </p:cNvCxnSpPr>
          <p:nvPr/>
        </p:nvCxnSpPr>
        <p:spPr>
          <a:xfrm flipV="1">
            <a:off x="683554" y="5221184"/>
            <a:ext cx="0" cy="143069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3BC0A23B-3468-9220-0551-50506B215100}"/>
              </a:ext>
            </a:extLst>
          </p:cNvPr>
          <p:cNvCxnSpPr>
            <a:cxnSpLocks/>
          </p:cNvCxnSpPr>
          <p:nvPr/>
        </p:nvCxnSpPr>
        <p:spPr>
          <a:xfrm flipV="1">
            <a:off x="683554" y="1000233"/>
            <a:ext cx="0" cy="3590817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F5934-41A9-0D0B-AE9F-AF183D8BF2F9}"/>
              </a:ext>
            </a:extLst>
          </p:cNvPr>
          <p:cNvSpPr txBox="1"/>
          <p:nvPr/>
        </p:nvSpPr>
        <p:spPr>
          <a:xfrm>
            <a:off x="970280" y="7774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17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41EAB43-31FA-BED1-AE78-2FF4DECFA043}"/>
              </a:ext>
            </a:extLst>
          </p:cNvPr>
          <p:cNvSpPr/>
          <p:nvPr/>
        </p:nvSpPr>
        <p:spPr>
          <a:xfrm>
            <a:off x="497841" y="398878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CC42260-0044-E9A3-B64D-FEF4F7AC62A3}"/>
              </a:ext>
            </a:extLst>
          </p:cNvPr>
          <p:cNvSpPr/>
          <p:nvPr/>
        </p:nvSpPr>
        <p:spPr>
          <a:xfrm>
            <a:off x="497841" y="3053895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38F29F4C-04EE-3769-1762-3AF343C2F1F8}"/>
              </a:ext>
            </a:extLst>
          </p:cNvPr>
          <p:cNvSpPr/>
          <p:nvPr/>
        </p:nvSpPr>
        <p:spPr>
          <a:xfrm>
            <a:off x="497841" y="2338626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234458F-697B-C034-9F26-ADB149FD56A9}"/>
              </a:ext>
            </a:extLst>
          </p:cNvPr>
          <p:cNvSpPr/>
          <p:nvPr/>
        </p:nvSpPr>
        <p:spPr>
          <a:xfrm>
            <a:off x="497841" y="1823882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837F79DC-D1DC-B322-94B0-BC032BADF6B1}"/>
              </a:ext>
            </a:extLst>
          </p:cNvPr>
          <p:cNvSpPr/>
          <p:nvPr/>
        </p:nvSpPr>
        <p:spPr>
          <a:xfrm>
            <a:off x="497841" y="13974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484EDDCA-80D8-2480-5EB8-D849912F9AF3}"/>
              </a:ext>
            </a:extLst>
          </p:cNvPr>
          <p:cNvSpPr/>
          <p:nvPr/>
        </p:nvSpPr>
        <p:spPr>
          <a:xfrm>
            <a:off x="569897" y="14959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11D7D6-5E56-ED1B-6F38-E722D9E8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865" y="1920001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91AB36CE-0A6D-1F84-F6B5-2D946F824E5D}"/>
              </a:ext>
            </a:extLst>
          </p:cNvPr>
          <p:cNvSpPr>
            <a:spLocks/>
          </p:cNvSpPr>
          <p:nvPr/>
        </p:nvSpPr>
        <p:spPr>
          <a:xfrm>
            <a:off x="566852" y="2417056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3945891-767A-7B18-9B49-EE263D0A4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06" y="3124350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EEE966C-613A-37E6-B5AE-5110F1AD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782" y="4042909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A98B4930-1249-FA4C-31DB-16D940173436}"/>
              </a:ext>
            </a:extLst>
          </p:cNvPr>
          <p:cNvSpPr txBox="1"/>
          <p:nvPr/>
        </p:nvSpPr>
        <p:spPr>
          <a:xfrm>
            <a:off x="970280" y="1450675"/>
            <a:ext cx="10876724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que nós aprendemos hoje?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mantenha um tom positivo e construtivo, reforçando o aprendizado;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seja direto e objetivo nas explicações para manter a atividade dentro do tempo estipulado;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explique aos estudantes que esse é um momento de reflexão e esclarecimento sobre os conceitos abordados na aula;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informe que será feita uma rápida revisão para assegurar o entendimento correto das definições e dos conceitos;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marL="17145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apresente o slide com os principais tópicos da aula. Retome rapidamente os conceitos representados no esquema, reiterando a importância de cada um deles e como ele se encaixa no contexto maior da aula e na vida profissional.</a:t>
            </a:r>
            <a:endParaRPr lang="pt-BR" sz="1000" dirty="0"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lvl="0">
              <a:buSzPts val="1000"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que é esperado: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50B90C59-80FA-4DFF-1081-58AD1D39FD12}"/>
              </a:ext>
            </a:extLst>
          </p:cNvPr>
          <p:cNvSpPr/>
          <p:nvPr/>
        </p:nvSpPr>
        <p:spPr>
          <a:xfrm>
            <a:off x="492761" y="551149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DAC304E4-8E47-6E4A-51C7-ACB1B0EA7716}"/>
              </a:ext>
            </a:extLst>
          </p:cNvPr>
          <p:cNvSpPr txBox="1"/>
          <p:nvPr/>
        </p:nvSpPr>
        <p:spPr>
          <a:xfrm>
            <a:off x="970280" y="4954337"/>
            <a:ext cx="5923280" cy="38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18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E74E219A-D0B7-71DD-AA7B-DE3C308C88AC}"/>
              </a:ext>
            </a:extLst>
          </p:cNvPr>
          <p:cNvSpPr/>
          <p:nvPr/>
        </p:nvSpPr>
        <p:spPr>
          <a:xfrm>
            <a:off x="492761" y="6081684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3EFFD2EE-286B-7C77-E9A8-2546EB1E7BC9}"/>
              </a:ext>
            </a:extLst>
          </p:cNvPr>
          <p:cNvSpPr/>
          <p:nvPr/>
        </p:nvSpPr>
        <p:spPr>
          <a:xfrm>
            <a:off x="569898" y="5615358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53990472-B02D-1C1C-4F0D-0C70090F2A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578" y="6169788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428610CB-B104-ADAE-6166-BED06F6D3AE4}"/>
              </a:ext>
            </a:extLst>
          </p:cNvPr>
          <p:cNvSpPr txBox="1"/>
          <p:nvPr/>
        </p:nvSpPr>
        <p:spPr>
          <a:xfrm>
            <a:off x="970280" y="5567711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>
                <a:latin typeface="Poppins" panose="00000500000000000000" pitchFamily="2" charset="0"/>
                <a:cs typeface="Poppins" panose="00000500000000000000" pitchFamily="2" charset="0"/>
              </a:rPr>
              <a:t>Saiba mais </a:t>
            </a:r>
            <a:r>
              <a:rPr lang="pt-BR" sz="1000">
                <a:latin typeface="Poppins" panose="00000500000000000000" pitchFamily="2" charset="0"/>
                <a:cs typeface="Poppins" panose="00000500000000000000" pitchFamily="2" charset="0"/>
              </a:rPr>
              <a:t>apresenta recursos extraclasse para que os estudantes complementem sua formação. Incentive-os a continuarem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1</a:t>
            </a:r>
            <a:r>
              <a:rPr lang="pt-BR" sz="10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minuto.</a:t>
            </a:r>
            <a:endParaRPr sz="1000" b="1" i="0" u="none" strike="noStrike" cap="none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2785</Words>
  <Application>Microsoft Office PowerPoint</Application>
  <PresentationFormat>Ecrã Panorâmico</PresentationFormat>
  <Paragraphs>292</Paragraphs>
  <Slides>25</Slides>
  <Notes>25</Notes>
  <HiddenSlides>7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25</vt:i4>
      </vt:variant>
    </vt:vector>
  </HeadingPairs>
  <TitlesOfParts>
    <vt:vector size="33" baseType="lpstr">
      <vt:lpstr>Poppins</vt:lpstr>
      <vt:lpstr>Arial</vt:lpstr>
      <vt:lpstr>Poppins Medium</vt:lpstr>
      <vt:lpstr>Calibri</vt:lpstr>
      <vt:lpstr>Poppins Light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286</cp:revision>
  <dcterms:modified xsi:type="dcterms:W3CDTF">2026-08-28T18:37:42Z</dcterms:modified>
</cp:coreProperties>
</file>