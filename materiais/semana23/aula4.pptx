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2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17"/>
  </p:notesMasterIdLst>
  <p:sldIdLst>
    <p:sldId id="324" r:id="rId4"/>
    <p:sldId id="325" r:id="rId5"/>
    <p:sldId id="631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627" r:id="rId15"/>
    <p:sldId id="336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4" id="{3946BE9C-4128-4CA9-A387-E30700D870EA}">
          <p14:sldIdLst>
            <p14:sldId id="324"/>
            <p14:sldId id="325"/>
            <p14:sldId id="631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627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07A45E-4514-CAE5-3C40-E2CD3DAFA70C}" name="Isabel Cruz do amaral Pupo" initials="IC" userId="S::isabel_pupo@vanzolini-ead.org.br::8f4c32d8-231f-4630-ae3e-1dca2f05616d" providerId="AD"/>
  <p188:author id="{5609E583-6F6E-D26E-3483-A990B1ED9307}" name="Alice Girodo Elias" initials="AE" userId="S::alice_elias@vanzolini-ead.org.br::83a86b8d-5fdd-48ae-8c3d-d7029cde8382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8117E4-6555-4A4F-B310-87134BD24971}">
  <a:tblStyle styleId="{F98117E4-6555-4A4F-B310-87134BD249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7" autoAdjust="0"/>
    <p:restoredTop sz="87400" autoAdjust="0"/>
  </p:normalViewPr>
  <p:slideViewPr>
    <p:cSldViewPr snapToGrid="0">
      <p:cViewPr varScale="1">
        <p:scale>
          <a:sx n="93" d="100"/>
          <a:sy n="93" d="100"/>
        </p:scale>
        <p:origin x="1332" y="84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3f6172b20c7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9" name="Google Shape;3659;g3f6172b20c7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		</a:t>
            </a:r>
            <a:endParaRPr dirty="0"/>
          </a:p>
        </p:txBody>
      </p:sp>
      <p:sp>
        <p:nvSpPr>
          <p:cNvPr id="3660" name="Google Shape;3660;g3f6172b20c7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g3f6172b20c7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4" name="Google Shape;3664;g3f6172b20c7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6447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g3f6172b20c7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4" name="Google Shape;3714;g3f6172b20c7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g3f6172b20c7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3" name="Google Shape;3733;g3f6172b20c7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1" name="Google Shape;3741;g3f6172b20c7_0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2" name="Google Shape;3742;g3f6172b20c7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0" name="Google Shape;3760;g3f6172b20c7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761" name="Google Shape;3761;g3f6172b20c7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6" name="Google Shape;3766;g3f6172b20c7_0_2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7" name="Google Shape;3767;g3f6172b20c7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2" name="Google Shape;3772;g3f6172b20c7_0_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3" name="Google Shape;3773;g3f6172b20c7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3f6172b20c7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9" name="Google Shape;3779;g3f6172b20c7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780" name="Google Shape;3780;g3f6172b20c7_0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g3f6172b20c7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4" name="Google Shape;3784;g3f6172b20c7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785" name="Google Shape;3785;g3f6172b20c7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9" name="Google Shape;3839;g3f6172b20c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0" name="Google Shape;3840;g3f6172b20c7_0_3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841" name="Google Shape;3841;g3f6172b20c7_0_3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emf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png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5.png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89241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07641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2225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83038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215300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94286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0134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81F6492-8EEB-0600-442F-CD495FC8F3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5.xml"/><Relationship Id="rId55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56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slideLayout" Target="../slideLayouts/slideLayout107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37.xml"/><Relationship Id="rId21" Type="http://schemas.openxmlformats.org/officeDocument/2006/relationships/slideLayout" Target="../slideLayouts/slideLayout132.xml"/><Relationship Id="rId42" Type="http://schemas.openxmlformats.org/officeDocument/2006/relationships/slideLayout" Target="../slideLayouts/slideLayout153.xml"/><Relationship Id="rId47" Type="http://schemas.openxmlformats.org/officeDocument/2006/relationships/slideLayout" Target="../slideLayouts/slideLayout158.xml"/><Relationship Id="rId63" Type="http://schemas.openxmlformats.org/officeDocument/2006/relationships/slideLayout" Target="../slideLayouts/slideLayout174.xml"/><Relationship Id="rId68" Type="http://schemas.openxmlformats.org/officeDocument/2006/relationships/slideLayout" Target="../slideLayouts/slideLayout179.xml"/><Relationship Id="rId1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22.xml"/><Relationship Id="rId32" Type="http://schemas.openxmlformats.org/officeDocument/2006/relationships/slideLayout" Target="../slideLayouts/slideLayout143.xml"/><Relationship Id="rId37" Type="http://schemas.openxmlformats.org/officeDocument/2006/relationships/slideLayout" Target="../slideLayouts/slideLayout148.xml"/><Relationship Id="rId53" Type="http://schemas.openxmlformats.org/officeDocument/2006/relationships/slideLayout" Target="../slideLayouts/slideLayout164.xml"/><Relationship Id="rId58" Type="http://schemas.openxmlformats.org/officeDocument/2006/relationships/slideLayout" Target="../slideLayouts/slideLayout169.xml"/><Relationship Id="rId74" Type="http://schemas.openxmlformats.org/officeDocument/2006/relationships/slideLayout" Target="../slideLayouts/slideLayout185.xml"/><Relationship Id="rId79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16.xml"/><Relationship Id="rId61" Type="http://schemas.openxmlformats.org/officeDocument/2006/relationships/slideLayout" Target="../slideLayouts/slideLayout172.xml"/><Relationship Id="rId82" Type="http://schemas.openxmlformats.org/officeDocument/2006/relationships/theme" Target="../theme/theme3.xml"/><Relationship Id="rId1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33.xml"/><Relationship Id="rId27" Type="http://schemas.openxmlformats.org/officeDocument/2006/relationships/slideLayout" Target="../slideLayouts/slideLayout138.xml"/><Relationship Id="rId30" Type="http://schemas.openxmlformats.org/officeDocument/2006/relationships/slideLayout" Target="../slideLayouts/slideLayout141.xml"/><Relationship Id="rId35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54.xml"/><Relationship Id="rId48" Type="http://schemas.openxmlformats.org/officeDocument/2006/relationships/slideLayout" Target="../slideLayouts/slideLayout159.xml"/><Relationship Id="rId56" Type="http://schemas.openxmlformats.org/officeDocument/2006/relationships/slideLayout" Target="../slideLayouts/slideLayout167.xml"/><Relationship Id="rId64" Type="http://schemas.openxmlformats.org/officeDocument/2006/relationships/slideLayout" Target="../slideLayouts/slideLayout175.xml"/><Relationship Id="rId69" Type="http://schemas.openxmlformats.org/officeDocument/2006/relationships/slideLayout" Target="../slideLayouts/slideLayout180.xml"/><Relationship Id="rId77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19.xml"/><Relationship Id="rId51" Type="http://schemas.openxmlformats.org/officeDocument/2006/relationships/slideLayout" Target="../slideLayouts/slideLayout162.xml"/><Relationship Id="rId72" Type="http://schemas.openxmlformats.org/officeDocument/2006/relationships/slideLayout" Target="../slideLayouts/slideLayout183.xml"/><Relationship Id="rId80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44.xml"/><Relationship Id="rId38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7.xml"/><Relationship Id="rId59" Type="http://schemas.openxmlformats.org/officeDocument/2006/relationships/slideLayout" Target="../slideLayouts/slideLayout170.xml"/><Relationship Id="rId67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31.xml"/><Relationship Id="rId41" Type="http://schemas.openxmlformats.org/officeDocument/2006/relationships/slideLayout" Target="../slideLayouts/slideLayout152.xml"/><Relationship Id="rId54" Type="http://schemas.openxmlformats.org/officeDocument/2006/relationships/slideLayout" Target="../slideLayouts/slideLayout165.xml"/><Relationship Id="rId62" Type="http://schemas.openxmlformats.org/officeDocument/2006/relationships/slideLayout" Target="../slideLayouts/slideLayout173.xml"/><Relationship Id="rId70" Type="http://schemas.openxmlformats.org/officeDocument/2006/relationships/slideLayout" Target="../slideLayouts/slideLayout181.xml"/><Relationship Id="rId75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34.xml"/><Relationship Id="rId28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7.xml"/><Relationship Id="rId49" Type="http://schemas.openxmlformats.org/officeDocument/2006/relationships/slideLayout" Target="../slideLayouts/slideLayout160.xml"/><Relationship Id="rId57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21.xml"/><Relationship Id="rId31" Type="http://schemas.openxmlformats.org/officeDocument/2006/relationships/slideLayout" Target="../slideLayouts/slideLayout142.xml"/><Relationship Id="rId44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63.xml"/><Relationship Id="rId60" Type="http://schemas.openxmlformats.org/officeDocument/2006/relationships/slideLayout" Target="../slideLayouts/slideLayout171.xml"/><Relationship Id="rId65" Type="http://schemas.openxmlformats.org/officeDocument/2006/relationships/slideLayout" Target="../slideLayouts/slideLayout176.xml"/><Relationship Id="rId73" Type="http://schemas.openxmlformats.org/officeDocument/2006/relationships/slideLayout" Target="../slideLayouts/slideLayout184.xml"/><Relationship Id="rId78" Type="http://schemas.openxmlformats.org/officeDocument/2006/relationships/slideLayout" Target="../slideLayouts/slideLayout189.xml"/><Relationship Id="rId81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39" Type="http://schemas.openxmlformats.org/officeDocument/2006/relationships/slideLayout" Target="../slideLayouts/slideLayout150.xml"/><Relationship Id="rId34" Type="http://schemas.openxmlformats.org/officeDocument/2006/relationships/slideLayout" Target="../slideLayouts/slideLayout145.xml"/><Relationship Id="rId50" Type="http://schemas.openxmlformats.org/officeDocument/2006/relationships/slideLayout" Target="../slideLayouts/slideLayout161.xml"/><Relationship Id="rId55" Type="http://schemas.openxmlformats.org/officeDocument/2006/relationships/slideLayout" Target="../slideLayouts/slideLayout166.xml"/><Relationship Id="rId76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18.xml"/><Relationship Id="rId71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35.xml"/><Relationship Id="rId40" Type="http://schemas.openxmlformats.org/officeDocument/2006/relationships/slideLayout" Target="../slideLayouts/slideLayout151.xml"/><Relationship Id="rId45" Type="http://schemas.openxmlformats.org/officeDocument/2006/relationships/slideLayout" Target="../slideLayouts/slideLayout156.xml"/><Relationship Id="rId66" Type="http://schemas.openxmlformats.org/officeDocument/2006/relationships/slideLayout" Target="../slideLayouts/slideLayout1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  <p:sldLayoutId id="2147483853" r:id="rId29"/>
    <p:sldLayoutId id="2147483854" r:id="rId30"/>
    <p:sldLayoutId id="2147483855" r:id="rId31"/>
    <p:sldLayoutId id="2147483856" r:id="rId32"/>
    <p:sldLayoutId id="2147483857" r:id="rId33"/>
    <p:sldLayoutId id="2147483858" r:id="rId34"/>
    <p:sldLayoutId id="2147483859" r:id="rId35"/>
    <p:sldLayoutId id="2147483860" r:id="rId36"/>
    <p:sldLayoutId id="2147483861" r:id="rId37"/>
    <p:sldLayoutId id="2147483862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8" r:id="rId73"/>
    <p:sldLayoutId id="2147483899" r:id="rId74"/>
    <p:sldLayoutId id="2147483900" r:id="rId75"/>
    <p:sldLayoutId id="2147483901" r:id="rId76"/>
    <p:sldLayoutId id="2147483902" r:id="rId77"/>
    <p:sldLayoutId id="2147483903" r:id="rId78"/>
    <p:sldLayoutId id="2147483904" r:id="rId79"/>
    <p:sldLayoutId id="2147483905" r:id="rId80"/>
    <p:sldLayoutId id="2147483906" r:id="rId8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1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.14/howto/sorting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media.com.br/python-estrutura-de-repeticao-while/3854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Relationship Id="rId6" Type="http://schemas.openxmlformats.org/officeDocument/2006/relationships/hyperlink" Target="https://docs.python.org/pt-br/dev/howto/sorting.html" TargetMode="External"/><Relationship Id="rId5" Type="http://schemas.openxmlformats.org/officeDocument/2006/relationships/hyperlink" Target="https://docs.python.org/pt-br/3/tutorial/controlflow.html" TargetMode="External"/><Relationship Id="rId4" Type="http://schemas.openxmlformats.org/officeDocument/2006/relationships/hyperlink" Target="https://pythonacademy.com.br/blog/estruturas-de-repeticao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2.pn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333"/>
          <p:cNvSpPr txBox="1"/>
          <p:nvPr/>
        </p:nvSpPr>
        <p:spPr>
          <a:xfrm>
            <a:off x="832336" y="3585779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333"/>
          <p:cNvSpPr txBox="1"/>
          <p:nvPr/>
        </p:nvSpPr>
        <p:spPr>
          <a:xfrm>
            <a:off x="832336" y="289357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4: Ampliando com ranking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8205AF67-45ED-6919-5B6E-B737B5125CDC}"/>
              </a:ext>
            </a:extLst>
          </p:cNvPr>
          <p:cNvSpPr txBox="1"/>
          <p:nvPr/>
        </p:nvSpPr>
        <p:spPr>
          <a:xfrm>
            <a:off x="832336" y="207479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AA8137D8-FE60-97DF-E5CF-4A6D13671B05}"/>
              </a:ext>
            </a:extLst>
          </p:cNvPr>
          <p:cNvSpPr txBox="1"/>
          <p:nvPr/>
        </p:nvSpPr>
        <p:spPr>
          <a:xfrm>
            <a:off x="752923" y="1189780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1441465-D1C3-5838-A27A-FA1E90D78F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10FFF6-F888-B091-434D-C0B1344932FC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F66C290C-4D07-17AC-FD71-B15D8348B9A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F1C8068-D15B-249D-5925-9F222A7856E9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5A92E69E-15C6-669C-087E-A7151D78E31F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3BF9640-8C7D-11F7-AA76-6CF2F5DB221B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869D7D20-101A-087E-4612-26AD608E576E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A0DAA95C-4AFD-6C62-05CB-6EB59A061D47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D5802D08-CABD-EF65-F5F3-235C514BFC0E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F7E9FC2F-D8D1-C98C-1016-9177FFC2B626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A8222719-4DB7-5021-991B-3548693E2D6C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732BEBFC-A267-6FE6-F178-B64309539FC8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953CCAD9-B2CF-D719-975A-67DB96EF99D0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441EC511-D488-BD45-94B0-132885897A0D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4C6082D1-E037-03FF-F316-B57796A21477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678338C0-E8C6-FE66-A100-60BABB5F6B0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9B1386AB-6715-6674-786A-078C9575191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E168AA26-6573-6652-3A0B-0687D3F7FBCB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186336CD-C6A5-7914-E2B9-F2D953E19F35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4D10159-A660-5948-0C53-7DF0C5982A63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35361FE-B114-C1F5-EB7D-8C0BAB2015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621351B6-A56D-DF93-7413-0AE5549DC584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D04B5FE1-041C-F872-AEE9-432D09E5884C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15B77D35-97E3-8407-A70E-4562217BD345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C6847EA1-C8C6-3745-3CFF-6B6F39CFC295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965AB694-6BA4-78DE-93DC-53A624E91A2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D86EE152-FEDD-E818-D68B-C326D21ED8F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D5C6DA2D-D96B-1D7A-A549-999EBF9EE0DD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A92556FD-776A-C979-6A11-D7803BAA6011}"/>
              </a:ext>
            </a:extLst>
          </p:cNvPr>
          <p:cNvSpPr/>
          <p:nvPr/>
        </p:nvSpPr>
        <p:spPr>
          <a:xfrm>
            <a:off x="8032927" y="241899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DD91D90D-506C-9C69-4D69-D3568A16E33D}"/>
              </a:ext>
            </a:extLst>
          </p:cNvPr>
          <p:cNvCxnSpPr>
            <a:cxnSpLocks/>
            <a:stCxn id="30" idx="3"/>
            <a:endCxn id="17" idx="5"/>
          </p:cNvCxnSpPr>
          <p:nvPr/>
        </p:nvCxnSpPr>
        <p:spPr>
          <a:xfrm flipH="1">
            <a:off x="7661951" y="2876579"/>
            <a:ext cx="449485" cy="5445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43081A8E-CEB9-A4EF-4473-7448A6B06845}"/>
              </a:ext>
            </a:extLst>
          </p:cNvPr>
          <p:cNvSpPr txBox="1"/>
          <p:nvPr/>
        </p:nvSpPr>
        <p:spPr>
          <a:xfrm>
            <a:off x="9951605" y="4353148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B131BD08-5BCB-966F-89FD-50D2E009EAAE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65998" y="358277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23CB367E-B9FC-068E-A302-F5C1D84B982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0A5C1060-4914-BD39-6813-59CECAF2DA0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503A8081-45D3-ECC7-FCD5-2D53C29F2B3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6423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BA8AB0BB-CEF0-F514-EBDA-6761ABF9AC1A}"/>
              </a:ext>
            </a:extLst>
          </p:cNvPr>
          <p:cNvSpPr txBox="1"/>
          <p:nvPr/>
        </p:nvSpPr>
        <p:spPr>
          <a:xfrm>
            <a:off x="260174" y="3853307"/>
            <a:ext cx="2083089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/>
                <a:ea typeface="Poppins Light"/>
                <a:cs typeface="Poppins"/>
                <a:sym typeface="Poppins Light"/>
              </a:rPr>
              <a:t>Funções e procedimentos – modularização I</a:t>
            </a:r>
            <a:endParaRPr lang="pt-BR" sz="1700" dirty="0">
              <a:latin typeface="Poppins"/>
              <a:cs typeface="Poppins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65381A14-A427-1076-D6DD-FBF65B7A9742}"/>
              </a:ext>
            </a:extLst>
          </p:cNvPr>
          <p:cNvSpPr txBox="1"/>
          <p:nvPr/>
        </p:nvSpPr>
        <p:spPr>
          <a:xfrm>
            <a:off x="4108077" y="5836005"/>
            <a:ext cx="2432456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E0BA7294-C38A-4D39-88C1-22F873763396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1BD8E53D-4B67-26AB-F2CB-19504CE95577}"/>
              </a:ext>
            </a:extLst>
          </p:cNvPr>
          <p:cNvSpPr txBox="1"/>
          <p:nvPr/>
        </p:nvSpPr>
        <p:spPr>
          <a:xfrm>
            <a:off x="8610341" y="2345867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59BB7FC5-E4D9-B7CF-63EB-13FBA9D734C2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4565AF1A-24C1-6018-E8EC-94842C1F5596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2C82E4A7-B8F0-D021-06AA-5DB2B7B90909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0D18264-179E-F55E-A5CE-93443C4FC959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0CDCA7D0-FFEB-4D57-1615-7E70DAAC4F22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C01BC356-72C4-0262-1694-661A7F108F33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05D28DE0-B285-7252-D925-8783D9BF16F5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15738" y="552120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3610EC55-98EA-5A69-684B-77E5928D755B}"/>
              </a:ext>
            </a:extLst>
          </p:cNvPr>
          <p:cNvSpPr txBox="1"/>
          <p:nvPr/>
        </p:nvSpPr>
        <p:spPr>
          <a:xfrm>
            <a:off x="9951605" y="4635157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76C387CA-C83D-8C6C-8A26-1F116293472D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991E9F05-88F9-D6CC-A0AD-064675E6FDE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35155218-1BDA-0F40-6FED-2456CEB6DD88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BCE75480-4F01-B268-6099-DBC86F2139ED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0506B1A2-A058-3BA1-57D9-51A9E20369FC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648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6" name="Google Shape;3716;p335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717" name="Google Shape;3717;p335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335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9" name="Google Shape;3719;p335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0" name="Google Shape;3720;p335"/>
          <p:cNvSpPr txBox="1"/>
          <p:nvPr/>
        </p:nvSpPr>
        <p:spPr>
          <a:xfrm>
            <a:off x="3331829" y="5275122"/>
            <a:ext cx="4487700" cy="49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SISANO1C1B4S23A4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335"/>
          <p:cNvSpPr txBox="1"/>
          <p:nvPr/>
        </p:nvSpPr>
        <p:spPr>
          <a:xfrm>
            <a:off x="3331829" y="3260975"/>
            <a:ext cx="465807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5" name="Google Shape;3725;p335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6" name="Google Shape;3726;p335"/>
          <p:cNvSpPr txBox="1"/>
          <p:nvPr/>
        </p:nvSpPr>
        <p:spPr>
          <a:xfrm>
            <a:off x="3331829" y="4564950"/>
            <a:ext cx="56745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4: Ampliando com ranking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37F0358-B276-3D04-4E8B-E4DC969D587C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35751E96-2492-776A-CC34-BB315DBE48EE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F8F0F5C-8608-7165-5F0A-6FD3D37975A6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48956157-D3B3-88EB-FCB9-3B48BE1CF483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p336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Ampliar o mesmo programa para processar dados numéricos e apresentar ranking na tela.</a:t>
            </a:r>
            <a:endParaRPr dirty="0"/>
          </a:p>
        </p:txBody>
      </p:sp>
      <p:sp>
        <p:nvSpPr>
          <p:cNvPr id="3737" name="Google Shape;3737;p336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funções, vetores e condicionais compostas no desenvolvimento de programas que calculem e classifiquem resultados.</a:t>
            </a:r>
            <a:endParaRPr/>
          </a:p>
        </p:txBody>
      </p:sp>
      <p:sp>
        <p:nvSpPr>
          <p:cNvPr id="3738" name="Google Shape;3738;p336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Explorar com curiosidade diferentes formas de calcular e comparar resultados, investigando estratégias para organizar melhor as soluções.</a:t>
            </a:r>
            <a:endParaRPr/>
          </a:p>
        </p:txBody>
      </p:sp>
      <p:sp>
        <p:nvSpPr>
          <p:cNvPr id="3739" name="Google Shape;3739;p336"/>
          <p:cNvSpPr txBox="1">
            <a:spLocks noGrp="1"/>
          </p:cNvSpPr>
          <p:nvPr>
            <p:ph type="body" idx="4"/>
          </p:nvPr>
        </p:nvSpPr>
        <p:spPr>
          <a:xfrm>
            <a:off x="1467909" y="3398979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p337"/>
          <p:cNvSpPr txBox="1">
            <a:spLocks noGrp="1"/>
          </p:cNvSpPr>
          <p:nvPr>
            <p:ph type="body" idx="1"/>
          </p:nvPr>
        </p:nvSpPr>
        <p:spPr>
          <a:xfrm>
            <a:off x="2857900" y="394318"/>
            <a:ext cx="83454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Ampliando o sistema: ranking de desempenho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57" name="Google Shape;3757;p337"/>
          <p:cNvPicPr preferRelativeResize="0"/>
          <p:nvPr/>
        </p:nvPicPr>
        <p:blipFill>
          <a:blip r:embed="rId3"/>
          <a:srcRect/>
          <a:stretch/>
        </p:blipFill>
        <p:spPr>
          <a:xfrm>
            <a:off x="464298" y="5684445"/>
            <a:ext cx="309197" cy="2623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2;p61">
            <a:extLst>
              <a:ext uri="{FF2B5EF4-FFF2-40B4-BE49-F238E27FC236}">
                <a16:creationId xmlns:a16="http://schemas.microsoft.com/office/drawing/2014/main" id="{4A7FD92D-BA10-B5DF-7554-47D32FA6FBF4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1D91990-9CF5-7C1B-0460-D191AE8BE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4" name="Google Shape;833;p62">
            <a:extLst>
              <a:ext uri="{FF2B5EF4-FFF2-40B4-BE49-F238E27FC236}">
                <a16:creationId xmlns:a16="http://schemas.microsoft.com/office/drawing/2014/main" id="{C73CEA57-BBD6-6144-5DFF-06FDC7F3907C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7" name="Espaço Reservado para Texto 60">
            <a:extLst>
              <a:ext uri="{FF2B5EF4-FFF2-40B4-BE49-F238E27FC236}">
                <a16:creationId xmlns:a16="http://schemas.microsoft.com/office/drawing/2014/main" id="{B6FCAB40-C194-ADA8-108E-F9387D6FE791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8" name="Espaço Reservado para Texto 60">
            <a:extLst>
              <a:ext uri="{FF2B5EF4-FFF2-40B4-BE49-F238E27FC236}">
                <a16:creationId xmlns:a16="http://schemas.microsoft.com/office/drawing/2014/main" id="{BC5EACE8-6910-D3D5-85B4-AB90DE2CD91C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Durante a aula</a:t>
            </a:r>
          </a:p>
        </p:txBody>
      </p:sp>
      <p:sp>
        <p:nvSpPr>
          <p:cNvPr id="41" name="Google Shape;3796;p334">
            <a:extLst>
              <a:ext uri="{FF2B5EF4-FFF2-40B4-BE49-F238E27FC236}">
                <a16:creationId xmlns:a16="http://schemas.microsoft.com/office/drawing/2014/main" id="{F86AA1D3-5E39-2311-C417-C489C3082E9F}"/>
              </a:ext>
            </a:extLst>
          </p:cNvPr>
          <p:cNvSpPr txBox="1">
            <a:spLocks/>
          </p:cNvSpPr>
          <p:nvPr/>
        </p:nvSpPr>
        <p:spPr>
          <a:xfrm>
            <a:off x="845495" y="5675325"/>
            <a:ext cx="1813643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1100" b="1">
                <a:latin typeface="Poppins"/>
                <a:ea typeface="Poppins"/>
                <a:cs typeface="Poppins"/>
                <a:sym typeface="Poppins"/>
              </a:rPr>
              <a:t>Arquivo Python (.py)</a:t>
            </a:r>
          </a:p>
        </p:txBody>
      </p:sp>
      <p:sp>
        <p:nvSpPr>
          <p:cNvPr id="42" name="Google Shape;3505;p321">
            <a:extLst>
              <a:ext uri="{FF2B5EF4-FFF2-40B4-BE49-F238E27FC236}">
                <a16:creationId xmlns:a16="http://schemas.microsoft.com/office/drawing/2014/main" id="{D56978ED-8DA8-F5EA-4DF7-B329A462351E}"/>
              </a:ext>
            </a:extLst>
          </p:cNvPr>
          <p:cNvSpPr txBox="1"/>
          <p:nvPr/>
        </p:nvSpPr>
        <p:spPr>
          <a:xfrm>
            <a:off x="3238725" y="29684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Roteiro de atividade prática.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3506;p321">
            <a:extLst>
              <a:ext uri="{FF2B5EF4-FFF2-40B4-BE49-F238E27FC236}">
                <a16:creationId xmlns:a16="http://schemas.microsoft.com/office/drawing/2014/main" id="{0C55B869-8EA5-6593-ACE6-85DCA79F7E80}"/>
              </a:ext>
            </a:extLst>
          </p:cNvPr>
          <p:cNvSpPr txBox="1"/>
          <p:nvPr/>
        </p:nvSpPr>
        <p:spPr>
          <a:xfrm>
            <a:off x="7370800" y="2891100"/>
            <a:ext cx="3832500" cy="1231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Leiam o roteiro de atividade prática.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Sigam os passos propostos.</a:t>
            </a:r>
            <a:endParaRPr lang="pt-BR" dirty="0">
              <a:solidFill>
                <a:schemeClr val="dk1"/>
              </a:solidFill>
              <a:latin typeface="Poppins"/>
              <a:ea typeface="Poppins"/>
              <a:cs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finalizar, enviem individualmente o arquivo via AVA.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oogle Shape;474;p35">
            <a:extLst>
              <a:ext uri="{FF2B5EF4-FFF2-40B4-BE49-F238E27FC236}">
                <a16:creationId xmlns:a16="http://schemas.microsoft.com/office/drawing/2014/main" id="{2DAEDE49-DC4C-3BCE-2F49-46FB09BA8D16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6" name="Google Shape;475;p35">
              <a:extLst>
                <a:ext uri="{FF2B5EF4-FFF2-40B4-BE49-F238E27FC236}">
                  <a16:creationId xmlns:a16="http://schemas.microsoft.com/office/drawing/2014/main" id="{441F844B-7680-0A38-D3D8-9B41722907A8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476;p35">
              <a:extLst>
                <a:ext uri="{FF2B5EF4-FFF2-40B4-BE49-F238E27FC236}">
                  <a16:creationId xmlns:a16="http://schemas.microsoft.com/office/drawing/2014/main" id="{F19E5B72-02BA-C4C9-BB65-A83886E5690A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77;p35">
              <a:extLst>
                <a:ext uri="{FF2B5EF4-FFF2-40B4-BE49-F238E27FC236}">
                  <a16:creationId xmlns:a16="http://schemas.microsoft.com/office/drawing/2014/main" id="{F8A48FEB-8D2C-42DF-4004-32A798C09E00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78;p35">
              <a:extLst>
                <a:ext uri="{FF2B5EF4-FFF2-40B4-BE49-F238E27FC236}">
                  <a16:creationId xmlns:a16="http://schemas.microsoft.com/office/drawing/2014/main" id="{7008EADC-9375-5D49-D731-4F064C6253DB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79;p35">
              <a:extLst>
                <a:ext uri="{FF2B5EF4-FFF2-40B4-BE49-F238E27FC236}">
                  <a16:creationId xmlns:a16="http://schemas.microsoft.com/office/drawing/2014/main" id="{0220EB9A-2560-2C66-497B-37C70999C233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46" name="Google Shape;480;p35">
                <a:extLst>
                  <a:ext uri="{FF2B5EF4-FFF2-40B4-BE49-F238E27FC236}">
                    <a16:creationId xmlns:a16="http://schemas.microsoft.com/office/drawing/2014/main" id="{08DC8052-9999-6D43-EFAE-AD92B202FBD7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81;p35">
                <a:extLst>
                  <a:ext uri="{FF2B5EF4-FFF2-40B4-BE49-F238E27FC236}">
                    <a16:creationId xmlns:a16="http://schemas.microsoft.com/office/drawing/2014/main" id="{D25BE1D0-0891-68CF-9D00-82B40C6E3242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2;p35">
                <a:extLst>
                  <a:ext uri="{FF2B5EF4-FFF2-40B4-BE49-F238E27FC236}">
                    <a16:creationId xmlns:a16="http://schemas.microsoft.com/office/drawing/2014/main" id="{58FA47B5-D4FE-EF1E-3BBB-C4EA49BBBC2A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83;p35">
                <a:extLst>
                  <a:ext uri="{FF2B5EF4-FFF2-40B4-BE49-F238E27FC236}">
                    <a16:creationId xmlns:a16="http://schemas.microsoft.com/office/drawing/2014/main" id="{70DEDA92-9D8E-E021-9CBD-931348EEFA7F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484;p35">
                <a:extLst>
                  <a:ext uri="{FF2B5EF4-FFF2-40B4-BE49-F238E27FC236}">
                    <a16:creationId xmlns:a16="http://schemas.microsoft.com/office/drawing/2014/main" id="{2A22794D-574C-45AD-1D5B-1B7C85D4485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485;p35">
                <a:extLst>
                  <a:ext uri="{FF2B5EF4-FFF2-40B4-BE49-F238E27FC236}">
                    <a16:creationId xmlns:a16="http://schemas.microsoft.com/office/drawing/2014/main" id="{8ADD0E1F-8E68-81EA-0C80-BEEAA9886473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486;p35">
                <a:extLst>
                  <a:ext uri="{FF2B5EF4-FFF2-40B4-BE49-F238E27FC236}">
                    <a16:creationId xmlns:a16="http://schemas.microsoft.com/office/drawing/2014/main" id="{74B99D09-29FE-AEB6-3B00-B4A26A9B9CCF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487;p35">
                <a:extLst>
                  <a:ext uri="{FF2B5EF4-FFF2-40B4-BE49-F238E27FC236}">
                    <a16:creationId xmlns:a16="http://schemas.microsoft.com/office/drawing/2014/main" id="{314E9245-4982-9F0E-6C10-A959B625B57C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488;p35">
                <a:extLst>
                  <a:ext uri="{FF2B5EF4-FFF2-40B4-BE49-F238E27FC236}">
                    <a16:creationId xmlns:a16="http://schemas.microsoft.com/office/drawing/2014/main" id="{DFD1B90C-E5C5-EC85-2D49-B96FB94824E7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489;p35">
                <a:extLst>
                  <a:ext uri="{FF2B5EF4-FFF2-40B4-BE49-F238E27FC236}">
                    <a16:creationId xmlns:a16="http://schemas.microsoft.com/office/drawing/2014/main" id="{B975E882-6EB5-2916-4965-E3ECDD8D6ED8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6" name="Gráfico 55">
            <a:extLst>
              <a:ext uri="{FF2B5EF4-FFF2-40B4-BE49-F238E27FC236}">
                <a16:creationId xmlns:a16="http://schemas.microsoft.com/office/drawing/2014/main" id="{2ED746ED-5D1D-3E92-B04A-D48DC7475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3" name="Google Shape;3763;p338" title="diagrama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751" y="152399"/>
            <a:ext cx="4517750" cy="6287202"/>
          </a:xfrm>
          <a:prstGeom prst="rect">
            <a:avLst/>
          </a:prstGeom>
          <a:noFill/>
          <a:ln>
            <a:noFill/>
          </a:ln>
        </p:spPr>
      </p:pic>
      <p:sp>
        <p:nvSpPr>
          <p:cNvPr id="3764" name="Google Shape;3764;p338"/>
          <p:cNvSpPr txBox="1"/>
          <p:nvPr/>
        </p:nvSpPr>
        <p:spPr>
          <a:xfrm>
            <a:off x="5715637" y="6430076"/>
            <a:ext cx="48761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339"/>
          <p:cNvSpPr txBox="1">
            <a:spLocks noGrp="1"/>
          </p:cNvSpPr>
          <p:nvPr>
            <p:ph type="body" idx="1"/>
          </p:nvPr>
        </p:nvSpPr>
        <p:spPr>
          <a:xfrm>
            <a:off x="5522850" y="1992116"/>
            <a:ext cx="6059550" cy="165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Explore exemplos de </a:t>
            </a:r>
            <a:r>
              <a:rPr lang="pt-BR" sz="1800" b="1" dirty="0" err="1"/>
              <a:t>sort</a:t>
            </a:r>
            <a:r>
              <a:rPr lang="pt-BR" sz="1800" b="1" dirty="0"/>
              <a:t>(), </a:t>
            </a:r>
            <a:r>
              <a:rPr lang="pt-BR" sz="1800" b="1" dirty="0" err="1"/>
              <a:t>sorted</a:t>
            </a:r>
            <a:r>
              <a:rPr lang="pt-BR" sz="1800" b="1" dirty="0"/>
              <a:t>(), </a:t>
            </a:r>
            <a:r>
              <a:rPr lang="pt-BR" sz="1800" b="1" dirty="0" err="1"/>
              <a:t>key</a:t>
            </a:r>
            <a:r>
              <a:rPr lang="pt-BR" sz="1800" b="1" dirty="0"/>
              <a:t> e reverse para entender diferentes formas de organizar: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DALKE, A.; HETTINGER, R. Técnicas de ordenação. </a:t>
            </a:r>
            <a:r>
              <a:rPr lang="pt-BR" sz="1800" b="1" dirty="0"/>
              <a:t>Python Software Foundation</a:t>
            </a:r>
            <a:r>
              <a:rPr lang="pt-BR" sz="1800" dirty="0"/>
              <a:t>, 26 ago. 2026. Disponível em: 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https://docs.python.org/pt-br/3.14/howto/sorting.html</a:t>
            </a:r>
            <a:r>
              <a:rPr lang="pt-BR" sz="1800" dirty="0">
                <a:solidFill>
                  <a:schemeClr val="hlink"/>
                </a:solidFill>
              </a:rPr>
              <a:t>. </a:t>
            </a:r>
            <a:r>
              <a:rPr lang="pt-BR" sz="1800" dirty="0"/>
              <a:t>Acesso em: 17 ago. 2026.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770" name="Google Shape;3770;p339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p340"/>
          <p:cNvSpPr txBox="1">
            <a:spLocks noGrp="1"/>
          </p:cNvSpPr>
          <p:nvPr>
            <p:ph type="body" idx="1"/>
          </p:nvPr>
        </p:nvSpPr>
        <p:spPr>
          <a:xfrm>
            <a:off x="555149" y="1549400"/>
            <a:ext cx="11436825" cy="29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DEVMEDIA. Python: estrutura de repetição </a:t>
            </a:r>
            <a:r>
              <a:rPr lang="pt-BR" dirty="0" err="1"/>
              <a:t>while</a:t>
            </a:r>
            <a:r>
              <a:rPr lang="pt-BR" dirty="0"/>
              <a:t>, 2019. Disponível em: </a:t>
            </a:r>
            <a:r>
              <a:rPr lang="pt-BR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https://www.devmedia.com.br/python-estrutura-de-repeticao-while/38546</a:t>
            </a:r>
            <a:r>
              <a:rPr lang="pt-BR" dirty="0"/>
              <a:t>. Acesso em: 02 ago. 2026.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LOPES, E. Loops e estruturas de repetição no Python. </a:t>
            </a:r>
            <a:r>
              <a:rPr lang="pt-BR" b="1" dirty="0"/>
              <a:t>Python </a:t>
            </a:r>
            <a:r>
              <a:rPr lang="pt-BR" b="1" dirty="0" err="1"/>
              <a:t>Academy</a:t>
            </a:r>
            <a:r>
              <a:rPr lang="pt-BR" dirty="0"/>
              <a:t>, 30 maio 2026. Disponível em: </a:t>
            </a:r>
            <a:r>
              <a:rPr lang="pt-BR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https://pythonacademy.com.br/blog/estruturas-de-repeticao</a:t>
            </a:r>
            <a:r>
              <a:rPr lang="pt-BR" dirty="0"/>
              <a:t>. Acesso em: 02 ago. 2026.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PYTHON SOFTWARE FOUNDATION. Mais ferramentas de controle de fluxo, 26 ago. 2026a. Disponível em: </a:t>
            </a:r>
            <a:r>
              <a:rPr lang="pt-BR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https://docs.python.org/pt-br/3/tutorial/controlflow.html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  <a:buFont typeface="Arial"/>
            </a:pPr>
            <a:r>
              <a:rPr lang="pt-BR" dirty="0"/>
              <a:t>PYTHON SOFTWARE FOUNDATION. Técnicas de ordenação, 26 ago. 2026b. Disponível em: </a:t>
            </a:r>
            <a:r>
              <a:rPr lang="pt-BR" u="sng" dirty="0">
                <a:solidFill>
                  <a:schemeClr val="hlink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https://docs.python.org/pt-br/dev/howto/sorting.html</a:t>
            </a:r>
            <a:r>
              <a:rPr lang="pt-BR" dirty="0"/>
              <a:t>. Acesso em: 02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342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0" name="Google Shape;3790;p342"/>
          <p:cNvCxnSpPr>
            <a:cxnSpLocks/>
          </p:cNvCxnSpPr>
          <p:nvPr/>
        </p:nvCxnSpPr>
        <p:spPr>
          <a:xfrm flipV="1">
            <a:off x="685795" y="1015512"/>
            <a:ext cx="0" cy="454708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88" name="Google Shape;3788;p342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789" name="Google Shape;3789;p342"/>
          <p:cNvSpPr txBox="1"/>
          <p:nvPr/>
        </p:nvSpPr>
        <p:spPr>
          <a:xfrm>
            <a:off x="985525" y="1400625"/>
            <a:ext cx="10766700" cy="397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A atividade amplia o sistema construído na aula anterior. O foco é reutilizar as funções já existentes para processar vários produtos, organizar os resultados em um ranking e produzir duas saídas: tela e arquivo. O material disponibiliza os trechos de apoio e o arquivo Python completo como gabarito. Incentive a tentativa antes da consulta ao gabarito.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47 minutos.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organize os estudantes em duplas, trabalhando no sistema da aula anterior. Oriente que não recriem as funções de cálculo e classificação. Circule pela sala verificando principalmente a montagem da lista resultados e a integração ao menu.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indent="-1714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peça primeiro que os estudantes façam o processamento de vários produtos e montem a lista de resultados;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em seguida, conduza a ordenação pela média. O código de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sort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() é fornecido como apoio. Não aprofunde a sintaxe de lambda, pois ela não é o foco da aula;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depois, oriente a utilização da mesma lista ordenada para exibição na tela e gravação no arquivo;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finalize com a integração ao menu e a conferência do ranking;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71450" indent="-17145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ao final, solicite o envio do arquivo Python produzido pelo estudante, conforme a orientação de registro da atividade.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disponível no roteiro de atividade do professor. Espera-se que os estudantes: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reutilizem as funções da aula anterior;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produzam um resultado para cada produto;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organizem os resultados pela média, da maior para a menor;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exibam corretamente as posições do ranking;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gravem no arquivo o mesmo ranking apresentado na tela;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integrem a nova funcionalidade ao menu existente;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enviem o arquivo Python final como registro da atividade.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grpSp>
        <p:nvGrpSpPr>
          <p:cNvPr id="3792" name="Google Shape;3792;p342"/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3793" name="Google Shape;3793;p342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p342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5" name="Google Shape;3795;p342"/>
          <p:cNvGrpSpPr/>
          <p:nvPr/>
        </p:nvGrpSpPr>
        <p:grpSpPr>
          <a:xfrm>
            <a:off x="497841" y="2439089"/>
            <a:ext cx="386100" cy="382500"/>
            <a:chOff x="497841" y="2265726"/>
            <a:chExt cx="386100" cy="382500"/>
          </a:xfrm>
        </p:grpSpPr>
        <p:sp>
          <p:nvSpPr>
            <p:cNvPr id="3796" name="Google Shape;3796;p342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p342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8" name="Google Shape;3798;p342"/>
          <p:cNvGrpSpPr/>
          <p:nvPr/>
        </p:nvGrpSpPr>
        <p:grpSpPr>
          <a:xfrm>
            <a:off x="497841" y="3937916"/>
            <a:ext cx="386100" cy="382500"/>
            <a:chOff x="497841" y="3801694"/>
            <a:chExt cx="386100" cy="382500"/>
          </a:xfrm>
        </p:grpSpPr>
        <p:sp>
          <p:nvSpPr>
            <p:cNvPr id="3799" name="Google Shape;3799;p342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91" name="Google Shape;3791;p34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0" name="Google Shape;3800;p342"/>
          <p:cNvGrpSpPr/>
          <p:nvPr/>
        </p:nvGrpSpPr>
        <p:grpSpPr>
          <a:xfrm>
            <a:off x="497841" y="1928063"/>
            <a:ext cx="386100" cy="382500"/>
            <a:chOff x="497841" y="1802325"/>
            <a:chExt cx="386100" cy="382500"/>
          </a:xfrm>
        </p:grpSpPr>
        <p:sp>
          <p:nvSpPr>
            <p:cNvPr id="3801" name="Google Shape;3801;p342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2" name="Google Shape;3802;p3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3" name="Google Shape;3803;p342"/>
          <p:cNvGrpSpPr/>
          <p:nvPr/>
        </p:nvGrpSpPr>
        <p:grpSpPr>
          <a:xfrm>
            <a:off x="497841" y="2881297"/>
            <a:ext cx="386100" cy="382500"/>
            <a:chOff x="497841" y="3037886"/>
            <a:chExt cx="386100" cy="382500"/>
          </a:xfrm>
        </p:grpSpPr>
        <p:sp>
          <p:nvSpPr>
            <p:cNvPr id="3804" name="Google Shape;3804;p342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5" name="Google Shape;3805;p342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B6DDC3D-9D9B-6EFA-AD41-616BC3D2D776}"/>
              </a:ext>
            </a:extLst>
          </p:cNvPr>
          <p:cNvSpPr/>
          <p:nvPr/>
        </p:nvSpPr>
        <p:spPr>
          <a:xfrm>
            <a:off x="0" y="7811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9356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8340" y="5221184"/>
            <a:ext cx="0" cy="14177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3BC0A23B-3468-9220-0551-50506B215100}"/>
              </a:ext>
            </a:extLst>
          </p:cNvPr>
          <p:cNvCxnSpPr>
            <a:cxnSpLocks/>
          </p:cNvCxnSpPr>
          <p:nvPr/>
        </p:nvCxnSpPr>
        <p:spPr>
          <a:xfrm flipV="1">
            <a:off x="688340" y="1041905"/>
            <a:ext cx="0" cy="348677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85520" y="7774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7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5301" y="398878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5301" y="3072945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5301" y="2338626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5301" y="1861982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5301" y="13974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723" y="14959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11" y="1958101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5468" y="2417056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92" y="3143400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327" y="4042909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99415" y="1479250"/>
            <a:ext cx="10876724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  <a:endParaRPr lang="pt-BR" dirty="0"/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Retome rapidamente os conceitos representados no esquema, reiterando a importância de cada um deles e como ele se encaixa no contexto maior da aula e na vida profissional.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5300" y="55114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954336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8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5300" y="6081684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722" y="56153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118" y="6169788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92497" y="55677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1020</Words>
  <Application>Microsoft Office PowerPoint</Application>
  <PresentationFormat>Ecrã Panorâmico</PresentationFormat>
  <Paragraphs>110</Paragraphs>
  <Slides>13</Slides>
  <Notes>13</Notes>
  <HiddenSlides>3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Poppins Medium</vt:lpstr>
      <vt:lpstr>Arial</vt:lpstr>
      <vt:lpstr>Calibri</vt:lpstr>
      <vt:lpstr>Poppins Light</vt:lpstr>
      <vt:lpstr>Poppins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288</cp:revision>
  <dcterms:modified xsi:type="dcterms:W3CDTF">2026-08-28T18:40:22Z</dcterms:modified>
</cp:coreProperties>
</file>