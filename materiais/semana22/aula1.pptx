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2.xml" ContentType="application/vnd.openxmlformats-officedocument.theme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theme/theme3.xml" ContentType="application/vnd.openxmlformats-officedocument.theme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09" r:id="rId3"/>
    <p:sldMasterId id="2147483910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587" r:id="rId15"/>
    <p:sldId id="58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594" r:id="rId27"/>
    <p:sldId id="281" r:id="rId28"/>
  </p:sldIdLst>
  <p:sldSz cx="12192000" cy="6858000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Light" panose="00000400000000000000" pitchFamily="2" charset="0"/>
      <p:regular r:id="rId34"/>
      <p:bold r:id="rId35"/>
      <p:italic r:id="rId36"/>
      <p:boldItalic r:id="rId37"/>
    </p:embeddedFont>
    <p:embeddedFont>
      <p:font typeface="Poppins Medium" panose="000006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1" id="{5F08C764-261C-41AA-AF7E-F875F11F956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6"/>
            <p14:sldId id="587"/>
            <p14:sldId id="58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9"/>
            <p14:sldId id="594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AB8953-341E-EEA7-7B08-5C6D679DA487}" name="Lívia Rulli" initials="LR" userId="ea285effe7eb1ea7" providerId="Windows Live"/>
  <p188:author id="{8707A45E-4514-CAE5-3C40-E2CD3DAFA70C}" name="Isabel Cruz do amaral Pupo" initials="IC" userId="S::isabel_pupo@vanzolini-ead.org.br::8f4c32d8-231f-4630-ae3e-1dca2f05616d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2B9AFF-AD06-4EFA-B624-D5E4A2544751}">
  <a:tblStyle styleId="{182B9AFF-AD06-4EFA-B624-D5E4A254475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88" autoAdjust="0"/>
    <p:restoredTop sz="88202" autoAdjust="0"/>
  </p:normalViewPr>
  <p:slideViewPr>
    <p:cSldViewPr snapToGrid="0">
      <p:cViewPr varScale="1">
        <p:scale>
          <a:sx n="94" d="100"/>
          <a:sy n="94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3" name="Google Shape;27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2714" name="Google Shape;27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8" name="Google Shape;27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6" name="Google Shape;27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4" name="Google Shape;27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5" name="Google Shape;27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3ee235a11d4_0_43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4" name="Google Shape;2804;g3ee235a11d4_0_4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g3ee235a11d4_0_4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7" name="Google Shape;2827;g3ee235a11d4_0_43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8" name="Google Shape;2828;g3ee235a11d4_0_43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g3f3d59bc485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4" name="Google Shape;2834;g3f3d59bc485_0_3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5" name="Google Shape;2835;g3f3d59bc485_0_3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3" name="Google Shape;2853;g3f3d59bc485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4" name="Google Shape;2854;g3f3d59bc485_0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5" name="Google Shape;2855;g3f3d59bc485_0_3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Google Shape;2865;g3f3d59bc485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6" name="Google Shape;2866;g3f3d59bc485_0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7" name="Google Shape;2867;g3f3d59bc485_0_3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6769B1E2-AC71-9B70-1857-6210206E3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7C308CF5-04DA-28EA-F47F-6F88445AD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573839A8-30AD-2977-4B1B-B103EB115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806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g3f6976266d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0" name="Google Shape;2920;g3f6976266d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g3f6976266d6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8" name="Google Shape;2938;g3f6976266d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g3ef67a65e8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4" name="Google Shape;2944;g3ef67a65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g3ee235a11d4_0_4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2950" name="Google Shape;2950;g3ee235a11d4_0_4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5" name="Google Shape;2955;g3ee235a11d4_0_44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6" name="Google Shape;2956;g3ee235a11d4_0_4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g3ee235a11d4_0_44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2" name="Google Shape;2962;g3ee235a11d4_0_4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7" name="Google Shape;2967;g3ee235a11d4_0_4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8" name="Google Shape;2968;g3ee235a11d4_0_4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/>
              <a:t>      </a:t>
            </a:r>
            <a:endParaRPr dirty="0"/>
          </a:p>
        </p:txBody>
      </p:sp>
      <p:sp>
        <p:nvSpPr>
          <p:cNvPr id="2969" name="Google Shape;2969;g3ee235a11d4_0_4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g3ee235a11d4_0_4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3" name="Google Shape;2973;g3ee235a11d4_0_4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2974" name="Google Shape;2974;g3ee235a11d4_0_4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3" name="Google Shape;2993;g3f33445703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4" name="Google Shape;2994;g3f33445703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2995" name="Google Shape;2995;g3f33445703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g3ee235a11d4_0_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1" name="Google Shape;3031;g3ee235a11d4_0_4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32" name="Google Shape;3032;g3ee235a11d4_0_4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      </a:t>
            </a:r>
            <a:endParaRPr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7" name="Google Shape;308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088" name="Google Shape;308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png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9.png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45466" y="885957"/>
            <a:ext cx="406743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10757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992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4" name="Google Shape;684;p6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 dirty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 dirty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862585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1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2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3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4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5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6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3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3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3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3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8" name="Google Shape;1418;p13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9" name="Google Shape;1419;p13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3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2_Linha do Tempo1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2" name="Google Shape;1422;p137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3" name="Google Shape;1423;p137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4" name="Google Shape;1424;p137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425" name="Google Shape;1425;p137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6" name="Google Shape;1426;p137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7" name="Google Shape;1427;p137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8" name="Google Shape;1428;p137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9" name="Google Shape;1429;p137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3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4" name="Google Shape;1434;p13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5" name="Google Shape;1435;p13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3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8" name="Google Shape;1438;p13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9" name="Google Shape;1439;p13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39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5" name="Google Shape;1445;p139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6" name="Google Shape;1446;p139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7" name="Google Shape;1447;p139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8" name="Google Shape;1448;p139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9" name="Google Shape;1449;p139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0" name="Google Shape;1450;p139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1" name="Google Shape;1451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40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7" name="Google Shape;1457;p140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8" name="Google Shape;1458;p140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9" name="Google Shape;1459;p140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0" name="Google Shape;1460;p140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1" name="Google Shape;1461;p140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2" name="Google Shape;1462;p140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3" name="Google Shape;1463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41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9" name="Google Shape;1469;p141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141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141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141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141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14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41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Atividade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43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43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2" name="Google Shape;1482;p143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3" name="Google Shape;1483;p143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43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 2"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6" name="Google Shape;1486;p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7" name="Google Shape;1487;p144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488" name="Google Shape;1488;p14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4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1" name="Google Shape;1491;p144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2" name="Google Shape;1492;p144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1_Atividade_Resposta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6" name="Google Shape;1496;p14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7" name="Google Shape;1497;p14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8" name="Google Shape;1498;p14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4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2" name="Google Shape;1502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4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4" name="Google Shape;1504;p14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5" name="Google Shape;1505;p14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6" name="Google Shape;1506;p14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7" name="Google Shape;1507;p14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8" name="Google Shape;1508;p14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9" name="Google Shape;1509;p14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1_Atividade_embranco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12" name="Google Shape;1512;p14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4" name="Google Shape;1514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49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6" name="Google Shape;1516;p149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14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51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51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2" name="Google Shape;1542;p151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52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6" name="Google Shape;1546;p152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7" name="Google Shape;1547;p152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8" name="Google Shape;1548;p152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9" name="Google Shape;1549;p152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0" name="Google Shape;1550;p152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2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52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52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52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52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53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59" name="Google Shape;1559;p153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0" name="Google Shape;1560;p153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61" name="Google Shape;1561;p153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/>
          </a:p>
        </p:txBody>
      </p:sp>
      <p:sp>
        <p:nvSpPr>
          <p:cNvPr id="1562" name="Google Shape;1562;p153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153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3_Atividade_Seminario"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54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8" name="Google Shape;1568;p154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1570;p1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5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3" name="Google Shape;1573;p1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1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9" name="Google Shape;1579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6" name="Google Shape;1586;p15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87" name="Google Shape;1587;p15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8" name="Google Shape;1588;p15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9" name="Google Shape;1589;p15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1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5" name="Google Shape;1595;p15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96" name="Google Shape;1596;p15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7" name="Google Shape;1597;p15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8" name="Google Shape;1598;p15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9" name="Google Shape;1599;p15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00" name="Google Shape;1600;p15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1" name="Google Shape;1601;p15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2" name="Google Shape;1602;p15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3" name="Google Shape;1603;p15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4" name="Google Shape;1604;p15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5" name="Google Shape;1605;p1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5">
    <p:bg>
      <p:bgPr>
        <a:solidFill>
          <a:schemeClr val="lt1"/>
        </a:solidFill>
        <a:effectLst/>
      </p:bgPr>
    </p:bg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0" name="Google Shape;1610;p15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1" name="Google Shape;1611;p15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2" name="Google Shape;1612;p15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3" name="Google Shape;1613;p15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4" name="Google Shape;1614;p15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15" name="Google Shape;1615;p15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6" name="Google Shape;1616;p15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7" name="Google Shape;1617;p15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8" name="Google Shape;1618;p15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9" name="Google Shape;1619;p15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0" name="Google Shape;1620;p1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5" name="Google Shape;1625;p16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26" name="Google Shape;1626;p16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7" name="Google Shape;1627;p16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8" name="Google Shape;1628;p16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9" name="Google Shape;1629;p16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0" name="Google Shape;1630;p16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1" name="Google Shape;1631;p16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2" name="Google Shape;1632;p16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3" name="Google Shape;1633;p16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4" name="Google Shape;1634;p16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5" name="Google Shape;1635;p16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36" name="Google Shape;1636;p16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7" name="Google Shape;1637;p16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16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2" name="Google Shape;1642;p16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43" name="Google Shape;1643;p16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4" name="Google Shape;1644;p16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5" name="Google Shape;1645;p16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6" name="Google Shape;1646;p16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47" name="Google Shape;1647;p16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8" name="Google Shape;1648;p16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9" name="Google Shape;1649;p16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0" name="Google Shape;1650;p16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1" name="Google Shape;1651;p16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2" name="Google Shape;1652;p16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53" name="Google Shape;1653;p16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54" name="Google Shape;1654;p16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6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9" name="Google Shape;1659;p16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60" name="Google Shape;1660;p16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1" name="Google Shape;1661;p16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2" name="Google Shape;1662;p16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3" name="Google Shape;1663;p16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64" name="Google Shape;1664;p16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5" name="Google Shape;1665;p16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6" name="Google Shape;1666;p16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7" name="Google Shape;1667;p16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8" name="Google Shape;1668;p16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9" name="Google Shape;1669;p16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70" name="Google Shape;1670;p16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71" name="Google Shape;1671;p1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1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6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7" name="Google Shape;1677;p16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8" name="Google Shape;1678;p16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9" name="Google Shape;1679;p16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680" name="Google Shape;1680;p16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81" name="Google Shape;1681;p16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2" name="Google Shape;1682;p16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3" name="Google Shape;1683;p16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4" name="Google Shape;1684;p16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5" name="Google Shape;1685;p16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6" name="Google Shape;1686;p16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7" name="Google Shape;1687;p16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8" name="Google Shape;1688;p16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9" name="Google Shape;1689;p1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1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2" name="Google Shape;1692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6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6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6" name="Google Shape;1696;p16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16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" name="Google Shape;1699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6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6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6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5" name="Google Shape;1705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6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08" name="Google Shape;1708;p16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6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12" name="Google Shape;1712;p16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6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5" name="Google Shape;1715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6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18" name="Google Shape;1718;p16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9" name="Google Shape;1719;p16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0" name="Google Shape;1720;p16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6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3" name="Google Shape;1723;p1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6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6" name="Google Shape;1726;p16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7" name="Google Shape;1727;p16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28" name="Google Shape;1728;p16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6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"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1" name="Google Shape;1731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17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4" name="Google Shape;1734;p17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5" name="Google Shape;1735;p17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7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9" name="Google Shape;1739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7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2" name="Google Shape;1742;p17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3" name="Google Shape;1743;p17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4" name="Google Shape;1744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 7">
    <p:bg>
      <p:bgPr>
        <a:solidFill>
          <a:srgbClr val="28566E"/>
        </a:solidFill>
        <a:effectLst/>
      </p:bgPr>
    </p:bg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7" name="Google Shape;1747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7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7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7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51" name="Google Shape;1751;p17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2" name="Google Shape;1752;p17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3" name="Google Shape;1753;p17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7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7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6" name="Google Shape;1756;p17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7" name="Google Shape;1757;p17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7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">
    <p:bg>
      <p:bgPr>
        <a:solidFill>
          <a:srgbClr val="28566E"/>
        </a:solidFill>
        <a:effectLst/>
      </p:bgPr>
    </p:bg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7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7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63" name="Google Shape;1763;p17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4" name="Google Shape;1764;p17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5" name="Google Shape;1765;p17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17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7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8" name="Google Shape;1768;p17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9" name="Google Shape;1769;p17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17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7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7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2">
    <p:bg>
      <p:bgPr>
        <a:solidFill>
          <a:srgbClr val="28566E"/>
        </a:solidFill>
        <a:effectLst/>
      </p:bgPr>
    </p:bg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17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76" name="Google Shape;1776;p17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77" name="Google Shape;1777;p17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8" name="Google Shape;1778;p17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9" name="Google Shape;1779;p17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0" name="Google Shape;1780;p17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1" name="Google Shape;1781;p17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7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3">
    <p:bg>
      <p:bgPr>
        <a:solidFill>
          <a:srgbClr val="28566E"/>
        </a:solidFill>
        <a:effectLst/>
      </p:bgPr>
    </p:bg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4" name="Google Shape;1784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7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6" name="Google Shape;1786;p17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87" name="Google Shape;1787;p17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8" name="Google Shape;1788;p17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9" name="Google Shape;1789;p17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0" name="Google Shape;1790;p17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1" name="Google Shape;1791;p17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7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7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6" name="Google Shape;1796;p17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7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8" name="Google Shape;1798;p17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9" name="Google Shape;1799;p1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7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7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7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5" name="Google Shape;1805;p178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6" name="Google Shape;1806;p178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7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9" name="Google Shape;2599;p2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2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1" name="Google Shape;2601;p254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02" name="Google Shape;2602;p254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3" name="Google Shape;2603;p254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4" name="Google Shape;2604;p254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05" name="Google Shape;2605;p254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06" name="Google Shape;2606;p254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7" name="Google Shape;2607;p254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8" name="Google Shape;2608;p254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09" name="Google Shape;2609;p254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10" name="Google Shape;2610;p254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11" name="Google Shape;2611;p2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2" name="Google Shape;2612;p2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59" Type="http://schemas.openxmlformats.org/officeDocument/2006/relationships/theme" Target="../theme/theme2.xml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9.xml"/><Relationship Id="rId18" Type="http://schemas.openxmlformats.org/officeDocument/2006/relationships/slideLayout" Target="../slideLayouts/slideLayout134.xml"/><Relationship Id="rId26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55.xml"/><Relationship Id="rId21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50.xml"/><Relationship Id="rId42" Type="http://schemas.openxmlformats.org/officeDocument/2006/relationships/slideLayout" Target="../slideLayouts/slideLayout158.xml"/><Relationship Id="rId47" Type="http://schemas.openxmlformats.org/officeDocument/2006/relationships/slideLayout" Target="../slideLayouts/slideLayout163.xml"/><Relationship Id="rId50" Type="http://schemas.openxmlformats.org/officeDocument/2006/relationships/slideLayout" Target="../slideLayouts/slideLayout166.xml"/><Relationship Id="rId55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45.xml"/><Relationship Id="rId11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40.xml"/><Relationship Id="rId32" Type="http://schemas.openxmlformats.org/officeDocument/2006/relationships/slideLayout" Target="../slideLayouts/slideLayout148.xml"/><Relationship Id="rId37" Type="http://schemas.openxmlformats.org/officeDocument/2006/relationships/slideLayout" Target="../slideLayouts/slideLayout153.xml"/><Relationship Id="rId40" Type="http://schemas.openxmlformats.org/officeDocument/2006/relationships/slideLayout" Target="../slideLayouts/slideLayout156.xml"/><Relationship Id="rId45" Type="http://schemas.openxmlformats.org/officeDocument/2006/relationships/slideLayout" Target="../slideLayouts/slideLayout161.xml"/><Relationship Id="rId53" Type="http://schemas.openxmlformats.org/officeDocument/2006/relationships/slideLayout" Target="../slideLayouts/slideLayout169.xml"/><Relationship Id="rId58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21.xml"/><Relationship Id="rId19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0.xml"/><Relationship Id="rId9" Type="http://schemas.openxmlformats.org/officeDocument/2006/relationships/slideLayout" Target="../slideLayouts/slideLayout125.xml"/><Relationship Id="rId14" Type="http://schemas.openxmlformats.org/officeDocument/2006/relationships/slideLayout" Target="../slideLayouts/slideLayout130.xml"/><Relationship Id="rId22" Type="http://schemas.openxmlformats.org/officeDocument/2006/relationships/slideLayout" Target="../slideLayouts/slideLayout138.xml"/><Relationship Id="rId27" Type="http://schemas.openxmlformats.org/officeDocument/2006/relationships/slideLayout" Target="../slideLayouts/slideLayout143.xml"/><Relationship Id="rId30" Type="http://schemas.openxmlformats.org/officeDocument/2006/relationships/slideLayout" Target="../slideLayouts/slideLayout146.xml"/><Relationship Id="rId35" Type="http://schemas.openxmlformats.org/officeDocument/2006/relationships/slideLayout" Target="../slideLayouts/slideLayout151.xml"/><Relationship Id="rId43" Type="http://schemas.openxmlformats.org/officeDocument/2006/relationships/slideLayout" Target="../slideLayouts/slideLayout159.xml"/><Relationship Id="rId48" Type="http://schemas.openxmlformats.org/officeDocument/2006/relationships/slideLayout" Target="../slideLayouts/slideLayout164.xml"/><Relationship Id="rId56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24.xml"/><Relationship Id="rId51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8.xml"/><Relationship Id="rId17" Type="http://schemas.openxmlformats.org/officeDocument/2006/relationships/slideLayout" Target="../slideLayouts/slideLayout133.xml"/><Relationship Id="rId25" Type="http://schemas.openxmlformats.org/officeDocument/2006/relationships/slideLayout" Target="../slideLayouts/slideLayout141.xml"/><Relationship Id="rId33" Type="http://schemas.openxmlformats.org/officeDocument/2006/relationships/slideLayout" Target="../slideLayouts/slideLayout149.xml"/><Relationship Id="rId38" Type="http://schemas.openxmlformats.org/officeDocument/2006/relationships/slideLayout" Target="../slideLayouts/slideLayout154.xml"/><Relationship Id="rId46" Type="http://schemas.openxmlformats.org/officeDocument/2006/relationships/slideLayout" Target="../slideLayouts/slideLayout162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136.xml"/><Relationship Id="rId41" Type="http://schemas.openxmlformats.org/officeDocument/2006/relationships/slideLayout" Target="../slideLayouts/slideLayout157.xml"/><Relationship Id="rId54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31.xml"/><Relationship Id="rId23" Type="http://schemas.openxmlformats.org/officeDocument/2006/relationships/slideLayout" Target="../slideLayouts/slideLayout139.xml"/><Relationship Id="rId28" Type="http://schemas.openxmlformats.org/officeDocument/2006/relationships/slideLayout" Target="../slideLayouts/slideLayout144.xml"/><Relationship Id="rId36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65.xml"/><Relationship Id="rId57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60.xml"/><Relationship Id="rId52" Type="http://schemas.openxmlformats.org/officeDocument/2006/relationships/slideLayout" Target="../slideLayouts/slideLayout168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00.xml"/><Relationship Id="rId21" Type="http://schemas.openxmlformats.org/officeDocument/2006/relationships/slideLayout" Target="../slideLayouts/slideLayout195.xml"/><Relationship Id="rId42" Type="http://schemas.openxmlformats.org/officeDocument/2006/relationships/slideLayout" Target="../slideLayouts/slideLayout216.xml"/><Relationship Id="rId47" Type="http://schemas.openxmlformats.org/officeDocument/2006/relationships/slideLayout" Target="../slideLayouts/slideLayout221.xml"/><Relationship Id="rId63" Type="http://schemas.openxmlformats.org/officeDocument/2006/relationships/slideLayout" Target="../slideLayouts/slideLayout237.xml"/><Relationship Id="rId68" Type="http://schemas.openxmlformats.org/officeDocument/2006/relationships/slideLayout" Target="../slideLayouts/slideLayout242.xml"/><Relationship Id="rId84" Type="http://schemas.openxmlformats.org/officeDocument/2006/relationships/theme" Target="../theme/theme4.xml"/><Relationship Id="rId16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5.xml"/><Relationship Id="rId32" Type="http://schemas.openxmlformats.org/officeDocument/2006/relationships/slideLayout" Target="../slideLayouts/slideLayout206.xml"/><Relationship Id="rId37" Type="http://schemas.openxmlformats.org/officeDocument/2006/relationships/slideLayout" Target="../slideLayouts/slideLayout211.xml"/><Relationship Id="rId53" Type="http://schemas.openxmlformats.org/officeDocument/2006/relationships/slideLayout" Target="../slideLayouts/slideLayout227.xml"/><Relationship Id="rId58" Type="http://schemas.openxmlformats.org/officeDocument/2006/relationships/slideLayout" Target="../slideLayouts/slideLayout232.xml"/><Relationship Id="rId74" Type="http://schemas.openxmlformats.org/officeDocument/2006/relationships/slideLayout" Target="../slideLayouts/slideLayout248.xml"/><Relationship Id="rId79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179.xml"/><Relationship Id="rId61" Type="http://schemas.openxmlformats.org/officeDocument/2006/relationships/slideLayout" Target="../slideLayouts/slideLayout235.xml"/><Relationship Id="rId82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88.xml"/><Relationship Id="rId22" Type="http://schemas.openxmlformats.org/officeDocument/2006/relationships/slideLayout" Target="../slideLayouts/slideLayout196.xml"/><Relationship Id="rId27" Type="http://schemas.openxmlformats.org/officeDocument/2006/relationships/slideLayout" Target="../slideLayouts/slideLayout201.xml"/><Relationship Id="rId30" Type="http://schemas.openxmlformats.org/officeDocument/2006/relationships/slideLayout" Target="../slideLayouts/slideLayout204.xml"/><Relationship Id="rId35" Type="http://schemas.openxmlformats.org/officeDocument/2006/relationships/slideLayout" Target="../slideLayouts/slideLayout209.xml"/><Relationship Id="rId43" Type="http://schemas.openxmlformats.org/officeDocument/2006/relationships/slideLayout" Target="../slideLayouts/slideLayout217.xml"/><Relationship Id="rId48" Type="http://schemas.openxmlformats.org/officeDocument/2006/relationships/slideLayout" Target="../slideLayouts/slideLayout222.xml"/><Relationship Id="rId56" Type="http://schemas.openxmlformats.org/officeDocument/2006/relationships/slideLayout" Target="../slideLayouts/slideLayout230.xml"/><Relationship Id="rId64" Type="http://schemas.openxmlformats.org/officeDocument/2006/relationships/slideLayout" Target="../slideLayouts/slideLayout238.xml"/><Relationship Id="rId69" Type="http://schemas.openxmlformats.org/officeDocument/2006/relationships/slideLayout" Target="../slideLayouts/slideLayout243.xml"/><Relationship Id="rId77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182.xml"/><Relationship Id="rId51" Type="http://schemas.openxmlformats.org/officeDocument/2006/relationships/slideLayout" Target="../slideLayouts/slideLayout225.xml"/><Relationship Id="rId72" Type="http://schemas.openxmlformats.org/officeDocument/2006/relationships/slideLayout" Target="../slideLayouts/slideLayout246.xml"/><Relationship Id="rId80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91.xml"/><Relationship Id="rId25" Type="http://schemas.openxmlformats.org/officeDocument/2006/relationships/slideLayout" Target="../slideLayouts/slideLayout199.xml"/><Relationship Id="rId33" Type="http://schemas.openxmlformats.org/officeDocument/2006/relationships/slideLayout" Target="../slideLayouts/slideLayout207.xml"/><Relationship Id="rId38" Type="http://schemas.openxmlformats.org/officeDocument/2006/relationships/slideLayout" Target="../slideLayouts/slideLayout212.xml"/><Relationship Id="rId46" Type="http://schemas.openxmlformats.org/officeDocument/2006/relationships/slideLayout" Target="../slideLayouts/slideLayout220.xml"/><Relationship Id="rId59" Type="http://schemas.openxmlformats.org/officeDocument/2006/relationships/slideLayout" Target="../slideLayouts/slideLayout233.xml"/><Relationship Id="rId67" Type="http://schemas.openxmlformats.org/officeDocument/2006/relationships/slideLayout" Target="../slideLayouts/slideLayout241.xml"/><Relationship Id="rId20" Type="http://schemas.openxmlformats.org/officeDocument/2006/relationships/slideLayout" Target="../slideLayouts/slideLayout194.xml"/><Relationship Id="rId41" Type="http://schemas.openxmlformats.org/officeDocument/2006/relationships/slideLayout" Target="../slideLayouts/slideLayout215.xml"/><Relationship Id="rId54" Type="http://schemas.openxmlformats.org/officeDocument/2006/relationships/slideLayout" Target="../slideLayouts/slideLayout228.xml"/><Relationship Id="rId62" Type="http://schemas.openxmlformats.org/officeDocument/2006/relationships/slideLayout" Target="../slideLayouts/slideLayout236.xml"/><Relationship Id="rId70" Type="http://schemas.openxmlformats.org/officeDocument/2006/relationships/slideLayout" Target="../slideLayouts/slideLayout244.xml"/><Relationship Id="rId75" Type="http://schemas.openxmlformats.org/officeDocument/2006/relationships/slideLayout" Target="../slideLayouts/slideLayout249.xml"/><Relationship Id="rId83" Type="http://schemas.openxmlformats.org/officeDocument/2006/relationships/slideLayout" Target="../slideLayouts/slideLayout257.xml"/><Relationship Id="rId1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80.xml"/><Relationship Id="rId15" Type="http://schemas.openxmlformats.org/officeDocument/2006/relationships/slideLayout" Target="../slideLayouts/slideLayout189.xml"/><Relationship Id="rId23" Type="http://schemas.openxmlformats.org/officeDocument/2006/relationships/slideLayout" Target="../slideLayouts/slideLayout197.xml"/><Relationship Id="rId28" Type="http://schemas.openxmlformats.org/officeDocument/2006/relationships/slideLayout" Target="../slideLayouts/slideLayout202.xml"/><Relationship Id="rId36" Type="http://schemas.openxmlformats.org/officeDocument/2006/relationships/slideLayout" Target="../slideLayouts/slideLayout210.xml"/><Relationship Id="rId49" Type="http://schemas.openxmlformats.org/officeDocument/2006/relationships/slideLayout" Target="../slideLayouts/slideLayout223.xml"/><Relationship Id="rId57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184.xml"/><Relationship Id="rId31" Type="http://schemas.openxmlformats.org/officeDocument/2006/relationships/slideLayout" Target="../slideLayouts/slideLayout205.xml"/><Relationship Id="rId44" Type="http://schemas.openxmlformats.org/officeDocument/2006/relationships/slideLayout" Target="../slideLayouts/slideLayout218.xml"/><Relationship Id="rId52" Type="http://schemas.openxmlformats.org/officeDocument/2006/relationships/slideLayout" Target="../slideLayouts/slideLayout226.xml"/><Relationship Id="rId60" Type="http://schemas.openxmlformats.org/officeDocument/2006/relationships/slideLayout" Target="../slideLayouts/slideLayout234.xml"/><Relationship Id="rId65" Type="http://schemas.openxmlformats.org/officeDocument/2006/relationships/slideLayout" Target="../slideLayouts/slideLayout239.xml"/><Relationship Id="rId73" Type="http://schemas.openxmlformats.org/officeDocument/2006/relationships/slideLayout" Target="../slideLayouts/slideLayout247.xml"/><Relationship Id="rId78" Type="http://schemas.openxmlformats.org/officeDocument/2006/relationships/slideLayout" Target="../slideLayouts/slideLayout252.xml"/><Relationship Id="rId81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83.xml"/><Relationship Id="rId13" Type="http://schemas.openxmlformats.org/officeDocument/2006/relationships/slideLayout" Target="../slideLayouts/slideLayout187.xml"/><Relationship Id="rId18" Type="http://schemas.openxmlformats.org/officeDocument/2006/relationships/slideLayout" Target="../slideLayouts/slideLayout192.xml"/><Relationship Id="rId39" Type="http://schemas.openxmlformats.org/officeDocument/2006/relationships/slideLayout" Target="../slideLayouts/slideLayout213.xml"/><Relationship Id="rId34" Type="http://schemas.openxmlformats.org/officeDocument/2006/relationships/slideLayout" Target="../slideLayouts/slideLayout208.xml"/><Relationship Id="rId50" Type="http://schemas.openxmlformats.org/officeDocument/2006/relationships/slideLayout" Target="../slideLayouts/slideLayout224.xml"/><Relationship Id="rId55" Type="http://schemas.openxmlformats.org/officeDocument/2006/relationships/slideLayout" Target="../slideLayouts/slideLayout229.xml"/><Relationship Id="rId76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181.xml"/><Relationship Id="rId71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176.xml"/><Relationship Id="rId29" Type="http://schemas.openxmlformats.org/officeDocument/2006/relationships/slideLayout" Target="../slideLayouts/slideLayout203.xml"/><Relationship Id="rId24" Type="http://schemas.openxmlformats.org/officeDocument/2006/relationships/slideLayout" Target="../slideLayouts/slideLayout198.xml"/><Relationship Id="rId40" Type="http://schemas.openxmlformats.org/officeDocument/2006/relationships/slideLayout" Target="../slideLayouts/slideLayout214.xml"/><Relationship Id="rId45" Type="http://schemas.openxmlformats.org/officeDocument/2006/relationships/slideLayout" Target="../slideLayouts/slideLayout219.xml"/><Relationship Id="rId66" Type="http://schemas.openxmlformats.org/officeDocument/2006/relationships/slideLayout" Target="../slideLayouts/slideLayout2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911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  <p:sldLayoutId id="2147483809" r:id="rId44"/>
    <p:sldLayoutId id="2147483810" r:id="rId45"/>
    <p:sldLayoutId id="2147483811" r:id="rId46"/>
    <p:sldLayoutId id="2147483812" r:id="rId47"/>
    <p:sldLayoutId id="2147483813" r:id="rId48"/>
    <p:sldLayoutId id="2147483814" r:id="rId49"/>
    <p:sldLayoutId id="2147483815" r:id="rId50"/>
    <p:sldLayoutId id="2147483816" r:id="rId51"/>
    <p:sldLayoutId id="2147483817" r:id="rId52"/>
    <p:sldLayoutId id="2147483818" r:id="rId53"/>
    <p:sldLayoutId id="2147483819" r:id="rId54"/>
    <p:sldLayoutId id="2147483820" r:id="rId55"/>
    <p:sldLayoutId id="2147483821" r:id="rId56"/>
    <p:sldLayoutId id="2147483822" r:id="rId57"/>
    <p:sldLayoutId id="2147483823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  <p:sldLayoutId id="2147483841" r:id="rId18"/>
    <p:sldLayoutId id="2147483842" r:id="rId19"/>
    <p:sldLayoutId id="2147483843" r:id="rId20"/>
    <p:sldLayoutId id="2147483844" r:id="rId21"/>
    <p:sldLayoutId id="2147483845" r:id="rId22"/>
    <p:sldLayoutId id="2147483846" r:id="rId23"/>
    <p:sldLayoutId id="2147483847" r:id="rId24"/>
    <p:sldLayoutId id="2147483848" r:id="rId25"/>
    <p:sldLayoutId id="2147483849" r:id="rId26"/>
    <p:sldLayoutId id="2147483850" r:id="rId27"/>
    <p:sldLayoutId id="2147483851" r:id="rId28"/>
    <p:sldLayoutId id="2147483852" r:id="rId29"/>
    <p:sldLayoutId id="2147483853" r:id="rId30"/>
    <p:sldLayoutId id="2147483854" r:id="rId31"/>
    <p:sldLayoutId id="2147483855" r:id="rId32"/>
    <p:sldLayoutId id="2147483856" r:id="rId33"/>
    <p:sldLayoutId id="2147483857" r:id="rId34"/>
    <p:sldLayoutId id="2147483858" r:id="rId35"/>
    <p:sldLayoutId id="2147483859" r:id="rId36"/>
    <p:sldLayoutId id="2147483860" r:id="rId37"/>
    <p:sldLayoutId id="2147483861" r:id="rId38"/>
    <p:sldLayoutId id="2147483862" r:id="rId39"/>
    <p:sldLayoutId id="2147483863" r:id="rId40"/>
    <p:sldLayoutId id="2147483864" r:id="rId41"/>
    <p:sldLayoutId id="2147483865" r:id="rId42"/>
    <p:sldLayoutId id="2147483866" r:id="rId43"/>
    <p:sldLayoutId id="2147483867" r:id="rId44"/>
    <p:sldLayoutId id="2147483868" r:id="rId45"/>
    <p:sldLayoutId id="2147483869" r:id="rId46"/>
    <p:sldLayoutId id="2147483870" r:id="rId47"/>
    <p:sldLayoutId id="2147483871" r:id="rId48"/>
    <p:sldLayoutId id="2147483872" r:id="rId49"/>
    <p:sldLayoutId id="2147483873" r:id="rId50"/>
    <p:sldLayoutId id="2147483874" r:id="rId51"/>
    <p:sldLayoutId id="2147483875" r:id="rId52"/>
    <p:sldLayoutId id="2147483876" r:id="rId53"/>
    <p:sldLayoutId id="2147483877" r:id="rId54"/>
    <p:sldLayoutId id="2147483878" r:id="rId55"/>
    <p:sldLayoutId id="2147483879" r:id="rId56"/>
    <p:sldLayoutId id="2147483880" r:id="rId57"/>
    <p:sldLayoutId id="2147483881" r:id="rId58"/>
    <p:sldLayoutId id="2147483882" r:id="rId59"/>
    <p:sldLayoutId id="2147483883" r:id="rId60"/>
    <p:sldLayoutId id="2147483884" r:id="rId61"/>
    <p:sldLayoutId id="2147483885" r:id="rId62"/>
    <p:sldLayoutId id="2147483886" r:id="rId63"/>
    <p:sldLayoutId id="2147483887" r:id="rId64"/>
    <p:sldLayoutId id="2147483888" r:id="rId65"/>
    <p:sldLayoutId id="2147483889" r:id="rId66"/>
    <p:sldLayoutId id="2147483890" r:id="rId67"/>
    <p:sldLayoutId id="2147483891" r:id="rId68"/>
    <p:sldLayoutId id="2147483892" r:id="rId69"/>
    <p:sldLayoutId id="2147483893" r:id="rId70"/>
    <p:sldLayoutId id="2147483894" r:id="rId71"/>
    <p:sldLayoutId id="2147483895" r:id="rId72"/>
    <p:sldLayoutId id="2147483896" r:id="rId73"/>
    <p:sldLayoutId id="2147483897" r:id="rId74"/>
    <p:sldLayoutId id="2147483898" r:id="rId75"/>
    <p:sldLayoutId id="2147483899" r:id="rId76"/>
    <p:sldLayoutId id="2147483900" r:id="rId77"/>
    <p:sldLayoutId id="2147483901" r:id="rId78"/>
    <p:sldLayoutId id="2147483902" r:id="rId79"/>
    <p:sldLayoutId id="2147483903" r:id="rId80"/>
    <p:sldLayoutId id="2147483904" r:id="rId81"/>
    <p:sldLayoutId id="2147483905" r:id="rId82"/>
    <p:sldLayoutId id="2147483906" r:id="rId8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37.svg"/><Relationship Id="rId4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4.svg"/><Relationship Id="rId4" Type="http://schemas.openxmlformats.org/officeDocument/2006/relationships/image" Target="../media/image3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4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1.xml"/><Relationship Id="rId4" Type="http://schemas.openxmlformats.org/officeDocument/2006/relationships/image" Target="../media/image4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pt-br/3/tutorial/datastructure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ozilla.org/pt-BR/kb/navegacao-privativa-use-firefox-sem-historico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7.xml"/><Relationship Id="rId4" Type="http://schemas.openxmlformats.org/officeDocument/2006/relationships/hyperlink" Target="https://docs.python.org/pt-br/3/tutorial/datastructures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9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9.xml"/><Relationship Id="rId6" Type="http://schemas.openxmlformats.org/officeDocument/2006/relationships/image" Target="../media/image49.png"/><Relationship Id="rId5" Type="http://schemas.openxmlformats.org/officeDocument/2006/relationships/image" Target="../media/image54.svg"/><Relationship Id="rId4" Type="http://schemas.openxmlformats.org/officeDocument/2006/relationships/image" Target="../media/image53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265"/>
          <p:cNvSpPr txBox="1"/>
          <p:nvPr/>
        </p:nvSpPr>
        <p:spPr>
          <a:xfrm>
            <a:off x="850297" y="209461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1" name="Google Shape;2721;p265"/>
          <p:cNvSpPr txBox="1"/>
          <p:nvPr/>
        </p:nvSpPr>
        <p:spPr>
          <a:xfrm>
            <a:off x="850324" y="3512251"/>
            <a:ext cx="6814747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22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265"/>
          <p:cNvSpPr txBox="1"/>
          <p:nvPr/>
        </p:nvSpPr>
        <p:spPr>
          <a:xfrm>
            <a:off x="770884" y="1307454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3" name="Google Shape;2723;p265"/>
          <p:cNvSpPr txBox="1"/>
          <p:nvPr/>
        </p:nvSpPr>
        <p:spPr>
          <a:xfrm>
            <a:off x="850297" y="2830653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1: Como guardar dados sem usar arquivo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C47AA663-B2A1-3D69-D202-A4764771A57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3011FCF-2A1F-678D-3403-055ED931F29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3562B59D-FCC4-550A-06BE-E9800B711A67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A15C774-5BE0-6DF3-E929-DA6C5C37D808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8729B55E-89B4-AD08-3A2F-E236E7F70806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8D0FDF1-DC17-6E9F-7B12-794266EF0174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2300314F-50B7-F353-21B6-FCD185644AD8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FB80A29C-93EA-C052-ABCB-79181687DE1A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729C0330-DDC5-70EC-65DF-6CB68A1BF5FD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B6F986BF-CBC5-D5F4-94A6-5A4EB9AB8491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2046CDD2-696B-7553-32F9-789E5D906039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45389CE9-9134-D979-530F-B8CB2459671D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66A3CD4E-E84C-547C-2547-B71B7FCA84F4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D96C8D71-8A6A-128A-CF4D-95FA9EBAC7E4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E79C8C0A-490C-B9CB-FDA6-830AC14A2EBB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C4FE6270-8640-C98B-0CF8-2F0B4D74F037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EACEEBB3-BE11-E4DB-0CB0-6A6F72D82D15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9A81F2DA-39D5-5F07-0FC0-00079FC7E300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32E9A541-D0FE-5314-032A-7385BA9E9EAD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6650F67-CA1A-C866-6379-B99AEF2483BA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41AE4DA-99AD-5FE2-AC5F-150E4388E8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AA12F6AC-9101-EC7F-BDB4-C7031E045DD3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509CF9FC-7F7B-4497-1F8C-F314E7285AE0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6EAC4B66-470D-0327-F3C0-FF4402B6343B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0DFAC817-9F8B-0DB2-A8F6-AB27E1EC385B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5898B839-2FDC-2F32-B950-E9C6ECB6252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ED4BCC4C-2F25-795D-8300-F0E26DF7B76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EE5EE166-7B21-412E-CAA3-96F783347CCA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0835665B-99F8-1CDB-8754-079420421F8D}"/>
              </a:ext>
            </a:extLst>
          </p:cNvPr>
          <p:cNvSpPr/>
          <p:nvPr/>
        </p:nvSpPr>
        <p:spPr>
          <a:xfrm>
            <a:off x="8032927" y="245021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AA44D083-B55F-9988-3F58-71EC7DCD68D6}"/>
              </a:ext>
            </a:extLst>
          </p:cNvPr>
          <p:cNvCxnSpPr>
            <a:cxnSpLocks/>
            <a:stCxn id="30" idx="3"/>
            <a:endCxn id="17" idx="2"/>
          </p:cNvCxnSpPr>
          <p:nvPr/>
        </p:nvCxnSpPr>
        <p:spPr>
          <a:xfrm flipH="1">
            <a:off x="7564788" y="2907799"/>
            <a:ext cx="546648" cy="68186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C326A2FD-ED14-79C4-0355-6D58CA4F3402}"/>
              </a:ext>
            </a:extLst>
          </p:cNvPr>
          <p:cNvSpPr txBox="1"/>
          <p:nvPr/>
        </p:nvSpPr>
        <p:spPr>
          <a:xfrm>
            <a:off x="4176299" y="5523582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dirty="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71EF9037-9A33-08A3-CBC1-D54564CFEE80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22532" y="5546944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395747AD-289F-02C5-006D-0CA584849098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DA906E99-74C1-894E-4648-D6885CF759D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36D55778-A808-6618-E20F-AF286D2C1AE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954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A6F98FA5-3111-8B63-09F7-B4595B787765}"/>
              </a:ext>
            </a:extLst>
          </p:cNvPr>
          <p:cNvSpPr txBox="1"/>
          <p:nvPr/>
        </p:nvSpPr>
        <p:spPr>
          <a:xfrm>
            <a:off x="307804" y="3754483"/>
            <a:ext cx="2097455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Funções e procedimentos – modularização I</a:t>
            </a:r>
            <a:endParaRPr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D411EE31-F0AB-8C71-4896-31D9F590681E}"/>
              </a:ext>
            </a:extLst>
          </p:cNvPr>
          <p:cNvSpPr txBox="1"/>
          <p:nvPr/>
        </p:nvSpPr>
        <p:spPr>
          <a:xfrm>
            <a:off x="4207454" y="5836005"/>
            <a:ext cx="2360494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CE6FA4F7-A278-5B93-7AD8-EF2F6D65D588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dirty="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91998BBD-7708-3C6E-E8C3-77D94794D14C}"/>
              </a:ext>
            </a:extLst>
          </p:cNvPr>
          <p:cNvSpPr txBox="1"/>
          <p:nvPr/>
        </p:nvSpPr>
        <p:spPr>
          <a:xfrm>
            <a:off x="8610341" y="2364721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8235072C-20FB-7564-A050-BD896F2EB57F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B8860E5C-255F-C70B-4A21-A52D2F00D113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C573D349-3F29-B55E-9F3A-A0F379E589CD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E338347-C87C-DE27-1C14-0ACD67028D2D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13F72AA6-5D6D-7604-2172-A1E13A0AC176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BEA3D7D3-E755-3818-1082-7A771502E3E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DD04C494-382F-F0B4-6BA5-60DD053BDE3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76758" y="359983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B54A1CD2-8422-75F6-5E08-2E9C82996889}"/>
              </a:ext>
            </a:extLst>
          </p:cNvPr>
          <p:cNvSpPr txBox="1"/>
          <p:nvPr/>
        </p:nvSpPr>
        <p:spPr>
          <a:xfrm>
            <a:off x="9949361" y="4318725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D87571BF-ABD0-62AA-3234-0EFE5000930A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DEEEF835-491F-DE22-3D91-EAAFA9C71DD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86434497-E9E4-34D9-E605-FF0F33EA830F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4E7829B0-6CCA-F5D9-BFF1-62C4B3C9F7EC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B431AA6C-5F92-D086-6842-098BA8A9DA8B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8" name="Google Shape;2778;p267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2"/>
          <a:stretch/>
        </p:blipFill>
        <p:spPr>
          <a:xfrm rot="-573652">
            <a:off x="5678584" y="2638764"/>
            <a:ext cx="8603297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2779" name="Google Shape;2779;p267"/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0" name="Google Shape;2780;p267"/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1" name="Google Shape;2781;p267"/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2" name="Google Shape;2782;p267"/>
          <p:cNvSpPr txBox="1"/>
          <p:nvPr/>
        </p:nvSpPr>
        <p:spPr>
          <a:xfrm>
            <a:off x="3331829" y="5409714"/>
            <a:ext cx="4487736" cy="305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SISANO1C1B4S22A1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267"/>
          <p:cNvSpPr txBox="1"/>
          <p:nvPr/>
        </p:nvSpPr>
        <p:spPr>
          <a:xfrm>
            <a:off x="3331829" y="3233642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7" name="Google Shape;2787;p267"/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267"/>
          <p:cNvSpPr txBox="1"/>
          <p:nvPr/>
        </p:nvSpPr>
        <p:spPr>
          <a:xfrm>
            <a:off x="3331829" y="4467180"/>
            <a:ext cx="4599597" cy="68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1: Como guardar dados sem usar arquivo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38E5581-5DDF-FD6D-1434-2F2E4E755942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7990EEC1-A192-6F14-8258-D047D9DA991D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9064279-7FA7-6E15-4C52-E903E9BCA5F1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A161AEAF-1247-9F4E-970D-14109B46C111}"/>
              </a:ext>
            </a:extLst>
          </p:cNvPr>
          <p:cNvSpPr txBox="1"/>
          <p:nvPr/>
        </p:nvSpPr>
        <p:spPr>
          <a:xfrm>
            <a:off x="214038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26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485419" cy="88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Compreender como vetores e listas simples podem representar conjuntos de dados em programas sem persistência.</a:t>
            </a:r>
            <a:endParaRPr dirty="0"/>
          </a:p>
        </p:txBody>
      </p:sp>
      <p:sp>
        <p:nvSpPr>
          <p:cNvPr id="2799" name="Google Shape;2799;p268"/>
          <p:cNvSpPr txBox="1">
            <a:spLocks noGrp="1"/>
          </p:cNvSpPr>
          <p:nvPr>
            <p:ph type="body" idx="2"/>
          </p:nvPr>
        </p:nvSpPr>
        <p:spPr>
          <a:xfrm>
            <a:off x="7467375" y="1355464"/>
            <a:ext cx="4044985" cy="92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vetores ou listas simples, condicionais compostas e repetição na implementação de cadastros em memória com menu textual.</a:t>
            </a:r>
            <a:endParaRPr dirty="0"/>
          </a:p>
        </p:txBody>
      </p:sp>
      <p:sp>
        <p:nvSpPr>
          <p:cNvPr id="2800" name="Google Shape;2800;p268"/>
          <p:cNvSpPr txBox="1">
            <a:spLocks noGrp="1"/>
          </p:cNvSpPr>
          <p:nvPr>
            <p:ph type="body" idx="3"/>
          </p:nvPr>
        </p:nvSpPr>
        <p:spPr>
          <a:xfrm>
            <a:off x="7467376" y="3430568"/>
            <a:ext cx="4044900" cy="1151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autocontrole ao organizar dados em memória e revisar a lógica do programa com atenção aos critérios definidos.</a:t>
            </a:r>
            <a:endParaRPr dirty="0"/>
          </a:p>
        </p:txBody>
      </p:sp>
      <p:sp>
        <p:nvSpPr>
          <p:cNvPr id="2801" name="Google Shape;2801;p268"/>
          <p:cNvSpPr txBox="1">
            <a:spLocks noGrp="1"/>
          </p:cNvSpPr>
          <p:nvPr>
            <p:ph type="body" idx="4"/>
          </p:nvPr>
        </p:nvSpPr>
        <p:spPr>
          <a:xfrm>
            <a:off x="1467994" y="3428999"/>
            <a:ext cx="4044900" cy="8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269"/>
          <p:cNvSpPr txBox="1">
            <a:spLocks noGrp="1"/>
          </p:cNvSpPr>
          <p:nvPr>
            <p:ph type="body" idx="1"/>
          </p:nvPr>
        </p:nvSpPr>
        <p:spPr>
          <a:xfrm>
            <a:off x="3570000" y="1154045"/>
            <a:ext cx="7900800" cy="2612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Ao abrir uma janela de navegação privativa, tudo o que você pesquisa ou acessa fica disponível apenas enquanto ela permanece aberta. Quando a janela é fechada, essas informações desaparecem.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Segundo a Mozilla, esse tipo de navegação mantém os dados temporariamente na memória do computador e os descarta ao final da sessão.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07" name="Google Shape;2807;p269"/>
          <p:cNvSpPr txBox="1"/>
          <p:nvPr/>
        </p:nvSpPr>
        <p:spPr>
          <a:xfrm>
            <a:off x="3570000" y="436425"/>
            <a:ext cx="7900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Navegação sem deixar rastro</a:t>
            </a:r>
            <a:endParaRPr sz="32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808" name="Google Shape;2808;p269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2809" name="Google Shape;2809;p269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10" name="Google Shape;2810;p269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2811" name="Google Shape;2811;p269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2812" name="Google Shape;2812;p269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269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4" name="Google Shape;2814;p269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5" name="Google Shape;2815;p269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6" name="Google Shape;2816;p269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7" name="Google Shape;2817;p269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8" name="Google Shape;2818;p269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2819" name="Google Shape;2819;p269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269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821" name="Google Shape;2821;p269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r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" name="Google Shape;2806;p269">
            <a:extLst>
              <a:ext uri="{FF2B5EF4-FFF2-40B4-BE49-F238E27FC236}">
                <a16:creationId xmlns:a16="http://schemas.microsoft.com/office/drawing/2014/main" id="{3E326F08-B3A6-87AF-C8C8-B8AD08CB6C64}"/>
              </a:ext>
            </a:extLst>
          </p:cNvPr>
          <p:cNvSpPr txBox="1">
            <a:spLocks/>
          </p:cNvSpPr>
          <p:nvPr/>
        </p:nvSpPr>
        <p:spPr>
          <a:xfrm>
            <a:off x="3570000" y="3766930"/>
            <a:ext cx="2374133" cy="19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pt-BR" sz="1100" dirty="0">
                <a:solidFill>
                  <a:schemeClr val="dk1"/>
                </a:solidFill>
              </a:rPr>
              <a:t>Fonte: Mozilla, 2026. </a:t>
            </a:r>
          </a:p>
        </p:txBody>
      </p:sp>
      <p:sp>
        <p:nvSpPr>
          <p:cNvPr id="3" name="Google Shape;2806;p269">
            <a:extLst>
              <a:ext uri="{FF2B5EF4-FFF2-40B4-BE49-F238E27FC236}">
                <a16:creationId xmlns:a16="http://schemas.microsoft.com/office/drawing/2014/main" id="{CDE2F6DA-ED4C-0FF5-2533-60DD15C84490}"/>
              </a:ext>
            </a:extLst>
          </p:cNvPr>
          <p:cNvSpPr txBox="1">
            <a:spLocks/>
          </p:cNvSpPr>
          <p:nvPr/>
        </p:nvSpPr>
        <p:spPr>
          <a:xfrm>
            <a:off x="3570000" y="4232171"/>
            <a:ext cx="8622000" cy="121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pt-BR" sz="2200" b="1" dirty="0"/>
              <a:t>Se essas informações não são gravadas em arquivo, onde elas ficam enquanto o navegador está aberto? O que acontece com esses dados quando a janela é fechada?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0" name="Google Shape;2830;p270"/>
          <p:cNvSpPr txBox="1">
            <a:spLocks noGrp="1"/>
          </p:cNvSpPr>
          <p:nvPr>
            <p:ph type="body" idx="1"/>
          </p:nvPr>
        </p:nvSpPr>
        <p:spPr>
          <a:xfrm>
            <a:off x="2832629" y="783335"/>
            <a:ext cx="8512200" cy="593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Guardando dados na memória</a:t>
            </a:r>
            <a:endParaRPr sz="3200" dirty="0"/>
          </a:p>
        </p:txBody>
      </p:sp>
      <p:sp>
        <p:nvSpPr>
          <p:cNvPr id="2831" name="Google Shape;2831;p270"/>
          <p:cNvSpPr txBox="1"/>
          <p:nvPr/>
        </p:nvSpPr>
        <p:spPr>
          <a:xfrm>
            <a:off x="2832628" y="1377217"/>
            <a:ext cx="8786215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Enquanto um programa está em execução, ele pode guardar informações na memória do computador.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Esses dados ficam disponíveis apenas enquanto o programa está aberto.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o programa for encerrado sem salvar em um arquivo, todas essas informações são perdidas.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36;p4">
            <a:extLst>
              <a:ext uri="{FF2B5EF4-FFF2-40B4-BE49-F238E27FC236}">
                <a16:creationId xmlns:a16="http://schemas.microsoft.com/office/drawing/2014/main" id="{28AD2DDB-932D-35E7-776A-4E9510D0A963}"/>
              </a:ext>
            </a:extLst>
          </p:cNvPr>
          <p:cNvSpPr txBox="1"/>
          <p:nvPr/>
        </p:nvSpPr>
        <p:spPr>
          <a:xfrm>
            <a:off x="3164120" y="4334696"/>
            <a:ext cx="8454723" cy="1847386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spcBef>
                <a:spcPts val="1200"/>
              </a:spcBef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Exemplo: 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programa de agenda pode guardar os nomes dos contatos apenas enquanto está sendo utilizado. Ao fechar o programa sem salvar, todos esses contatos deixam de existir.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074AF24-4910-A3F1-C727-85BE85DCF51A}"/>
              </a:ext>
            </a:extLst>
          </p:cNvPr>
          <p:cNvGrpSpPr/>
          <p:nvPr/>
        </p:nvGrpSpPr>
        <p:grpSpPr>
          <a:xfrm>
            <a:off x="2832627" y="3967291"/>
            <a:ext cx="3484995" cy="728133"/>
            <a:chOff x="12518550" y="1441559"/>
            <a:chExt cx="5227493" cy="109220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BEB81F89-6D9B-F80A-15ED-7AD85ECF5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18550" y="1441559"/>
              <a:ext cx="5207000" cy="1092200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5F2A678D-CFAC-E190-96ED-C050D8ADA9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90124" y="1574173"/>
              <a:ext cx="749300" cy="723900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5B03BFF-7787-27D5-344F-55BA0D9372BA}"/>
                </a:ext>
              </a:extLst>
            </p:cNvPr>
            <p:cNvSpPr txBox="1"/>
            <p:nvPr/>
          </p:nvSpPr>
          <p:spPr>
            <a:xfrm>
              <a:off x="13963023" y="1780400"/>
              <a:ext cx="3783020" cy="3130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rtlCol="0" anchor="t" anchorCtr="0">
              <a:noAutofit/>
            </a:bodyPr>
            <a:lstStyle/>
            <a:p>
              <a:pPr algn="ctr"/>
              <a:r>
                <a:rPr lang="pt-BR" sz="1600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DESTAQUE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271"/>
          <p:cNvSpPr txBox="1">
            <a:spLocks noGrp="1"/>
          </p:cNvSpPr>
          <p:nvPr>
            <p:ph type="body" idx="1"/>
          </p:nvPr>
        </p:nvSpPr>
        <p:spPr>
          <a:xfrm>
            <a:off x="2832629" y="781668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Uma lista guarda vários dados juntos</a:t>
            </a:r>
            <a:endParaRPr sz="3200" dirty="0"/>
          </a:p>
        </p:txBody>
      </p:sp>
      <p:sp>
        <p:nvSpPr>
          <p:cNvPr id="2838" name="Google Shape;2838;p271"/>
          <p:cNvSpPr txBox="1"/>
          <p:nvPr/>
        </p:nvSpPr>
        <p:spPr>
          <a:xfrm>
            <a:off x="2832629" y="1460024"/>
            <a:ext cx="5787694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lista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é uma estrutura que permite guardar vários valores sob um único nome.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vez de criar uma variável para cada dado, o programa armazena todos os elementos na mesma lista.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Novos elementos podem ser adicionados conforme o programa é utilizado.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9" name="Google Shape;2839;p271"/>
          <p:cNvSpPr txBox="1"/>
          <p:nvPr/>
        </p:nvSpPr>
        <p:spPr>
          <a:xfrm>
            <a:off x="8627129" y="4809375"/>
            <a:ext cx="3270826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0" name="Google Shape;2840;p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7485" y="1525435"/>
            <a:ext cx="3220469" cy="2229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1" name="Google Shape;2841;p271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4292" y="4372398"/>
            <a:ext cx="3397462" cy="2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271"/>
          <p:cNvSpPr txBox="1"/>
          <p:nvPr/>
        </p:nvSpPr>
        <p:spPr>
          <a:xfrm>
            <a:off x="8627128" y="3906980"/>
            <a:ext cx="2549953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Poppins"/>
                <a:ea typeface="Poppins"/>
                <a:cs typeface="Poppins"/>
                <a:sym typeface="Poppins"/>
              </a:rPr>
              <a:t>Terminal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136;p4">
            <a:extLst>
              <a:ext uri="{FF2B5EF4-FFF2-40B4-BE49-F238E27FC236}">
                <a16:creationId xmlns:a16="http://schemas.microsoft.com/office/drawing/2014/main" id="{C5E4D649-8B99-B646-1B72-816FFD134320}"/>
              </a:ext>
            </a:extLst>
          </p:cNvPr>
          <p:cNvSpPr txBox="1"/>
          <p:nvPr/>
        </p:nvSpPr>
        <p:spPr>
          <a:xfrm>
            <a:off x="3159013" y="4607318"/>
            <a:ext cx="5352689" cy="1447277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lvl="0">
              <a:buSzPts val="2200"/>
            </a:pPr>
            <a:endParaRPr lang="pt-BR" sz="1800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2200"/>
            </a:pP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Observando o código apresentado, explique por que foi utilizada uma lista em vez de criar uma variável para cada contato.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34C1847-E24B-BA9A-E7D3-9DFF8F933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9435" y="4178033"/>
            <a:ext cx="3496733" cy="72813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84262D9-A1E2-E580-DBFE-BE7BFBCFF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418" y="4246102"/>
            <a:ext cx="618067" cy="5672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5366739-29C3-A473-34A7-3AB7EF3077AB}"/>
              </a:ext>
            </a:extLst>
          </p:cNvPr>
          <p:cNvSpPr txBox="1"/>
          <p:nvPr/>
        </p:nvSpPr>
        <p:spPr>
          <a:xfrm>
            <a:off x="3938765" y="4391671"/>
            <a:ext cx="2384764" cy="21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COM SUAS PALAVRAS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273"/>
          <p:cNvSpPr txBox="1">
            <a:spLocks noGrp="1"/>
          </p:cNvSpPr>
          <p:nvPr>
            <p:ph type="body" idx="1"/>
          </p:nvPr>
        </p:nvSpPr>
        <p:spPr>
          <a:xfrm>
            <a:off x="2832629" y="774056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Cada dado tem uma posição na lista</a:t>
            </a:r>
            <a:endParaRPr sz="3200" dirty="0"/>
          </a:p>
        </p:txBody>
      </p:sp>
      <p:sp>
        <p:nvSpPr>
          <p:cNvPr id="2858" name="Google Shape;2858;p273"/>
          <p:cNvSpPr txBox="1"/>
          <p:nvPr/>
        </p:nvSpPr>
        <p:spPr>
          <a:xfrm>
            <a:off x="2832629" y="1607585"/>
            <a:ext cx="4768073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elemento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armazenado em uma lista ocupa uma posição chamada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índice:</a:t>
            </a:r>
          </a:p>
          <a:p>
            <a:pPr marL="285750" lvl="0" indent="-28575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primeiro elemento está na posição 0;</a:t>
            </a:r>
          </a:p>
          <a:p>
            <a:pPr marL="285750" lvl="0" indent="-285750" algn="l" rtl="0">
              <a:spcAft>
                <a:spcPts val="6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segundo na posição 1;</a:t>
            </a:r>
          </a:p>
          <a:p>
            <a:pPr marL="285750" lvl="0" indent="-28575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 assim por diante.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Aft>
                <a:spcPts val="120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programa utiliza o índice para acessar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elemento específico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da lista.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9" name="Google Shape;2859;p273"/>
          <p:cNvSpPr txBox="1"/>
          <p:nvPr/>
        </p:nvSpPr>
        <p:spPr>
          <a:xfrm>
            <a:off x="7988597" y="5440298"/>
            <a:ext cx="32241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60" name="Google Shape;2860;p2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8597" y="3353505"/>
            <a:ext cx="3855874" cy="1204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1" name="Google Shape;2861;p2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8597" y="4958305"/>
            <a:ext cx="3855875" cy="48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862" name="Google Shape;2862;p273"/>
          <p:cNvSpPr txBox="1"/>
          <p:nvPr/>
        </p:nvSpPr>
        <p:spPr>
          <a:xfrm>
            <a:off x="7988597" y="4558087"/>
            <a:ext cx="362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Poppins"/>
                <a:ea typeface="Poppins"/>
                <a:cs typeface="Poppins"/>
                <a:sym typeface="Poppins"/>
              </a:rPr>
              <a:t>Terminal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863" name="Google Shape;2863;p273"/>
          <p:cNvGraphicFramePr/>
          <p:nvPr>
            <p:extLst>
              <p:ext uri="{D42A27DB-BD31-4B8C-83A1-F6EECF244321}">
                <p14:modId xmlns:p14="http://schemas.microsoft.com/office/powerpoint/2010/main" val="3938836073"/>
              </p:ext>
            </p:extLst>
          </p:nvPr>
        </p:nvGraphicFramePr>
        <p:xfrm>
          <a:off x="9045259" y="1557133"/>
          <a:ext cx="1742550" cy="1589470"/>
        </p:xfrm>
        <a:graphic>
          <a:graphicData uri="http://schemas.openxmlformats.org/drawingml/2006/table">
            <a:tbl>
              <a:tblPr>
                <a:noFill/>
                <a:tableStyleId>{182B9AFF-AD06-4EFA-B624-D5E4A2544751}</a:tableStyleId>
              </a:tblPr>
              <a:tblGrid>
                <a:gridCol w="78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Índice</a:t>
                      </a:r>
                      <a:endParaRPr b="1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b="1" dirty="0">
                          <a:solidFill>
                            <a:schemeClr val="bg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Valor</a:t>
                      </a:r>
                      <a:endParaRPr b="1" dirty="0">
                        <a:solidFill>
                          <a:schemeClr val="bg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81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Ana</a:t>
                      </a:r>
                      <a:endParaRPr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3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Bruno</a:t>
                      </a:r>
                      <a:endParaRPr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Carla</a:t>
                      </a:r>
                      <a:endParaRPr dirty="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274"/>
          <p:cNvSpPr txBox="1">
            <a:spLocks noGrp="1"/>
          </p:cNvSpPr>
          <p:nvPr>
            <p:ph type="body" idx="1"/>
          </p:nvPr>
        </p:nvSpPr>
        <p:spPr>
          <a:xfrm>
            <a:off x="2840341" y="764613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Sem arquivo, os dados não sobrevivem</a:t>
            </a:r>
            <a:endParaRPr sz="3200" dirty="0"/>
          </a:p>
        </p:txBody>
      </p:sp>
      <p:sp>
        <p:nvSpPr>
          <p:cNvPr id="2870" name="Google Shape;2870;p274"/>
          <p:cNvSpPr txBox="1"/>
          <p:nvPr/>
        </p:nvSpPr>
        <p:spPr>
          <a:xfrm>
            <a:off x="2840341" y="1354228"/>
            <a:ext cx="8746632" cy="2585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listas criadas durante a execução do programa existem apenas na memória.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encerrar o programa, todos os dados armazenados na lista são perdidos.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285750" lvl="0" indent="-285750" algn="l" rtl="0">
              <a:spcAft>
                <a:spcPts val="1200"/>
              </a:spcAft>
              <a:buBlip>
                <a:blip r:embed="rId3"/>
              </a:buBlip>
            </a:pPr>
            <a:r>
              <a:rPr lang="pt-BR" sz="18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Para utilizar essas informações novamente, será necessário cadastrá-las outra vez ou gravá-las em um arquivo, assunto que será estudado mais adiante.</a:t>
            </a:r>
            <a:endParaRPr sz="18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1" name="Google Shape;2871;p274"/>
          <p:cNvSpPr txBox="1"/>
          <p:nvPr/>
        </p:nvSpPr>
        <p:spPr>
          <a:xfrm>
            <a:off x="3197217" y="4366395"/>
            <a:ext cx="8279096" cy="1693498"/>
          </a:xfrm>
          <a:prstGeom prst="rect">
            <a:avLst/>
          </a:prstGeom>
          <a:solidFill>
            <a:srgbClr val="529AC2">
              <a:alpha val="49800"/>
            </a:srgbClr>
          </a:solidFill>
          <a:ln>
            <a:noFill/>
          </a:ln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Se você cadastrasse dez produtos em um programa e o computador fosse desligado antes de salvá-los, o que aconteceria com esse cadastro?</a:t>
            </a:r>
            <a:endParaRPr sz="220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7A7284C-57D3-9CEB-5A48-D4679D6A9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341" y="4007617"/>
            <a:ext cx="3471333" cy="7281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D4C43AD-7BE5-A79E-050A-C69E59113E70}"/>
              </a:ext>
            </a:extLst>
          </p:cNvPr>
          <p:cNvSpPr txBox="1"/>
          <p:nvPr/>
        </p:nvSpPr>
        <p:spPr>
          <a:xfrm>
            <a:off x="3995502" y="4243602"/>
            <a:ext cx="2166696" cy="231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5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PARA REFLETIR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A046E12E-A9D1-D850-8B23-EEC26449AE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1241" y="4091303"/>
            <a:ext cx="592667" cy="550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4D1FCC38-660A-02EA-C9B3-B056ABED5966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C7EA2D45-B5F8-DC9F-851D-BEFD23066C7D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36B49BC9-9553-68DF-4E80-6322B197DCE1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C9348E14-6BD4-1357-33BF-CC180964AE06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9750C3B-D405-B580-0654-E7F5DAEF6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0" y="1209900"/>
            <a:ext cx="7378703" cy="51540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solidFill>
                  <a:schemeClr val="lt1"/>
                </a:solidFill>
              </a:rPr>
              <a:t>O que acontece com uma lista criada apenas na memória quando o programa é encerrado?</a:t>
            </a:r>
          </a:p>
          <a:p>
            <a:pPr lvl="4"/>
            <a:endParaRPr lang="pt-BR" sz="3200" dirty="0"/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40D9303F-0657-E6D2-4352-6A83C83EF2A4}"/>
              </a:ext>
            </a:extLst>
          </p:cNvPr>
          <p:cNvSpPr txBox="1"/>
          <p:nvPr/>
        </p:nvSpPr>
        <p:spPr>
          <a:xfrm>
            <a:off x="3279980" y="4564197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copiada</a:t>
            </a:r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B30F271-3498-D5A4-79C6-693642042D8E}"/>
              </a:ext>
            </a:extLst>
          </p:cNvPr>
          <p:cNvSpPr txBox="1"/>
          <p:nvPr/>
        </p:nvSpPr>
        <p:spPr>
          <a:xfrm>
            <a:off x="7027723" y="4554713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compartilhada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ABA620DC-69AF-7B74-22BE-7462CA958E3F}"/>
              </a:ext>
            </a:extLst>
          </p:cNvPr>
          <p:cNvSpPr txBox="1"/>
          <p:nvPr/>
        </p:nvSpPr>
        <p:spPr>
          <a:xfrm>
            <a:off x="3241377" y="3390967"/>
            <a:ext cx="29054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18"/>
              </a:lnSpc>
              <a:buSzPts val="2767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salva</a:t>
            </a:r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32B59E54-585A-5342-A0C6-7CEF0F74353A}"/>
              </a:ext>
            </a:extLst>
          </p:cNvPr>
          <p:cNvSpPr txBox="1"/>
          <p:nvPr/>
        </p:nvSpPr>
        <p:spPr>
          <a:xfrm>
            <a:off x="7027723" y="3477640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apagada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348024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92563E71-D749-6574-713F-5DB05572C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D1B67C61-229D-EA1B-E4F5-3EC34E8F4236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265B114-0FF3-F649-71A1-18909D3DE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211D8805-60EC-745B-3686-57067D7BA564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587DFD14-3195-2C56-992A-1FD554B18273}"/>
              </a:ext>
            </a:extLst>
          </p:cNvPr>
          <p:cNvSpPr/>
          <p:nvPr/>
        </p:nvSpPr>
        <p:spPr>
          <a:xfrm>
            <a:off x="2448429" y="4434478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B01B2779-73C3-5E00-378F-B4C18215558E}"/>
              </a:ext>
            </a:extLst>
          </p:cNvPr>
          <p:cNvSpPr/>
          <p:nvPr/>
        </p:nvSpPr>
        <p:spPr>
          <a:xfrm>
            <a:off x="2437471" y="3361157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A2114C0F-4392-1E85-5948-AC41620AC6E5}"/>
              </a:ext>
            </a:extLst>
          </p:cNvPr>
          <p:cNvSpPr/>
          <p:nvPr/>
        </p:nvSpPr>
        <p:spPr>
          <a:xfrm>
            <a:off x="10212845" y="4416830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8717567D-60C2-AF69-CF3E-C7B983E45934}"/>
              </a:ext>
            </a:extLst>
          </p:cNvPr>
          <p:cNvSpPr/>
          <p:nvPr/>
        </p:nvSpPr>
        <p:spPr>
          <a:xfrm rot="-3043640">
            <a:off x="10270874" y="3447397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49;p64">
            <a:extLst>
              <a:ext uri="{FF2B5EF4-FFF2-40B4-BE49-F238E27FC236}">
                <a16:creationId xmlns:a16="http://schemas.microsoft.com/office/drawing/2014/main" id="{4CC18F6F-D512-B030-3B7F-7215702C7BC9}"/>
              </a:ext>
            </a:extLst>
          </p:cNvPr>
          <p:cNvSpPr/>
          <p:nvPr/>
        </p:nvSpPr>
        <p:spPr>
          <a:xfrm>
            <a:off x="3026388" y="322110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0;p64">
            <a:extLst>
              <a:ext uri="{FF2B5EF4-FFF2-40B4-BE49-F238E27FC236}">
                <a16:creationId xmlns:a16="http://schemas.microsoft.com/office/drawing/2014/main" id="{56A1343F-1331-08C3-F7AD-8503442488AF}"/>
              </a:ext>
            </a:extLst>
          </p:cNvPr>
          <p:cNvSpPr/>
          <p:nvPr/>
        </p:nvSpPr>
        <p:spPr>
          <a:xfrm>
            <a:off x="6738417" y="3207832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2BAF1D79-8B58-371F-48D5-A94743102C94}"/>
              </a:ext>
            </a:extLst>
          </p:cNvPr>
          <p:cNvSpPr/>
          <p:nvPr/>
        </p:nvSpPr>
        <p:spPr>
          <a:xfrm>
            <a:off x="3026388" y="431039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3;p64">
            <a:extLst>
              <a:ext uri="{FF2B5EF4-FFF2-40B4-BE49-F238E27FC236}">
                <a16:creationId xmlns:a16="http://schemas.microsoft.com/office/drawing/2014/main" id="{7CFBDA05-C886-AE76-F592-0C5CF3297079}"/>
              </a:ext>
            </a:extLst>
          </p:cNvPr>
          <p:cNvSpPr/>
          <p:nvPr/>
        </p:nvSpPr>
        <p:spPr>
          <a:xfrm>
            <a:off x="6738417" y="4297127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4632A5DF-7FE3-0CE9-1443-69B9F209BF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2070" y="1209900"/>
            <a:ext cx="7378703" cy="515408"/>
          </a:xfrm>
          <a:prstGeom prst="rect">
            <a:avLst/>
          </a:prstGeom>
        </p:spPr>
        <p:txBody>
          <a:bodyPr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200" dirty="0">
                <a:solidFill>
                  <a:schemeClr val="lt1"/>
                </a:solidFill>
              </a:rPr>
              <a:t>O que acontece com uma lista criada apenas na memória quando o programa é encerrado?</a:t>
            </a:r>
          </a:p>
        </p:txBody>
      </p:sp>
      <p:sp>
        <p:nvSpPr>
          <p:cNvPr id="25" name="Google Shape;852;p64">
            <a:extLst>
              <a:ext uri="{FF2B5EF4-FFF2-40B4-BE49-F238E27FC236}">
                <a16:creationId xmlns:a16="http://schemas.microsoft.com/office/drawing/2014/main" id="{B7677EB4-A34D-2F60-9849-25333F6AF76F}"/>
              </a:ext>
            </a:extLst>
          </p:cNvPr>
          <p:cNvSpPr txBox="1"/>
          <p:nvPr/>
        </p:nvSpPr>
        <p:spPr>
          <a:xfrm>
            <a:off x="3279980" y="4564197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copiada</a:t>
            </a:r>
          </a:p>
        </p:txBody>
      </p:sp>
      <p:sp>
        <p:nvSpPr>
          <p:cNvPr id="26" name="Google Shape;854;p64">
            <a:extLst>
              <a:ext uri="{FF2B5EF4-FFF2-40B4-BE49-F238E27FC236}">
                <a16:creationId xmlns:a16="http://schemas.microsoft.com/office/drawing/2014/main" id="{77A07B08-DCE9-85CE-4CB6-408F2C1B6874}"/>
              </a:ext>
            </a:extLst>
          </p:cNvPr>
          <p:cNvSpPr txBox="1"/>
          <p:nvPr/>
        </p:nvSpPr>
        <p:spPr>
          <a:xfrm>
            <a:off x="7027723" y="4554713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compartilhada</a:t>
            </a:r>
          </a:p>
        </p:txBody>
      </p:sp>
      <p:sp>
        <p:nvSpPr>
          <p:cNvPr id="27" name="Google Shape;855;p64">
            <a:extLst>
              <a:ext uri="{FF2B5EF4-FFF2-40B4-BE49-F238E27FC236}">
                <a16:creationId xmlns:a16="http://schemas.microsoft.com/office/drawing/2014/main" id="{29D0C953-5652-1074-8069-864C75B5980A}"/>
              </a:ext>
            </a:extLst>
          </p:cNvPr>
          <p:cNvSpPr txBox="1"/>
          <p:nvPr/>
        </p:nvSpPr>
        <p:spPr>
          <a:xfrm>
            <a:off x="3241377" y="3390967"/>
            <a:ext cx="29054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18"/>
              </a:lnSpc>
              <a:buSzPts val="2767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salva</a:t>
            </a:r>
          </a:p>
        </p:txBody>
      </p:sp>
      <p:sp>
        <p:nvSpPr>
          <p:cNvPr id="28" name="Google Shape;856;p64">
            <a:extLst>
              <a:ext uri="{FF2B5EF4-FFF2-40B4-BE49-F238E27FC236}">
                <a16:creationId xmlns:a16="http://schemas.microsoft.com/office/drawing/2014/main" id="{A551B1D0-24E9-7E97-70CA-DD815E5C6488}"/>
              </a:ext>
            </a:extLst>
          </p:cNvPr>
          <p:cNvSpPr txBox="1"/>
          <p:nvPr/>
        </p:nvSpPr>
        <p:spPr>
          <a:xfrm>
            <a:off x="7027723" y="3477640"/>
            <a:ext cx="287415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É apagada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032341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277"/>
          <p:cNvSpPr txBox="1"/>
          <p:nvPr/>
        </p:nvSpPr>
        <p:spPr>
          <a:xfrm>
            <a:off x="2804953" y="757005"/>
            <a:ext cx="8512200" cy="546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Criando a lista de produtos</a:t>
            </a:r>
            <a:endParaRPr sz="3200" dirty="0"/>
          </a:p>
        </p:txBody>
      </p:sp>
      <p:sp>
        <p:nvSpPr>
          <p:cNvPr id="2934" name="Google Shape;2934;p277"/>
          <p:cNvSpPr txBox="1"/>
          <p:nvPr/>
        </p:nvSpPr>
        <p:spPr>
          <a:xfrm>
            <a:off x="2804953" y="1428430"/>
            <a:ext cx="8874740" cy="1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sistema da Papelaria Ponto Certo já possui um menu com as opções de cadastro e consulta. Agora, ele precisa armazenar os produtos cadastrados em uma lista enquanto o programa estiver em execução. Pensando nisso:</a:t>
            </a:r>
          </a:p>
          <a:p>
            <a:pPr marL="0" lvl="0" indent="0" algn="l" rtl="0"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5" name="Google Shape;2935;p277"/>
          <p:cNvSpPr txBox="1"/>
          <p:nvPr/>
        </p:nvSpPr>
        <p:spPr>
          <a:xfrm>
            <a:off x="9072468" y="3542092"/>
            <a:ext cx="3024252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7C3FF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>
                <a:solidFill>
                  <a:srgbClr val="F0F0F0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dirty="0">
                <a:solidFill>
                  <a:srgbClr val="F0F0F0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[]</a:t>
            </a:r>
            <a:endParaRPr dirty="0">
              <a:solidFill>
                <a:srgbClr val="D6D6DD"/>
              </a:solidFill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rgbClr val="87C3FF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 err="1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dirty="0" err="1">
                <a:solidFill>
                  <a:srgbClr val="EBC88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E394DC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rgbClr val="D6D6DD"/>
              </a:solidFill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rgbClr val="87C3FF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 err="1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dirty="0" err="1">
                <a:solidFill>
                  <a:srgbClr val="EBC88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E394DC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rgbClr val="D6D6DD"/>
              </a:solidFill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>
                <a:solidFill>
                  <a:srgbClr val="87C3FF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 err="1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lang="pt-BR" dirty="0" err="1">
                <a:solidFill>
                  <a:srgbClr val="EBC88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E394DC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"Borracha"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rgbClr val="D6D6DD"/>
              </a:solidFill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rgbClr val="82D2CE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dirty="0">
                <a:solidFill>
                  <a:srgbClr val="87C3FF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dirty="0">
                <a:solidFill>
                  <a:srgbClr val="D6D6DD"/>
                </a:solidFill>
                <a:highlight>
                  <a:schemeClr val="dk1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>
              <a:solidFill>
                <a:srgbClr val="D6D6DD"/>
              </a:solidFill>
              <a:highlight>
                <a:schemeClr val="dk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859;p273">
            <a:extLst>
              <a:ext uri="{FF2B5EF4-FFF2-40B4-BE49-F238E27FC236}">
                <a16:creationId xmlns:a16="http://schemas.microsoft.com/office/drawing/2014/main" id="{5D5250EE-CB95-374C-3EE0-7459D45FCFB6}"/>
              </a:ext>
            </a:extLst>
          </p:cNvPr>
          <p:cNvSpPr txBox="1"/>
          <p:nvPr/>
        </p:nvSpPr>
        <p:spPr>
          <a:xfrm>
            <a:off x="2821757" y="2776311"/>
            <a:ext cx="3224100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Situação fictícia produzida pela SEDUC-SP.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610;p16">
            <a:extLst>
              <a:ext uri="{FF2B5EF4-FFF2-40B4-BE49-F238E27FC236}">
                <a16:creationId xmlns:a16="http://schemas.microsoft.com/office/drawing/2014/main" id="{F909397B-A301-98A9-D5EA-9C958B7457EC}"/>
              </a:ext>
            </a:extLst>
          </p:cNvPr>
          <p:cNvSpPr/>
          <p:nvPr/>
        </p:nvSpPr>
        <p:spPr>
          <a:xfrm rot="10800000" flipH="1">
            <a:off x="2897173" y="3215768"/>
            <a:ext cx="5968047" cy="2393211"/>
          </a:xfrm>
          <a:prstGeom prst="foldedCorner">
            <a:avLst>
              <a:gd name="adj" fmla="val 16667"/>
            </a:avLst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  <a:highlight>
                <a:srgbClr val="E28099"/>
              </a:highlight>
            </a:endParaRP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6BF49E0D-FB58-AA39-FC46-81F1A3776240}"/>
              </a:ext>
            </a:extLst>
          </p:cNvPr>
          <p:cNvSpPr txBox="1">
            <a:spLocks/>
          </p:cNvSpPr>
          <p:nvPr/>
        </p:nvSpPr>
        <p:spPr>
          <a:xfrm>
            <a:off x="2998499" y="3490368"/>
            <a:ext cx="5765394" cy="211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spcAft>
                <a:spcPts val="600"/>
              </a:spcAft>
              <a:buClr>
                <a:schemeClr val="bg1"/>
              </a:buClr>
              <a:buSzPct val="100000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Digite o código proposto e execute o programa; </a:t>
            </a:r>
          </a:p>
          <a:p>
            <a:pPr marL="342900" indent="-342900">
              <a:spcAft>
                <a:spcPts val="600"/>
              </a:spcAft>
              <a:buClr>
                <a:schemeClr val="bg1"/>
              </a:buClr>
              <a:buSzPct val="100000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Adicione um quarto produto à lista;</a:t>
            </a:r>
          </a:p>
          <a:p>
            <a:pPr marL="342900" indent="-342900">
              <a:spcAft>
                <a:spcPts val="600"/>
              </a:spcAft>
              <a:buClr>
                <a:schemeClr val="bg1"/>
              </a:buClr>
              <a:buSzPct val="100000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Execute novamente o programa;</a:t>
            </a:r>
          </a:p>
          <a:p>
            <a:pPr marL="342900" indent="-342900">
              <a:spcAft>
                <a:spcPts val="600"/>
              </a:spcAft>
              <a:buClr>
                <a:schemeClr val="bg1"/>
              </a:buClr>
              <a:buSzPct val="100000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Altere a ordem dos produtos e observe o resultado;</a:t>
            </a:r>
          </a:p>
          <a:p>
            <a:pPr marL="342900" indent="-342900">
              <a:spcAft>
                <a:spcPts val="600"/>
              </a:spcAft>
              <a:buClr>
                <a:schemeClr val="bg1"/>
              </a:buClr>
              <a:buSzPct val="100000"/>
              <a:buAutoNum type="arabicPeriod"/>
            </a:pP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Remova um dos comandos </a:t>
            </a:r>
            <a:r>
              <a:rPr lang="pt-BR" sz="1600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append</a:t>
            </a:r>
            <a:r>
              <a:rPr lang="pt-BR" sz="1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() e execute novamente.</a:t>
            </a:r>
          </a:p>
          <a:p>
            <a:pPr marL="40204" indent="-285750">
              <a:spcAft>
                <a:spcPts val="6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Google Shape;3223;p298">
            <a:extLst>
              <a:ext uri="{FF2B5EF4-FFF2-40B4-BE49-F238E27FC236}">
                <a16:creationId xmlns:a16="http://schemas.microsoft.com/office/drawing/2014/main" id="{F18D26B7-7D55-E749-6F34-5F6CF3D57046}"/>
              </a:ext>
            </a:extLst>
          </p:cNvPr>
          <p:cNvSpPr txBox="1"/>
          <p:nvPr/>
        </p:nvSpPr>
        <p:spPr>
          <a:xfrm>
            <a:off x="9081276" y="4984165"/>
            <a:ext cx="284672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oogle Shape;3286;p302">
            <a:extLst>
              <a:ext uri="{FF2B5EF4-FFF2-40B4-BE49-F238E27FC236}">
                <a16:creationId xmlns:a16="http://schemas.microsoft.com/office/drawing/2014/main" id="{F4210BBE-9D93-D4C3-9CDB-5BF6BD9E8743}"/>
              </a:ext>
            </a:extLst>
          </p:cNvPr>
          <p:cNvGrpSpPr/>
          <p:nvPr/>
        </p:nvGrpSpPr>
        <p:grpSpPr>
          <a:xfrm>
            <a:off x="464700" y="4726096"/>
            <a:ext cx="284760" cy="286054"/>
            <a:chOff x="11797069" y="2783619"/>
            <a:chExt cx="427118" cy="429059"/>
          </a:xfrm>
        </p:grpSpPr>
        <p:sp>
          <p:nvSpPr>
            <p:cNvPr id="7" name="Google Shape;3287;p302">
              <a:extLst>
                <a:ext uri="{FF2B5EF4-FFF2-40B4-BE49-F238E27FC236}">
                  <a16:creationId xmlns:a16="http://schemas.microsoft.com/office/drawing/2014/main" id="{09E0F46C-E891-1821-AA22-8EBE2738C845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288;p302">
              <a:extLst>
                <a:ext uri="{FF2B5EF4-FFF2-40B4-BE49-F238E27FC236}">
                  <a16:creationId xmlns:a16="http://schemas.microsoft.com/office/drawing/2014/main" id="{7388B651-E93F-7CE7-F34E-3F633DE913C8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289;p302">
              <a:extLst>
                <a:ext uri="{FF2B5EF4-FFF2-40B4-BE49-F238E27FC236}">
                  <a16:creationId xmlns:a16="http://schemas.microsoft.com/office/drawing/2014/main" id="{50F18AC7-2C27-9CD8-489E-4D7F023151F9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290;p302">
              <a:extLst>
                <a:ext uri="{FF2B5EF4-FFF2-40B4-BE49-F238E27FC236}">
                  <a16:creationId xmlns:a16="http://schemas.microsoft.com/office/drawing/2014/main" id="{CBBA6AC8-BB06-5687-02E4-E0FADFE6B0F6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" name="Google Shape;3291;p302">
              <a:extLst>
                <a:ext uri="{FF2B5EF4-FFF2-40B4-BE49-F238E27FC236}">
                  <a16:creationId xmlns:a16="http://schemas.microsoft.com/office/drawing/2014/main" id="{1473DC60-10E4-A4B7-BAFD-B85B9FF318F6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</p:grpSpPr>
          <p:sp>
            <p:nvSpPr>
              <p:cNvPr id="12" name="Google Shape;3292;p302">
                <a:extLst>
                  <a:ext uri="{FF2B5EF4-FFF2-40B4-BE49-F238E27FC236}">
                    <a16:creationId xmlns:a16="http://schemas.microsoft.com/office/drawing/2014/main" id="{828CCF34-25D8-0513-4DF6-B1B1CD59A848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3293;p302">
                <a:extLst>
                  <a:ext uri="{FF2B5EF4-FFF2-40B4-BE49-F238E27FC236}">
                    <a16:creationId xmlns:a16="http://schemas.microsoft.com/office/drawing/2014/main" id="{3F6EFE90-D7A5-ABFA-B0AC-49A48FF4B312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3294;p302">
                <a:extLst>
                  <a:ext uri="{FF2B5EF4-FFF2-40B4-BE49-F238E27FC236}">
                    <a16:creationId xmlns:a16="http://schemas.microsoft.com/office/drawing/2014/main" id="{AB0263FB-A306-D3BB-034A-E30BA61C1E3C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3295;p302">
                <a:extLst>
                  <a:ext uri="{FF2B5EF4-FFF2-40B4-BE49-F238E27FC236}">
                    <a16:creationId xmlns:a16="http://schemas.microsoft.com/office/drawing/2014/main" id="{3E573527-8001-C22B-7E4D-E343D4FAEBC6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3296;p302">
                <a:extLst>
                  <a:ext uri="{FF2B5EF4-FFF2-40B4-BE49-F238E27FC236}">
                    <a16:creationId xmlns:a16="http://schemas.microsoft.com/office/drawing/2014/main" id="{71FE303C-8A82-4584-03DB-2DCFE110BC1B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3297;p302">
                <a:extLst>
                  <a:ext uri="{FF2B5EF4-FFF2-40B4-BE49-F238E27FC236}">
                    <a16:creationId xmlns:a16="http://schemas.microsoft.com/office/drawing/2014/main" id="{22C50FBB-8BB5-D92F-46E1-9B25F34281AA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3298;p302">
                <a:extLst>
                  <a:ext uri="{FF2B5EF4-FFF2-40B4-BE49-F238E27FC236}">
                    <a16:creationId xmlns:a16="http://schemas.microsoft.com/office/drawing/2014/main" id="{6E4898EE-CF1F-17A5-6F9B-F77541219BFF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3299;p302">
                <a:extLst>
                  <a:ext uri="{FF2B5EF4-FFF2-40B4-BE49-F238E27FC236}">
                    <a16:creationId xmlns:a16="http://schemas.microsoft.com/office/drawing/2014/main" id="{0B896224-4EDD-A1BB-FC8F-94964CB97C2E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3300;p302">
                <a:extLst>
                  <a:ext uri="{FF2B5EF4-FFF2-40B4-BE49-F238E27FC236}">
                    <a16:creationId xmlns:a16="http://schemas.microsoft.com/office/drawing/2014/main" id="{3B7B5D32-DB45-CC27-B500-BE43E5D9AF48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3301;p302">
                <a:extLst>
                  <a:ext uri="{FF2B5EF4-FFF2-40B4-BE49-F238E27FC236}">
                    <a16:creationId xmlns:a16="http://schemas.microsoft.com/office/drawing/2014/main" id="{EADA7404-2EAD-F2E5-3A05-3F87CC995B3A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84" name="Google Shape;3316;p302">
            <a:extLst>
              <a:ext uri="{FF2B5EF4-FFF2-40B4-BE49-F238E27FC236}">
                <a16:creationId xmlns:a16="http://schemas.microsoft.com/office/drawing/2014/main" id="{51C1B5BE-318F-E394-127C-BDBAF2EC4272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Individual</a:t>
            </a:r>
            <a:endParaRPr lang="pt-BR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5" name="Google Shape;3317;p302">
            <a:extLst>
              <a:ext uri="{FF2B5EF4-FFF2-40B4-BE49-F238E27FC236}">
                <a16:creationId xmlns:a16="http://schemas.microsoft.com/office/drawing/2014/main" id="{9A55FD32-69D0-AD2A-34F5-2D6DD7BAF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8473" y="4765206"/>
            <a:ext cx="1447284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a  aula</a:t>
            </a:r>
            <a:endParaRPr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56E445C7-061D-619B-C82C-4809988A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03" y="5817678"/>
            <a:ext cx="1744133" cy="406400"/>
          </a:xfrm>
          <a:prstGeom prst="rect">
            <a:avLst/>
          </a:prstGeom>
        </p:spPr>
      </p:pic>
      <p:grpSp>
        <p:nvGrpSpPr>
          <p:cNvPr id="37" name="Gráfico 85">
            <a:extLst>
              <a:ext uri="{FF2B5EF4-FFF2-40B4-BE49-F238E27FC236}">
                <a16:creationId xmlns:a16="http://schemas.microsoft.com/office/drawing/2014/main" id="{79AC6A90-1170-14DF-F1B3-4BAD0AD70B69}"/>
              </a:ext>
            </a:extLst>
          </p:cNvPr>
          <p:cNvGrpSpPr/>
          <p:nvPr/>
        </p:nvGrpSpPr>
        <p:grpSpPr>
          <a:xfrm>
            <a:off x="10618829" y="5901925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38" name="Forma Livre 150">
              <a:extLst>
                <a:ext uri="{FF2B5EF4-FFF2-40B4-BE49-F238E27FC236}">
                  <a16:creationId xmlns:a16="http://schemas.microsoft.com/office/drawing/2014/main" id="{6E62E674-A900-6A82-4F2B-72EDD909F9D9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39" name="Forma Livre 151">
              <a:extLst>
                <a:ext uri="{FF2B5EF4-FFF2-40B4-BE49-F238E27FC236}">
                  <a16:creationId xmlns:a16="http://schemas.microsoft.com/office/drawing/2014/main" id="{3B083FAC-CEF5-2468-3F63-B850483559F2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0" name="Forma Livre 152">
              <a:extLst>
                <a:ext uri="{FF2B5EF4-FFF2-40B4-BE49-F238E27FC236}">
                  <a16:creationId xmlns:a16="http://schemas.microsoft.com/office/drawing/2014/main" id="{B90C5383-D863-ACAE-5A57-19635C1DB3FE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1" name="Forma Livre 153">
              <a:extLst>
                <a:ext uri="{FF2B5EF4-FFF2-40B4-BE49-F238E27FC236}">
                  <a16:creationId xmlns:a16="http://schemas.microsoft.com/office/drawing/2014/main" id="{832A8C68-F7B9-F379-A2D6-3722BE896EEB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2" name="Forma Livre 154">
              <a:extLst>
                <a:ext uri="{FF2B5EF4-FFF2-40B4-BE49-F238E27FC236}">
                  <a16:creationId xmlns:a16="http://schemas.microsoft.com/office/drawing/2014/main" id="{F46ECC55-236F-4C6C-4511-96EE4CD30C48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3" name="Forma Livre 155">
              <a:extLst>
                <a:ext uri="{FF2B5EF4-FFF2-40B4-BE49-F238E27FC236}">
                  <a16:creationId xmlns:a16="http://schemas.microsoft.com/office/drawing/2014/main" id="{DDD88354-3711-B981-840A-3C56324AA1DE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4" name="Forma Livre 156">
              <a:extLst>
                <a:ext uri="{FF2B5EF4-FFF2-40B4-BE49-F238E27FC236}">
                  <a16:creationId xmlns:a16="http://schemas.microsoft.com/office/drawing/2014/main" id="{ED2B5D0E-315F-FD7D-9CD3-713835CB5D45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5" name="Forma Livre 157">
              <a:extLst>
                <a:ext uri="{FF2B5EF4-FFF2-40B4-BE49-F238E27FC236}">
                  <a16:creationId xmlns:a16="http://schemas.microsoft.com/office/drawing/2014/main" id="{A1B5C43F-D74C-D2DD-F452-D7179226FC11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pic>
        <p:nvPicPr>
          <p:cNvPr id="47" name="Gráfico 46">
            <a:extLst>
              <a:ext uri="{FF2B5EF4-FFF2-40B4-BE49-F238E27FC236}">
                <a16:creationId xmlns:a16="http://schemas.microsoft.com/office/drawing/2014/main" id="{2837CAB9-01E5-330F-50B2-10DC688B3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95" y="5164457"/>
            <a:ext cx="33655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278"/>
          <p:cNvSpPr txBox="1"/>
          <p:nvPr/>
        </p:nvSpPr>
        <p:spPr>
          <a:xfrm>
            <a:off x="2804953" y="1444050"/>
            <a:ext cx="9179524" cy="4227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seguida, responda: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6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Quantos produtos foram exibidos na primeira execução?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6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é o índice do primeiro produto?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6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 passou a ser o índice do último produto depois da inclusão?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6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aconteceu quando um dos comandos </a:t>
            </a:r>
            <a:r>
              <a:rPr lang="pt-BR" sz="2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 foi removido?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que mudou quando você alterou a ordem dos produtos?</a:t>
            </a:r>
          </a:p>
          <a:p>
            <a:pPr lvl="0" algn="l" rtl="0">
              <a:spcAft>
                <a:spcPts val="1200"/>
              </a:spcAft>
              <a:buClr>
                <a:schemeClr val="dk1"/>
              </a:buClr>
              <a:buSzPts val="2100"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finalizar, compartilhe a resolução conforme orientação do professor. 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" name="Google Shape;3286;p302">
            <a:extLst>
              <a:ext uri="{FF2B5EF4-FFF2-40B4-BE49-F238E27FC236}">
                <a16:creationId xmlns:a16="http://schemas.microsoft.com/office/drawing/2014/main" id="{6BAAC22B-BCD7-EC83-46FC-85377F780D51}"/>
              </a:ext>
            </a:extLst>
          </p:cNvPr>
          <p:cNvGrpSpPr/>
          <p:nvPr/>
        </p:nvGrpSpPr>
        <p:grpSpPr>
          <a:xfrm>
            <a:off x="464700" y="4726096"/>
            <a:ext cx="284760" cy="286054"/>
            <a:chOff x="11797069" y="2783619"/>
            <a:chExt cx="427118" cy="429059"/>
          </a:xfrm>
        </p:grpSpPr>
        <p:sp>
          <p:nvSpPr>
            <p:cNvPr id="35" name="Google Shape;3287;p302">
              <a:extLst>
                <a:ext uri="{FF2B5EF4-FFF2-40B4-BE49-F238E27FC236}">
                  <a16:creationId xmlns:a16="http://schemas.microsoft.com/office/drawing/2014/main" id="{F0DD0E30-C486-5C9C-262F-6E49E6C59EC2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288;p302">
              <a:extLst>
                <a:ext uri="{FF2B5EF4-FFF2-40B4-BE49-F238E27FC236}">
                  <a16:creationId xmlns:a16="http://schemas.microsoft.com/office/drawing/2014/main" id="{06AA99F9-699D-3292-FEB2-CAA179DC6E4A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289;p302">
              <a:extLst>
                <a:ext uri="{FF2B5EF4-FFF2-40B4-BE49-F238E27FC236}">
                  <a16:creationId xmlns:a16="http://schemas.microsoft.com/office/drawing/2014/main" id="{10004C28-9E0D-65F4-D750-74F4368433B6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290;p302">
              <a:extLst>
                <a:ext uri="{FF2B5EF4-FFF2-40B4-BE49-F238E27FC236}">
                  <a16:creationId xmlns:a16="http://schemas.microsoft.com/office/drawing/2014/main" id="{2502EED6-E6F9-EDDE-2E1D-2699B52A4D2D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no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" name="Google Shape;3291;p302">
              <a:extLst>
                <a:ext uri="{FF2B5EF4-FFF2-40B4-BE49-F238E27FC236}">
                  <a16:creationId xmlns:a16="http://schemas.microsoft.com/office/drawing/2014/main" id="{A890D391-F868-15EE-F1D2-B2BE921E2715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</p:grpSpPr>
          <p:sp>
            <p:nvSpPr>
              <p:cNvPr id="40" name="Google Shape;3292;p302">
                <a:extLst>
                  <a:ext uri="{FF2B5EF4-FFF2-40B4-BE49-F238E27FC236}">
                    <a16:creationId xmlns:a16="http://schemas.microsoft.com/office/drawing/2014/main" id="{254FD564-4F72-0A96-9DFC-B697DAED2BE9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3293;p302">
                <a:extLst>
                  <a:ext uri="{FF2B5EF4-FFF2-40B4-BE49-F238E27FC236}">
                    <a16:creationId xmlns:a16="http://schemas.microsoft.com/office/drawing/2014/main" id="{035A501C-9F6B-483C-CF7F-6481D746FF09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3294;p302">
                <a:extLst>
                  <a:ext uri="{FF2B5EF4-FFF2-40B4-BE49-F238E27FC236}">
                    <a16:creationId xmlns:a16="http://schemas.microsoft.com/office/drawing/2014/main" id="{B63D30E8-1575-D4FE-4194-9CED130BD69F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3295;p302">
                <a:extLst>
                  <a:ext uri="{FF2B5EF4-FFF2-40B4-BE49-F238E27FC236}">
                    <a16:creationId xmlns:a16="http://schemas.microsoft.com/office/drawing/2014/main" id="{D189C638-D62D-2840-2B2B-D595D4C93DCE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3296;p302">
                <a:extLst>
                  <a:ext uri="{FF2B5EF4-FFF2-40B4-BE49-F238E27FC236}">
                    <a16:creationId xmlns:a16="http://schemas.microsoft.com/office/drawing/2014/main" id="{BFC81DC1-FAB1-845A-2C08-955CE9251EE2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3297;p302">
                <a:extLst>
                  <a:ext uri="{FF2B5EF4-FFF2-40B4-BE49-F238E27FC236}">
                    <a16:creationId xmlns:a16="http://schemas.microsoft.com/office/drawing/2014/main" id="{304269DB-5DB1-A87A-9695-DBF250FE9072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3298;p302">
                <a:extLst>
                  <a:ext uri="{FF2B5EF4-FFF2-40B4-BE49-F238E27FC236}">
                    <a16:creationId xmlns:a16="http://schemas.microsoft.com/office/drawing/2014/main" id="{D4EA8AC9-A644-6E98-058A-60DE599F25AC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3299;p302">
                <a:extLst>
                  <a:ext uri="{FF2B5EF4-FFF2-40B4-BE49-F238E27FC236}">
                    <a16:creationId xmlns:a16="http://schemas.microsoft.com/office/drawing/2014/main" id="{D4699ACD-71C5-A65F-A548-14CDCCA9B83E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3300;p302">
                <a:extLst>
                  <a:ext uri="{FF2B5EF4-FFF2-40B4-BE49-F238E27FC236}">
                    <a16:creationId xmlns:a16="http://schemas.microsoft.com/office/drawing/2014/main" id="{25179580-91FB-3149-5C86-B97D5B85561D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3301;p302">
                <a:extLst>
                  <a:ext uri="{FF2B5EF4-FFF2-40B4-BE49-F238E27FC236}">
                    <a16:creationId xmlns:a16="http://schemas.microsoft.com/office/drawing/2014/main" id="{387B681E-AEFD-CCE9-A4F5-28554D3DAC56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50" rIns="60950" bIns="30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80" name="Google Shape;3316;p302">
            <a:extLst>
              <a:ext uri="{FF2B5EF4-FFF2-40B4-BE49-F238E27FC236}">
                <a16:creationId xmlns:a16="http://schemas.microsoft.com/office/drawing/2014/main" id="{AB91C18B-DDA6-E874-8C08-2B32C8189249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1100" b="1" dirty="0">
                <a:latin typeface="Poppins" panose="00000500000000000000" pitchFamily="2" charset="0"/>
                <a:cs typeface="Poppins" panose="00000500000000000000" pitchFamily="2" charset="0"/>
              </a:rPr>
              <a:t>Individual</a:t>
            </a:r>
            <a:endParaRPr lang="pt-BR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1" name="Google Shape;3317;p302">
            <a:extLst>
              <a:ext uri="{FF2B5EF4-FFF2-40B4-BE49-F238E27FC236}">
                <a16:creationId xmlns:a16="http://schemas.microsoft.com/office/drawing/2014/main" id="{6AB499B4-DD5C-D7D3-6BCA-4F2C392DD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78473" y="4765206"/>
            <a:ext cx="1447284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11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Durante a  aula</a:t>
            </a:r>
            <a:endParaRPr dirty="0"/>
          </a:p>
        </p:txBody>
      </p:sp>
      <p:sp>
        <p:nvSpPr>
          <p:cNvPr id="2" name="Google Shape;2922;p277">
            <a:extLst>
              <a:ext uri="{FF2B5EF4-FFF2-40B4-BE49-F238E27FC236}">
                <a16:creationId xmlns:a16="http://schemas.microsoft.com/office/drawing/2014/main" id="{32B60B0E-C8E8-1B93-6EB3-14DE102F0162}"/>
              </a:ext>
            </a:extLst>
          </p:cNvPr>
          <p:cNvSpPr txBox="1"/>
          <p:nvPr/>
        </p:nvSpPr>
        <p:spPr>
          <a:xfrm>
            <a:off x="2804953" y="757005"/>
            <a:ext cx="8512200" cy="546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Criando a lista de produtos</a:t>
            </a:r>
            <a:endParaRPr sz="3200" dirty="0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8DA91DC4-6BBE-A408-3AB7-C7F3A8E7C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95" y="5164457"/>
            <a:ext cx="336550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279"/>
          <p:cNvSpPr txBox="1"/>
          <p:nvPr/>
        </p:nvSpPr>
        <p:spPr>
          <a:xfrm>
            <a:off x="2832629" y="757005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 de resposta</a:t>
            </a:r>
            <a:endParaRPr sz="3200" dirty="0"/>
          </a:p>
        </p:txBody>
      </p:sp>
      <p:sp>
        <p:nvSpPr>
          <p:cNvPr id="2947" name="Google Shape;2947;p279"/>
          <p:cNvSpPr txBox="1"/>
          <p:nvPr/>
        </p:nvSpPr>
        <p:spPr>
          <a:xfrm>
            <a:off x="2832629" y="1780513"/>
            <a:ext cx="8762741" cy="329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Quantidade de produtos na primeira execução: 3.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Índice do primeiro produto: 0.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Índice do último produto após a inclusão: 3.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remover um </a:t>
            </a:r>
            <a:r>
              <a:rPr lang="pt-BR" sz="2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(), a lista passa a ter um elemento a menos.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60000" lvl="0" indent="-360000" algn="l" rtl="0">
              <a:spcAft>
                <a:spcPts val="1200"/>
              </a:spcAft>
              <a:buClr>
                <a:schemeClr val="dk1"/>
              </a:buClr>
              <a:buSzPts val="2100"/>
              <a:buBlip>
                <a:blip r:embed="rId3"/>
              </a:buBlip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alterar a ordem dos </a:t>
            </a:r>
            <a:r>
              <a:rPr lang="pt-BR" sz="2200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(), a ordem dos produtos na lista também muda.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2" name="Google Shape;2952;p280" title="diagrama (1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273" y="256872"/>
            <a:ext cx="3966941" cy="6029745"/>
          </a:xfrm>
          <a:prstGeom prst="rect">
            <a:avLst/>
          </a:prstGeom>
          <a:noFill/>
          <a:ln>
            <a:noFill/>
          </a:ln>
        </p:spPr>
      </p:pic>
      <p:sp>
        <p:nvSpPr>
          <p:cNvPr id="2953" name="Google Shape;2953;p280"/>
          <p:cNvSpPr txBox="1"/>
          <p:nvPr/>
        </p:nvSpPr>
        <p:spPr>
          <a:xfrm>
            <a:off x="5777315" y="6223516"/>
            <a:ext cx="4573316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latin typeface="Poppins"/>
                <a:ea typeface="Poppins"/>
                <a:cs typeface="Poppins"/>
                <a:sym typeface="Poppins"/>
              </a:rPr>
              <a:t>Produzido pela SEDUC-SP com apoio da ferramenta ChatGPT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281"/>
          <p:cNvSpPr txBox="1">
            <a:spLocks noGrp="1"/>
          </p:cNvSpPr>
          <p:nvPr>
            <p:ph type="body" idx="1"/>
          </p:nvPr>
        </p:nvSpPr>
        <p:spPr>
          <a:xfrm>
            <a:off x="5636660" y="1786467"/>
            <a:ext cx="5779200" cy="2007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b="1" dirty="0"/>
              <a:t>Explore a documentação oficial do Python para conhecer outras operações com listas, como adicionar, remover e acessar elementos: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PYTHON. 3.14.7 </a:t>
            </a:r>
            <a:r>
              <a:rPr lang="pt-BR" sz="1800" dirty="0" err="1"/>
              <a:t>Documentation</a:t>
            </a:r>
            <a:r>
              <a:rPr lang="pt-BR" sz="1800" dirty="0"/>
              <a:t>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https://docs.python.org/pt-br/3/tutorial/datastructures.html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/>
              <a:t> </a:t>
            </a:r>
            <a:br>
              <a:rPr lang="pt-BR" sz="1800" dirty="0"/>
            </a:br>
            <a:r>
              <a:rPr lang="pt-BR" sz="1800" dirty="0"/>
              <a:t>Acesso em: 12 ago. 2026. 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dirty="0"/>
          </a:p>
        </p:txBody>
      </p:sp>
      <p:sp>
        <p:nvSpPr>
          <p:cNvPr id="2959" name="Google Shape;2959;p281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4" name="Google Shape;2964;p282"/>
          <p:cNvSpPr txBox="1">
            <a:spLocks noGrp="1"/>
          </p:cNvSpPr>
          <p:nvPr>
            <p:ph type="body" idx="1"/>
          </p:nvPr>
        </p:nvSpPr>
        <p:spPr>
          <a:xfrm>
            <a:off x="566660" y="1616959"/>
            <a:ext cx="10820919" cy="2238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MOZILLA. Navegação privativa - Use o Firefox sem salvar o histórico. 2026.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https://support.mozilla.org/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pt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-BR/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kb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/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navegacao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-privativa-use-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firefox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-</a:t>
            </a:r>
            <a:r>
              <a:rPr lang="pt-BR" u="sng" dirty="0" err="1">
                <a:solidFill>
                  <a:schemeClr val="hlink"/>
                </a:solidFill>
                <a:hlinkClick r:id="rId3"/>
              </a:rPr>
              <a:t>sem-historico</a:t>
            </a:r>
            <a:r>
              <a:rPr lang="pt-BR" dirty="0"/>
              <a:t>. Acesso em: 4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Estruturas de dados. Documentação Python 3.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https://docs.python.org/</a:t>
            </a:r>
            <a:r>
              <a:rPr lang="pt-BR" u="sng" dirty="0" err="1">
                <a:solidFill>
                  <a:schemeClr val="hlink"/>
                </a:solidFill>
                <a:hlinkClick r:id="rId4"/>
              </a:rPr>
              <a:t>pt-br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/3/tutorial/datastructures.html</a:t>
            </a:r>
            <a:r>
              <a:rPr lang="pt-BR" dirty="0"/>
              <a:t>. Acesso em: 4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28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8" name="Google Shape;2978;p284"/>
          <p:cNvCxnSpPr>
            <a:cxnSpLocks/>
          </p:cNvCxnSpPr>
          <p:nvPr/>
        </p:nvCxnSpPr>
        <p:spPr>
          <a:xfrm flipV="1">
            <a:off x="685795" y="1009121"/>
            <a:ext cx="0" cy="386453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77" name="Google Shape;2977;p284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dirty="0"/>
          </a:p>
        </p:txBody>
      </p:sp>
      <p:sp>
        <p:nvSpPr>
          <p:cNvPr id="2980" name="Google Shape;2980;p284"/>
          <p:cNvSpPr/>
          <p:nvPr/>
        </p:nvSpPr>
        <p:spPr>
          <a:xfrm>
            <a:off x="497841" y="2453513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284"/>
          <p:cNvSpPr/>
          <p:nvPr/>
        </p:nvSpPr>
        <p:spPr>
          <a:xfrm>
            <a:off x="497841" y="1398116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284"/>
          <p:cNvSpPr/>
          <p:nvPr/>
        </p:nvSpPr>
        <p:spPr>
          <a:xfrm>
            <a:off x="569897" y="1496672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3" name="Google Shape;2983;p284"/>
          <p:cNvSpPr/>
          <p:nvPr/>
        </p:nvSpPr>
        <p:spPr>
          <a:xfrm>
            <a:off x="566852" y="2531943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4" name="Google Shape;2984;p284"/>
          <p:cNvSpPr txBox="1"/>
          <p:nvPr/>
        </p:nvSpPr>
        <p:spPr>
          <a:xfrm>
            <a:off x="947713" y="1441880"/>
            <a:ext cx="10996047" cy="2985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Ponto de partida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Apresente o caso da navegação privativa como uma situação do cotidiano para despertar a curiosidade da turma sobre onde os programas armazenam informações durante a execução. Incentive os estudantes a relacionar a experiência de uso do navegador com o funcionamento de programas desenvolvidos em Python, sem antecipar o conceito de listas.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promova uma discussão coletiva, incentivando diferentes hipóteses antes de apresentar a explicação. Valorize as contribuições dos estudantes e registre no quadro as palavras-chave que surgirem, como "memória", "dados" e "programa", retomando-as durante a aula.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leia o caso apresentado e conduza a pergunta disparadora para toda a turma. Estimule os estudantes a explicar onde acreditam que as informações permanecem enquanto o navegador está aberto e o que acontece quando ele é fechado. Utilize as respostas para fazer a transição ao primeiro conceito da aula, mostrando que programas armazenam dados temporariamente na memória.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br>
              <a:rPr lang="pt-BR" sz="1000" b="1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u="sng" dirty="0">
                <a:latin typeface="Poppins"/>
                <a:ea typeface="Poppins"/>
                <a:cs typeface="Poppins"/>
                <a:sym typeface="Poppins"/>
              </a:rPr>
              <a:t>Se essas informações não são gravadas em arquivo, onde elas ficam enquanto o navegador está aberto? O que acontece com esses dados quando a janela é fechada?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percebam que um programa precisa manter informações disponíveis enquanto está em execução e levantem a hipótese de que esses dados ficam armazenados temporariamente na memória do computador, preparando o terreno para a introdução do conceito de listas.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5" name="Google Shape;2985;p284"/>
          <p:cNvSpPr/>
          <p:nvPr/>
        </p:nvSpPr>
        <p:spPr>
          <a:xfrm>
            <a:off x="497841" y="194994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6" name="Google Shape;2986;p2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043650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7" name="Google Shape;2987;p284"/>
          <p:cNvGrpSpPr/>
          <p:nvPr/>
        </p:nvGrpSpPr>
        <p:grpSpPr>
          <a:xfrm>
            <a:off x="497841" y="3083507"/>
            <a:ext cx="386100" cy="382500"/>
            <a:chOff x="497841" y="3037886"/>
            <a:chExt cx="386100" cy="382500"/>
          </a:xfrm>
        </p:grpSpPr>
        <p:sp>
          <p:nvSpPr>
            <p:cNvPr id="2988" name="Google Shape;2988;p284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89" name="Google Shape;2989;p284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0" name="Google Shape;2990;p284"/>
          <p:cNvGrpSpPr/>
          <p:nvPr/>
        </p:nvGrpSpPr>
        <p:grpSpPr>
          <a:xfrm>
            <a:off x="497841" y="3728223"/>
            <a:ext cx="386100" cy="382500"/>
            <a:chOff x="497841" y="3801694"/>
            <a:chExt cx="386100" cy="382500"/>
          </a:xfrm>
        </p:grpSpPr>
        <p:sp>
          <p:nvSpPr>
            <p:cNvPr id="2991" name="Google Shape;2991;p28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79" name="Google Shape;2979;p284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28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015;p287">
            <a:extLst>
              <a:ext uri="{FF2B5EF4-FFF2-40B4-BE49-F238E27FC236}">
                <a16:creationId xmlns:a16="http://schemas.microsoft.com/office/drawing/2014/main" id="{52E35A15-C480-07FF-AC3C-DBB36D0BBF11}"/>
              </a:ext>
            </a:extLst>
          </p:cNvPr>
          <p:cNvSpPr/>
          <p:nvPr/>
        </p:nvSpPr>
        <p:spPr>
          <a:xfrm>
            <a:off x="0" y="4339734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0" name="Google Shape;3000;p285"/>
          <p:cNvCxnSpPr>
            <a:cxnSpLocks/>
          </p:cNvCxnSpPr>
          <p:nvPr/>
        </p:nvCxnSpPr>
        <p:spPr>
          <a:xfrm flipV="1">
            <a:off x="686056" y="986780"/>
            <a:ext cx="0" cy="32458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98" name="Google Shape;2998;p285"/>
          <p:cNvSpPr txBox="1"/>
          <p:nvPr/>
        </p:nvSpPr>
        <p:spPr>
          <a:xfrm>
            <a:off x="985526" y="795750"/>
            <a:ext cx="758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7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 10</a:t>
            </a:r>
            <a:endParaRPr dirty="0"/>
          </a:p>
        </p:txBody>
      </p:sp>
      <p:sp>
        <p:nvSpPr>
          <p:cNvPr id="2999" name="Google Shape;2999;p285"/>
          <p:cNvSpPr txBox="1"/>
          <p:nvPr/>
        </p:nvSpPr>
        <p:spPr>
          <a:xfrm>
            <a:off x="952006" y="1431288"/>
            <a:ext cx="10726500" cy="267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Construindo o Conceito.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os conceitos de forma progressiva, relacionando cada explicação aos exemplos em Python exibidos nos slides. Antes de executar os códigos, incentive os estudantes a prever o resultado e, após a execução, questione o que mudou na lista e por que isso aconteceu. Durante a técnica "Com suas palavras, estimule que expliquem o conceito utilizando o exemplo apresentado, evitando apenas repetir a definição do slide.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 sz="1000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conduza a aula de forma expositiva dialogada, incentivando a participação da turma durante a interpretação dos exemplos e das saídas exibidas no terminal. Verifique se os estudantes compreenderam que os elementos são armazenados na ordem em que são adicionados e que cada um ocupa uma posição na lista.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inicialmente o conceito de memória utilizando o exemplo do cotidiano. Em seguida, introduza as listas por meio do código em Python, mostrando como novos elementos são adicionados e como são exibidos no terminal. Realize a técnica Com suas palavras, solicitando que os estudantes expliquem por que uma lista foi utilizada em vez de criar uma variável para cada produto. Depois, apresente o conceito de índice utilizando o exemplo em Python e finalize retomando que as listas permanecem apenas na memória durante a execução do programa, preparando a turma para a atividade prática. Espera-se que os estudantes compreendam que uma lista permite armazenar vários dados relacionados em uma única estrutura, que cada elemento possui um índice utilizado para acessá-lo e que essas informações permanecem disponíveis apenas enquanto o programa está em execução, caso não sejam gravadas em um arquivo.</a:t>
            </a:r>
          </a:p>
        </p:txBody>
      </p:sp>
      <p:sp>
        <p:nvSpPr>
          <p:cNvPr id="3001" name="Google Shape;3001;p285"/>
          <p:cNvSpPr/>
          <p:nvPr/>
        </p:nvSpPr>
        <p:spPr>
          <a:xfrm>
            <a:off x="493078" y="247994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285"/>
          <p:cNvSpPr/>
          <p:nvPr/>
        </p:nvSpPr>
        <p:spPr>
          <a:xfrm>
            <a:off x="493078" y="1437872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285"/>
          <p:cNvSpPr/>
          <p:nvPr/>
        </p:nvSpPr>
        <p:spPr>
          <a:xfrm>
            <a:off x="567256" y="1536428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4" name="Google Shape;3004;p285"/>
          <p:cNvSpPr/>
          <p:nvPr/>
        </p:nvSpPr>
        <p:spPr>
          <a:xfrm>
            <a:off x="563541" y="2558371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285"/>
          <p:cNvSpPr/>
          <p:nvPr/>
        </p:nvSpPr>
        <p:spPr>
          <a:xfrm>
            <a:off x="493078" y="1945231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6" name="Google Shape;3006;p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906" y="2038937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7" name="Google Shape;3007;p285"/>
          <p:cNvGrpSpPr/>
          <p:nvPr/>
        </p:nvGrpSpPr>
        <p:grpSpPr>
          <a:xfrm>
            <a:off x="493078" y="3107705"/>
            <a:ext cx="386100" cy="382500"/>
            <a:chOff x="497841" y="3037886"/>
            <a:chExt cx="386100" cy="382500"/>
          </a:xfrm>
        </p:grpSpPr>
        <p:sp>
          <p:nvSpPr>
            <p:cNvPr id="3008" name="Google Shape;3008;p28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09" name="Google Shape;3009;p28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" name="Google Shape;3017;p287">
            <a:extLst>
              <a:ext uri="{FF2B5EF4-FFF2-40B4-BE49-F238E27FC236}">
                <a16:creationId xmlns:a16="http://schemas.microsoft.com/office/drawing/2014/main" id="{2A11B0C7-0062-786B-3297-37083C444B6A}"/>
              </a:ext>
            </a:extLst>
          </p:cNvPr>
          <p:cNvCxnSpPr>
            <a:cxnSpLocks/>
          </p:cNvCxnSpPr>
          <p:nvPr/>
        </p:nvCxnSpPr>
        <p:spPr>
          <a:xfrm flipV="1">
            <a:off x="682458" y="4590257"/>
            <a:ext cx="7341" cy="198965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" name="Google Shape;3016;p287">
            <a:extLst>
              <a:ext uri="{FF2B5EF4-FFF2-40B4-BE49-F238E27FC236}">
                <a16:creationId xmlns:a16="http://schemas.microsoft.com/office/drawing/2014/main" id="{DB504CF9-C68C-797A-E8E4-163F25A16CA9}"/>
              </a:ext>
            </a:extLst>
          </p:cNvPr>
          <p:cNvSpPr txBox="1"/>
          <p:nvPr/>
        </p:nvSpPr>
        <p:spPr>
          <a:xfrm>
            <a:off x="985520" y="4349894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11 e 12</a:t>
            </a:r>
            <a:endParaRPr dirty="0"/>
          </a:p>
        </p:txBody>
      </p:sp>
      <p:sp>
        <p:nvSpPr>
          <p:cNvPr id="6" name="Google Shape;3647;p338">
            <a:extLst>
              <a:ext uri="{FF2B5EF4-FFF2-40B4-BE49-F238E27FC236}">
                <a16:creationId xmlns:a16="http://schemas.microsoft.com/office/drawing/2014/main" id="{D31A2583-778C-7A61-FD3E-47A28374A351}"/>
              </a:ext>
            </a:extLst>
          </p:cNvPr>
          <p:cNvSpPr txBox="1"/>
          <p:nvPr/>
        </p:nvSpPr>
        <p:spPr>
          <a:xfrm>
            <a:off x="944138" y="5048483"/>
            <a:ext cx="1101840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6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2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É apagada. </a:t>
            </a: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sem salvar em um arquivo, os dados existem apenas enquanto o programa está em execução.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7" name="Google Shape;3650;p338">
            <a:extLst>
              <a:ext uri="{FF2B5EF4-FFF2-40B4-BE49-F238E27FC236}">
                <a16:creationId xmlns:a16="http://schemas.microsoft.com/office/drawing/2014/main" id="{C5C609EA-BBDA-C549-5E75-001C8D516E00}"/>
              </a:ext>
            </a:extLst>
          </p:cNvPr>
          <p:cNvGrpSpPr/>
          <p:nvPr/>
        </p:nvGrpSpPr>
        <p:grpSpPr>
          <a:xfrm>
            <a:off x="493078" y="4950137"/>
            <a:ext cx="386100" cy="382500"/>
            <a:chOff x="497841" y="1318604"/>
            <a:chExt cx="386100" cy="382500"/>
          </a:xfrm>
        </p:grpSpPr>
        <p:sp>
          <p:nvSpPr>
            <p:cNvPr id="8" name="Google Shape;3651;p338">
              <a:extLst>
                <a:ext uri="{FF2B5EF4-FFF2-40B4-BE49-F238E27FC236}">
                  <a16:creationId xmlns:a16="http://schemas.microsoft.com/office/drawing/2014/main" id="{C32C97EC-2213-237C-B9C3-21BF921995F8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52;p338">
              <a:extLst>
                <a:ext uri="{FF2B5EF4-FFF2-40B4-BE49-F238E27FC236}">
                  <a16:creationId xmlns:a16="http://schemas.microsoft.com/office/drawing/2014/main" id="{9BA6F477-23AD-BA0E-EBC9-B30DA47272A2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" name="Google Shape;3653;p338">
            <a:extLst>
              <a:ext uri="{FF2B5EF4-FFF2-40B4-BE49-F238E27FC236}">
                <a16:creationId xmlns:a16="http://schemas.microsoft.com/office/drawing/2014/main" id="{F2CEC385-6145-4B78-2373-B65DF654485C}"/>
              </a:ext>
            </a:extLst>
          </p:cNvPr>
          <p:cNvGrpSpPr/>
          <p:nvPr/>
        </p:nvGrpSpPr>
        <p:grpSpPr>
          <a:xfrm>
            <a:off x="493078" y="5861308"/>
            <a:ext cx="386100" cy="382500"/>
            <a:chOff x="497841" y="3801694"/>
            <a:chExt cx="386100" cy="382500"/>
          </a:xfrm>
        </p:grpSpPr>
        <p:sp>
          <p:nvSpPr>
            <p:cNvPr id="11" name="Google Shape;3654;p338">
              <a:extLst>
                <a:ext uri="{FF2B5EF4-FFF2-40B4-BE49-F238E27FC236}">
                  <a16:creationId xmlns:a16="http://schemas.microsoft.com/office/drawing/2014/main" id="{96C66D15-FA6D-1298-D1AA-007CC371CC97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" name="Google Shape;3649;p338">
              <a:extLst>
                <a:ext uri="{FF2B5EF4-FFF2-40B4-BE49-F238E27FC236}">
                  <a16:creationId xmlns:a16="http://schemas.microsoft.com/office/drawing/2014/main" id="{A53E16EE-4215-E5FF-1C9D-C02AB2F1ACB3}"/>
                </a:ext>
              </a:extLst>
            </p:cNvPr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3655;p338">
            <a:extLst>
              <a:ext uri="{FF2B5EF4-FFF2-40B4-BE49-F238E27FC236}">
                <a16:creationId xmlns:a16="http://schemas.microsoft.com/office/drawing/2014/main" id="{B09F742C-5176-CD08-96F9-D3DBEF578CAA}"/>
              </a:ext>
            </a:extLst>
          </p:cNvPr>
          <p:cNvGrpSpPr/>
          <p:nvPr/>
        </p:nvGrpSpPr>
        <p:grpSpPr>
          <a:xfrm>
            <a:off x="493078" y="5367085"/>
            <a:ext cx="386100" cy="382500"/>
            <a:chOff x="497841" y="1802325"/>
            <a:chExt cx="386100" cy="382500"/>
          </a:xfrm>
        </p:grpSpPr>
        <p:sp>
          <p:nvSpPr>
            <p:cNvPr id="14" name="Google Shape;3656;p338">
              <a:extLst>
                <a:ext uri="{FF2B5EF4-FFF2-40B4-BE49-F238E27FC236}">
                  <a16:creationId xmlns:a16="http://schemas.microsoft.com/office/drawing/2014/main" id="{964FEEB3-0A1E-6779-035D-D1E5680413BF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3657;p338">
              <a:extLst>
                <a:ext uri="{FF2B5EF4-FFF2-40B4-BE49-F238E27FC236}">
                  <a16:creationId xmlns:a16="http://schemas.microsoft.com/office/drawing/2014/main" id="{359C49C3-3677-DAE9-E68F-726AB8A98CF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28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7" name="Google Shape;3037;p287"/>
          <p:cNvCxnSpPr>
            <a:cxnSpLocks/>
          </p:cNvCxnSpPr>
          <p:nvPr/>
        </p:nvCxnSpPr>
        <p:spPr>
          <a:xfrm flipV="1">
            <a:off x="685795" y="1001804"/>
            <a:ext cx="0" cy="351363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35" name="Google Shape;3035;p287"/>
          <p:cNvSpPr txBox="1"/>
          <p:nvPr/>
        </p:nvSpPr>
        <p:spPr>
          <a:xfrm>
            <a:off x="995595" y="774232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13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15</a:t>
            </a:r>
            <a:endParaRPr dirty="0"/>
          </a:p>
        </p:txBody>
      </p:sp>
      <p:sp>
        <p:nvSpPr>
          <p:cNvPr id="3036" name="Google Shape;3036;p287"/>
          <p:cNvSpPr txBox="1"/>
          <p:nvPr/>
        </p:nvSpPr>
        <p:spPr>
          <a:xfrm>
            <a:off x="995595" y="1496672"/>
            <a:ext cx="102513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Colocando em prática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Utilize o passo a passo para conduzir a retomada do uso de listas em Python. Oriente os estudantes a executar o código proposto, realizar as modificações solicitadas e observar como a lista é alterada a cada teste. Reforce que o objetivo da atividade é compreender o comportamento da lista durante a execução do programa, preparando o sistema da Papelaria Ponto Certo para as próximas aulas.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acompanhe a execução do código pelos estudantes, verificando se todos conseguem realizar os testes propostos. Incentive que comparem os resultados obtidos antes de solicitar ajuda e utilizem o terminal para confirmar suas hipóteses sobre o funcionamento da lista.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solicite inicialmente a execução do código original. Em seguida, oriente os estudantes a adicionar um novo produto, alterar a ordem dos elementos e remover um dos comandos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append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(), executando o programa após cada modificação. Ao final, conduza uma discussão coletiva sobre como essas alterações influenciam a quantidade de elementos e seus índices.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disponível nos slides do professor. 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os estudantes reconheçam que listas armazenam vários elementos em uma única estrutura, que a ordem de inserção determina os índices e que adicionar ou remover elementos modifica o conteúdo da lista durante a execução do programa. A atividade também deve reforçar a observação do comportamento do código por meio de testes sucessivos.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39" name="Google Shape;3039;p287"/>
          <p:cNvGrpSpPr/>
          <p:nvPr/>
        </p:nvGrpSpPr>
        <p:grpSpPr>
          <a:xfrm>
            <a:off x="497841" y="1477628"/>
            <a:ext cx="386100" cy="382500"/>
            <a:chOff x="497841" y="1318604"/>
            <a:chExt cx="386100" cy="382500"/>
          </a:xfrm>
        </p:grpSpPr>
        <p:sp>
          <p:nvSpPr>
            <p:cNvPr id="3040" name="Google Shape;3040;p287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1" name="Google Shape;3041;p287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2" name="Google Shape;3042;p287"/>
          <p:cNvGrpSpPr/>
          <p:nvPr/>
        </p:nvGrpSpPr>
        <p:grpSpPr>
          <a:xfrm>
            <a:off x="497841" y="2532876"/>
            <a:ext cx="386100" cy="382500"/>
            <a:chOff x="497841" y="2265726"/>
            <a:chExt cx="386100" cy="382500"/>
          </a:xfrm>
        </p:grpSpPr>
        <p:sp>
          <p:nvSpPr>
            <p:cNvPr id="3043" name="Google Shape;3043;p287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4" name="Google Shape;3044;p287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5" name="Google Shape;3045;p287"/>
          <p:cNvGrpSpPr/>
          <p:nvPr/>
        </p:nvGrpSpPr>
        <p:grpSpPr>
          <a:xfrm>
            <a:off x="497841" y="2024690"/>
            <a:ext cx="386100" cy="382500"/>
            <a:chOff x="497841" y="1802325"/>
            <a:chExt cx="386100" cy="382500"/>
          </a:xfrm>
        </p:grpSpPr>
        <p:sp>
          <p:nvSpPr>
            <p:cNvPr id="3046" name="Google Shape;3046;p287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7" name="Google Shape;3047;p2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8" name="Google Shape;3048;p287"/>
          <p:cNvGrpSpPr/>
          <p:nvPr/>
        </p:nvGrpSpPr>
        <p:grpSpPr>
          <a:xfrm>
            <a:off x="497841" y="3017609"/>
            <a:ext cx="386100" cy="382500"/>
            <a:chOff x="497841" y="3037886"/>
            <a:chExt cx="386100" cy="382500"/>
          </a:xfrm>
        </p:grpSpPr>
        <p:sp>
          <p:nvSpPr>
            <p:cNvPr id="3049" name="Google Shape;3049;p287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0" name="Google Shape;3050;p287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1" name="Google Shape;3051;p287"/>
          <p:cNvGrpSpPr/>
          <p:nvPr/>
        </p:nvGrpSpPr>
        <p:grpSpPr>
          <a:xfrm>
            <a:off x="497841" y="3625518"/>
            <a:ext cx="386100" cy="382500"/>
            <a:chOff x="497841" y="3801694"/>
            <a:chExt cx="386100" cy="382500"/>
          </a:xfrm>
        </p:grpSpPr>
        <p:sp>
          <p:nvSpPr>
            <p:cNvPr id="3052" name="Google Shape;3052;p287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38" name="Google Shape;3038;p287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BB6DDC3D-9D9B-6EFA-AD41-616BC3D2D776}"/>
              </a:ext>
            </a:extLst>
          </p:cNvPr>
          <p:cNvSpPr/>
          <p:nvPr/>
        </p:nvSpPr>
        <p:spPr>
          <a:xfrm>
            <a:off x="0" y="6668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8213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8340" y="5069176"/>
            <a:ext cx="0" cy="146840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3BC0A23B-3468-9220-0551-50506B215100}"/>
              </a:ext>
            </a:extLst>
          </p:cNvPr>
          <p:cNvCxnSpPr>
            <a:cxnSpLocks/>
          </p:cNvCxnSpPr>
          <p:nvPr/>
        </p:nvCxnSpPr>
        <p:spPr>
          <a:xfrm flipV="1">
            <a:off x="688340" y="905865"/>
            <a:ext cx="0" cy="3727789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85520" y="6631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16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5301" y="4055856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5301" y="3121158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5301" y="24053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5301" y="189055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5301" y="12831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723" y="13816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11" y="1986676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5468" y="248373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92" y="3191613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327" y="4109976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99415" y="1364950"/>
            <a:ext cx="10876724" cy="3139321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 e articular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Dê explicações diretas e objetivas para manter a atividade dentro do tempo estipulado.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conceitos.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eles se encaixam no contexto maior da aula e na vida profissional.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5300" y="53971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811756"/>
            <a:ext cx="5923280" cy="47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17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5300" y="5967384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722" y="55010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1118" y="6055488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92497" y="54534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2208</Words>
  <Application>Microsoft Office PowerPoint</Application>
  <PresentationFormat>Ecrã Panorâmico</PresentationFormat>
  <Paragraphs>211</Paragraphs>
  <Slides>24</Slides>
  <Notes>24</Notes>
  <HiddenSlides>7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dos diapositivos</vt:lpstr>
      </vt:variant>
      <vt:variant>
        <vt:i4>24</vt:i4>
      </vt:variant>
    </vt:vector>
  </HeadingPairs>
  <TitlesOfParts>
    <vt:vector size="33" baseType="lpstr">
      <vt:lpstr>Calibri</vt:lpstr>
      <vt:lpstr>Poppins Light</vt:lpstr>
      <vt:lpstr>Poppins</vt:lpstr>
      <vt:lpstr>Arial</vt:lpstr>
      <vt:lpstr>Poppins Medium</vt:lpstr>
      <vt:lpstr>Office Theme</vt:lpstr>
      <vt:lpstr>Office Theme</vt:lpstr>
      <vt:lpstr>1_Office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94</cp:revision>
  <dcterms:modified xsi:type="dcterms:W3CDTF">2026-08-27T18:09:06Z</dcterms:modified>
</cp:coreProperties>
</file>