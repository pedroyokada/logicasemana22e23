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2.xml" ContentType="application/vnd.openxmlformats-officedocument.theme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19"/>
  </p:notesMasterIdLst>
  <p:sldIdLst>
    <p:sldId id="305" r:id="rId4"/>
    <p:sldId id="306" r:id="rId5"/>
    <p:sldId id="599" r:id="rId6"/>
    <p:sldId id="308" r:id="rId7"/>
    <p:sldId id="309" r:id="rId8"/>
    <p:sldId id="310" r:id="rId9"/>
    <p:sldId id="591" r:id="rId10"/>
    <p:sldId id="590" r:id="rId11"/>
    <p:sldId id="313" r:id="rId12"/>
    <p:sldId id="314" r:id="rId13"/>
    <p:sldId id="315" r:id="rId14"/>
    <p:sldId id="316" r:id="rId15"/>
    <p:sldId id="317" r:id="rId16"/>
    <p:sldId id="596" r:id="rId17"/>
    <p:sldId id="320" r:id="rId18"/>
  </p:sldIdLst>
  <p:sldSz cx="12192000" cy="6858000"/>
  <p:notesSz cx="6858000" cy="9144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Poppins Medium" panose="000006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3" id="{2EE461CF-2A21-4F28-8D38-FBCEFB32B57A}">
          <p14:sldIdLst>
            <p14:sldId id="305"/>
            <p14:sldId id="306"/>
            <p14:sldId id="599"/>
            <p14:sldId id="308"/>
            <p14:sldId id="309"/>
            <p14:sldId id="310"/>
            <p14:sldId id="591"/>
            <p14:sldId id="590"/>
            <p14:sldId id="313"/>
            <p14:sldId id="314"/>
            <p14:sldId id="315"/>
            <p14:sldId id="316"/>
            <p14:sldId id="317"/>
            <p14:sldId id="596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AB8953-341E-EEA7-7B08-5C6D679DA487}" name="Lívia Rulli" initials="LR" userId="ea285effe7eb1ea7" providerId="Windows Live"/>
  <p188:author id="{8707A45E-4514-CAE5-3C40-E2CD3DAFA70C}" name="Isabel Cruz do amaral Pupo" initials="IC" userId="S::isabel_pupo@vanzolini-ead.org.br::8f4c32d8-231f-4630-ae3e-1dca2f05616d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B9AFF-AD06-4EFA-B624-D5E4A2544751}">
  <a:tblStyle styleId="{182B9AFF-AD06-4EFA-B624-D5E4A25447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8" autoAdjust="0"/>
    <p:restoredTop sz="88202" autoAdjust="0"/>
  </p:normalViewPr>
  <p:slideViewPr>
    <p:cSldViewPr snapToGrid="0">
      <p:cViewPr varScale="1">
        <p:scale>
          <a:sx n="94" d="100"/>
          <a:sy n="94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g3ee235a11d4_0_6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8" name="Google Shape;3448;g3ee235a11d4_0_66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449" name="Google Shape;3449;g3ee235a11d4_0_66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g3f3d59bc485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3" name="Google Shape;3453;g3f3d59bc48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2075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3f3d59bc485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1" name="Google Shape;3511;g3f3d59bc485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g3f3d59bc485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0" name="Google Shape;3530;g3f3d59bc485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g3f3b32668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9" name="Google Shape;3539;g3f3b32668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445EA9EC-1149-9D8C-3421-F35EC9B2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A1496651-353A-EEE1-8F79-B1161B684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170677-B5B4-6E42-1B4C-BC64B8234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0463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g3f3af8d0963_0_2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595" name="Google Shape;3595;g3f3af8d0963_0_2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g3f3af8d0963_0_2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1" name="Google Shape;3601;g3f3af8d0963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g3f3af8d0963_0_2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7" name="Google Shape;3607;g3f3af8d0963_0_2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g3f3af8d0963_0_2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3" name="Google Shape;3613;g3f3af8d0963_0_2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614" name="Google Shape;3614;g3f3af8d0963_0_2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Google Shape;3617;g3f3af8d0963_0_2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8" name="Google Shape;3618;g3f3af8d0963_0_2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619" name="Google Shape;3619;g3f3af8d0963_0_2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>
          <a:extLst>
            <a:ext uri="{FF2B5EF4-FFF2-40B4-BE49-F238E27FC236}">
              <a16:creationId xmlns:a16="http://schemas.microsoft.com/office/drawing/2014/main" id="{8B5DD6DC-D7B2-17C4-4C27-B1DC4DA9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>
            <a:extLst>
              <a:ext uri="{FF2B5EF4-FFF2-40B4-BE49-F238E27FC236}">
                <a16:creationId xmlns:a16="http://schemas.microsoft.com/office/drawing/2014/main" id="{442F95AF-76B2-4D1B-178D-7AE49E9B8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>
            <a:extLst>
              <a:ext uri="{FF2B5EF4-FFF2-40B4-BE49-F238E27FC236}">
                <a16:creationId xmlns:a16="http://schemas.microsoft.com/office/drawing/2014/main" id="{CD2F06F3-7582-EF1D-2A68-B1CC4E55EE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53" name="Google Shape;3053;g3ee235a11d4_0_4569:notes">
            <a:extLst>
              <a:ext uri="{FF2B5EF4-FFF2-40B4-BE49-F238E27FC236}">
                <a16:creationId xmlns:a16="http://schemas.microsoft.com/office/drawing/2014/main" id="{551463E5-B456-CD8D-8AC2-387E21DF90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352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Google Shape;3689;g3f3af8d0963_0_2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0" name="Google Shape;3690;g3f3af8d0963_0_2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691" name="Google Shape;3691;g3f3af8d0963_0_22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emf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png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45466" y="885957"/>
            <a:ext cx="406743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92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9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119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8" name="Google Shape;1198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9" name="Google Shape;1199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8F41D3F-CB55-CC5E-BA48-E1500222F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1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862585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9" name="Google Shape;2599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0" name="Google Shape;2600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1" name="Google Shape;2601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2" name="Google Shape;2602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6" name="Google Shape;2606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7" name="Google Shape;2607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1" name="Google Shape;2611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41.xml"/><Relationship Id="rId21" Type="http://schemas.openxmlformats.org/officeDocument/2006/relationships/slideLayout" Target="../slideLayouts/slideLayout136.xml"/><Relationship Id="rId42" Type="http://schemas.openxmlformats.org/officeDocument/2006/relationships/slideLayout" Target="../slideLayouts/slideLayout157.xml"/><Relationship Id="rId47" Type="http://schemas.openxmlformats.org/officeDocument/2006/relationships/slideLayout" Target="../slideLayouts/slideLayout162.xml"/><Relationship Id="rId63" Type="http://schemas.openxmlformats.org/officeDocument/2006/relationships/slideLayout" Target="../slideLayouts/slideLayout178.xml"/><Relationship Id="rId68" Type="http://schemas.openxmlformats.org/officeDocument/2006/relationships/slideLayout" Target="../slideLayouts/slideLayout183.xml"/><Relationship Id="rId84" Type="http://schemas.openxmlformats.org/officeDocument/2006/relationships/theme" Target="../theme/theme3.xml"/><Relationship Id="rId1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26.xml"/><Relationship Id="rId32" Type="http://schemas.openxmlformats.org/officeDocument/2006/relationships/slideLayout" Target="../slideLayouts/slideLayout147.xml"/><Relationship Id="rId37" Type="http://schemas.openxmlformats.org/officeDocument/2006/relationships/slideLayout" Target="../slideLayouts/slideLayout152.xml"/><Relationship Id="rId53" Type="http://schemas.openxmlformats.org/officeDocument/2006/relationships/slideLayout" Target="../slideLayouts/slideLayout168.xml"/><Relationship Id="rId58" Type="http://schemas.openxmlformats.org/officeDocument/2006/relationships/slideLayout" Target="../slideLayouts/slideLayout173.xml"/><Relationship Id="rId74" Type="http://schemas.openxmlformats.org/officeDocument/2006/relationships/slideLayout" Target="../slideLayouts/slideLayout189.xml"/><Relationship Id="rId79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20.xml"/><Relationship Id="rId61" Type="http://schemas.openxmlformats.org/officeDocument/2006/relationships/slideLayout" Target="../slideLayouts/slideLayout176.xml"/><Relationship Id="rId82" Type="http://schemas.openxmlformats.org/officeDocument/2006/relationships/slideLayout" Target="../slideLayouts/slideLayout197.xml"/><Relationship Id="rId1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137.xml"/><Relationship Id="rId27" Type="http://schemas.openxmlformats.org/officeDocument/2006/relationships/slideLayout" Target="../slideLayouts/slideLayout142.xml"/><Relationship Id="rId30" Type="http://schemas.openxmlformats.org/officeDocument/2006/relationships/slideLayout" Target="../slideLayouts/slideLayout145.xml"/><Relationship Id="rId35" Type="http://schemas.openxmlformats.org/officeDocument/2006/relationships/slideLayout" Target="../slideLayouts/slideLayout150.xml"/><Relationship Id="rId43" Type="http://schemas.openxmlformats.org/officeDocument/2006/relationships/slideLayout" Target="../slideLayouts/slideLayout158.xml"/><Relationship Id="rId48" Type="http://schemas.openxmlformats.org/officeDocument/2006/relationships/slideLayout" Target="../slideLayouts/slideLayout163.xml"/><Relationship Id="rId56" Type="http://schemas.openxmlformats.org/officeDocument/2006/relationships/slideLayout" Target="../slideLayouts/slideLayout171.xml"/><Relationship Id="rId64" Type="http://schemas.openxmlformats.org/officeDocument/2006/relationships/slideLayout" Target="../slideLayouts/slideLayout179.xml"/><Relationship Id="rId69" Type="http://schemas.openxmlformats.org/officeDocument/2006/relationships/slideLayout" Target="../slideLayouts/slideLayout184.xml"/><Relationship Id="rId77" Type="http://schemas.openxmlformats.org/officeDocument/2006/relationships/slideLayout" Target="../slideLayouts/slideLayout192.xml"/><Relationship Id="rId8" Type="http://schemas.openxmlformats.org/officeDocument/2006/relationships/slideLayout" Target="../slideLayouts/slideLayout123.xml"/><Relationship Id="rId51" Type="http://schemas.openxmlformats.org/officeDocument/2006/relationships/slideLayout" Target="../slideLayouts/slideLayout166.xml"/><Relationship Id="rId72" Type="http://schemas.openxmlformats.org/officeDocument/2006/relationships/slideLayout" Target="../slideLayouts/slideLayout187.xml"/><Relationship Id="rId80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7.xml"/><Relationship Id="rId17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140.xml"/><Relationship Id="rId33" Type="http://schemas.openxmlformats.org/officeDocument/2006/relationships/slideLayout" Target="../slideLayouts/slideLayout148.xml"/><Relationship Id="rId38" Type="http://schemas.openxmlformats.org/officeDocument/2006/relationships/slideLayout" Target="../slideLayouts/slideLayout153.xml"/><Relationship Id="rId46" Type="http://schemas.openxmlformats.org/officeDocument/2006/relationships/slideLayout" Target="../slideLayouts/slideLayout161.xml"/><Relationship Id="rId59" Type="http://schemas.openxmlformats.org/officeDocument/2006/relationships/slideLayout" Target="../slideLayouts/slideLayout174.xml"/><Relationship Id="rId67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35.xml"/><Relationship Id="rId41" Type="http://schemas.openxmlformats.org/officeDocument/2006/relationships/slideLayout" Target="../slideLayouts/slideLayout156.xml"/><Relationship Id="rId54" Type="http://schemas.openxmlformats.org/officeDocument/2006/relationships/slideLayout" Target="../slideLayouts/slideLayout169.xml"/><Relationship Id="rId62" Type="http://schemas.openxmlformats.org/officeDocument/2006/relationships/slideLayout" Target="../slideLayouts/slideLayout177.xml"/><Relationship Id="rId70" Type="http://schemas.openxmlformats.org/officeDocument/2006/relationships/slideLayout" Target="../slideLayouts/slideLayout185.xml"/><Relationship Id="rId75" Type="http://schemas.openxmlformats.org/officeDocument/2006/relationships/slideLayout" Target="../slideLayouts/slideLayout190.xml"/><Relationship Id="rId83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21.xml"/><Relationship Id="rId15" Type="http://schemas.openxmlformats.org/officeDocument/2006/relationships/slideLayout" Target="../slideLayouts/slideLayout130.xml"/><Relationship Id="rId23" Type="http://schemas.openxmlformats.org/officeDocument/2006/relationships/slideLayout" Target="../slideLayouts/slideLayout138.xml"/><Relationship Id="rId28" Type="http://schemas.openxmlformats.org/officeDocument/2006/relationships/slideLayout" Target="../slideLayouts/slideLayout143.xml"/><Relationship Id="rId36" Type="http://schemas.openxmlformats.org/officeDocument/2006/relationships/slideLayout" Target="../slideLayouts/slideLayout151.xml"/><Relationship Id="rId49" Type="http://schemas.openxmlformats.org/officeDocument/2006/relationships/slideLayout" Target="../slideLayouts/slideLayout164.xml"/><Relationship Id="rId57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6.xml"/><Relationship Id="rId44" Type="http://schemas.openxmlformats.org/officeDocument/2006/relationships/slideLayout" Target="../slideLayouts/slideLayout159.xml"/><Relationship Id="rId52" Type="http://schemas.openxmlformats.org/officeDocument/2006/relationships/slideLayout" Target="../slideLayouts/slideLayout167.xml"/><Relationship Id="rId60" Type="http://schemas.openxmlformats.org/officeDocument/2006/relationships/slideLayout" Target="../slideLayouts/slideLayout175.xml"/><Relationship Id="rId65" Type="http://schemas.openxmlformats.org/officeDocument/2006/relationships/slideLayout" Target="../slideLayouts/slideLayout180.xml"/><Relationship Id="rId73" Type="http://schemas.openxmlformats.org/officeDocument/2006/relationships/slideLayout" Target="../slideLayouts/slideLayout188.xml"/><Relationship Id="rId78" Type="http://schemas.openxmlformats.org/officeDocument/2006/relationships/slideLayout" Target="../slideLayouts/slideLayout193.xml"/><Relationship Id="rId81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8.xml"/><Relationship Id="rId18" Type="http://schemas.openxmlformats.org/officeDocument/2006/relationships/slideLayout" Target="../slideLayouts/slideLayout133.xml"/><Relationship Id="rId39" Type="http://schemas.openxmlformats.org/officeDocument/2006/relationships/slideLayout" Target="../slideLayouts/slideLayout154.xml"/><Relationship Id="rId34" Type="http://schemas.openxmlformats.org/officeDocument/2006/relationships/slideLayout" Target="../slideLayouts/slideLayout149.xml"/><Relationship Id="rId50" Type="http://schemas.openxmlformats.org/officeDocument/2006/relationships/slideLayout" Target="../slideLayouts/slideLayout165.xml"/><Relationship Id="rId55" Type="http://schemas.openxmlformats.org/officeDocument/2006/relationships/slideLayout" Target="../slideLayouts/slideLayout170.xml"/><Relationship Id="rId76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22.xml"/><Relationship Id="rId71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44.xml"/><Relationship Id="rId24" Type="http://schemas.openxmlformats.org/officeDocument/2006/relationships/slideLayout" Target="../slideLayouts/slideLayout139.xml"/><Relationship Id="rId40" Type="http://schemas.openxmlformats.org/officeDocument/2006/relationships/slideLayout" Target="../slideLayouts/slideLayout155.xml"/><Relationship Id="rId45" Type="http://schemas.openxmlformats.org/officeDocument/2006/relationships/slideLayout" Target="../slideLayouts/slideLayout160.xml"/><Relationship Id="rId66" Type="http://schemas.openxmlformats.org/officeDocument/2006/relationships/slideLayout" Target="../slideLayouts/slideLayout1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911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2" r:id="rId39"/>
    <p:sldLayoutId id="2147483863" r:id="rId40"/>
    <p:sldLayoutId id="2147483864" r:id="rId41"/>
    <p:sldLayoutId id="2147483865" r:id="rId42"/>
    <p:sldLayoutId id="2147483866" r:id="rId43"/>
    <p:sldLayoutId id="2147483867" r:id="rId44"/>
    <p:sldLayoutId id="2147483868" r:id="rId45"/>
    <p:sldLayoutId id="2147483869" r:id="rId46"/>
    <p:sldLayoutId id="2147483870" r:id="rId47"/>
    <p:sldLayoutId id="2147483871" r:id="rId48"/>
    <p:sldLayoutId id="2147483872" r:id="rId49"/>
    <p:sldLayoutId id="2147483873" r:id="rId50"/>
    <p:sldLayoutId id="2147483874" r:id="rId51"/>
    <p:sldLayoutId id="2147483875" r:id="rId52"/>
    <p:sldLayoutId id="2147483876" r:id="rId53"/>
    <p:sldLayoutId id="2147483877" r:id="rId54"/>
    <p:sldLayoutId id="2147483878" r:id="rId55"/>
    <p:sldLayoutId id="2147483879" r:id="rId56"/>
    <p:sldLayoutId id="2147483880" r:id="rId57"/>
    <p:sldLayoutId id="2147483881" r:id="rId58"/>
    <p:sldLayoutId id="2147483882" r:id="rId59"/>
    <p:sldLayoutId id="2147483883" r:id="rId60"/>
    <p:sldLayoutId id="2147483884" r:id="rId61"/>
    <p:sldLayoutId id="2147483885" r:id="rId62"/>
    <p:sldLayoutId id="2147483886" r:id="rId63"/>
    <p:sldLayoutId id="2147483887" r:id="rId64"/>
    <p:sldLayoutId id="2147483888" r:id="rId65"/>
    <p:sldLayoutId id="2147483889" r:id="rId66"/>
    <p:sldLayoutId id="2147483890" r:id="rId67"/>
    <p:sldLayoutId id="2147483891" r:id="rId68"/>
    <p:sldLayoutId id="2147483892" r:id="rId69"/>
    <p:sldLayoutId id="2147483893" r:id="rId70"/>
    <p:sldLayoutId id="2147483894" r:id="rId71"/>
    <p:sldLayoutId id="2147483895" r:id="rId72"/>
    <p:sldLayoutId id="2147483896" r:id="rId73"/>
    <p:sldLayoutId id="2147483897" r:id="rId74"/>
    <p:sldLayoutId id="2147483898" r:id="rId75"/>
    <p:sldLayoutId id="2147483899" r:id="rId76"/>
    <p:sldLayoutId id="2147483900" r:id="rId77"/>
    <p:sldLayoutId id="2147483901" r:id="rId78"/>
    <p:sldLayoutId id="2147483902" r:id="rId79"/>
    <p:sldLayoutId id="2147483903" r:id="rId80"/>
    <p:sldLayoutId id="2147483904" r:id="rId81"/>
    <p:sldLayoutId id="2147483905" r:id="rId82"/>
    <p:sldLayoutId id="2147483906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9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edu/python?hl=pt-B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edu/python?hl=pt-B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5.xml"/><Relationship Id="rId5" Type="http://schemas.openxmlformats.org/officeDocument/2006/relationships/hyperlink" Target="https://docs.python.org/pt-br/3/tutorial/datastructures.html" TargetMode="External"/><Relationship Id="rId4" Type="http://schemas.openxmlformats.org/officeDocument/2006/relationships/hyperlink" Target="https://blog.cielo.com.br/produtos-e-servicos/controle-de-estoque-pequenos-negocios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6" name="Google Shape;3456;p314"/>
          <p:cNvSpPr txBox="1"/>
          <p:nvPr/>
        </p:nvSpPr>
        <p:spPr>
          <a:xfrm>
            <a:off x="878134" y="3614426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22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8" name="Google Shape;3458;p314"/>
          <p:cNvSpPr txBox="1"/>
          <p:nvPr/>
        </p:nvSpPr>
        <p:spPr>
          <a:xfrm>
            <a:off x="878134" y="289350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3: Cadastrando e consultando no projeto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7EBB9285-CD0B-754F-977C-A9F8FD7AA28D}"/>
              </a:ext>
            </a:extLst>
          </p:cNvPr>
          <p:cNvSpPr txBox="1"/>
          <p:nvPr/>
        </p:nvSpPr>
        <p:spPr>
          <a:xfrm>
            <a:off x="878134" y="209461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7E31470C-7791-B1AF-D04F-5C19F5C34216}"/>
              </a:ext>
            </a:extLst>
          </p:cNvPr>
          <p:cNvSpPr txBox="1"/>
          <p:nvPr/>
        </p:nvSpPr>
        <p:spPr>
          <a:xfrm>
            <a:off x="798721" y="1307454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C47AA663-B2A1-3D69-D202-A4764771A57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011FCF-2A1F-678D-3403-055ED931F292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3562B59D-FCC4-550A-06BE-E9800B711A67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A15C774-5BE0-6DF3-E929-DA6C5C37D808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8729B55E-89B4-AD08-3A2F-E236E7F70806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8D0FDF1-DC17-6E9F-7B12-794266EF0174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2300314F-50B7-F353-21B6-FCD185644AD8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FB80A29C-93EA-C052-ABCB-79181687DE1A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729C0330-DDC5-70EC-65DF-6CB68A1BF5FD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B6F986BF-CBC5-D5F4-94A6-5A4EB9AB8491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2046CDD2-696B-7553-32F9-789E5D906039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45389CE9-9134-D979-530F-B8CB2459671D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66A3CD4E-E84C-547C-2547-B71B7FCA84F4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D96C8D71-8A6A-128A-CF4D-95FA9EBAC7E4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E79C8C0A-490C-B9CB-FDA6-830AC14A2EB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C4FE6270-8640-C98B-0CF8-2F0B4D74F037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EACEEBB3-BE11-E4DB-0CB0-6A6F72D82D15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9A81F2DA-39D5-5F07-0FC0-00079FC7E300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32E9A541-D0FE-5314-032A-7385BA9E9EAD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6650F67-CA1A-C866-6379-B99AEF2483BA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41AE4DA-99AD-5FE2-AC5F-150E4388E8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AA12F6AC-9101-EC7F-BDB4-C7031E045DD3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509CF9FC-7F7B-4497-1F8C-F314E7285AE0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6EAC4B66-470D-0327-F3C0-FF4402B6343B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0DFAC817-9F8B-0DB2-A8F6-AB27E1EC385B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5898B839-2FDC-2F32-B950-E9C6ECB6252D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ED4BCC4C-2F25-795D-8300-F0E26DF7B76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EE5EE166-7B21-412E-CAA3-96F783347CCA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0835665B-99F8-1CDB-8754-079420421F8D}"/>
              </a:ext>
            </a:extLst>
          </p:cNvPr>
          <p:cNvSpPr/>
          <p:nvPr/>
        </p:nvSpPr>
        <p:spPr>
          <a:xfrm>
            <a:off x="8032927" y="245021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AA44D083-B55F-9988-3F58-71EC7DCD68D6}"/>
              </a:ext>
            </a:extLst>
          </p:cNvPr>
          <p:cNvCxnSpPr>
            <a:cxnSpLocks/>
            <a:stCxn id="30" idx="3"/>
            <a:endCxn id="17" idx="2"/>
          </p:cNvCxnSpPr>
          <p:nvPr/>
        </p:nvCxnSpPr>
        <p:spPr>
          <a:xfrm flipH="1">
            <a:off x="7564788" y="2907799"/>
            <a:ext cx="546648" cy="68186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C326A2FD-ED14-79C4-0355-6D58CA4F3402}"/>
              </a:ext>
            </a:extLst>
          </p:cNvPr>
          <p:cNvSpPr txBox="1"/>
          <p:nvPr/>
        </p:nvSpPr>
        <p:spPr>
          <a:xfrm>
            <a:off x="4176299" y="5523582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dirty="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71EF9037-9A33-08A3-CBC1-D54564CFEE80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22532" y="5546944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395747AD-289F-02C5-006D-0CA584849098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DA906E99-74C1-894E-4648-D6885CF759D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36D55778-A808-6618-E20F-AF286D2C1AE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954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A6F98FA5-3111-8B63-09F7-B4595B787765}"/>
              </a:ext>
            </a:extLst>
          </p:cNvPr>
          <p:cNvSpPr txBox="1"/>
          <p:nvPr/>
        </p:nvSpPr>
        <p:spPr>
          <a:xfrm>
            <a:off x="307804" y="3754483"/>
            <a:ext cx="209745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Funções e procedimentos – modularização I</a:t>
            </a:r>
            <a:endParaRPr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D411EE31-F0AB-8C71-4896-31D9F590681E}"/>
              </a:ext>
            </a:extLst>
          </p:cNvPr>
          <p:cNvSpPr txBox="1"/>
          <p:nvPr/>
        </p:nvSpPr>
        <p:spPr>
          <a:xfrm>
            <a:off x="4207454" y="5836005"/>
            <a:ext cx="236049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CE6FA4F7-A278-5B93-7AD8-EF2F6D65D588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dirty="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91998BBD-7708-3C6E-E8C3-77D94794D14C}"/>
              </a:ext>
            </a:extLst>
          </p:cNvPr>
          <p:cNvSpPr txBox="1"/>
          <p:nvPr/>
        </p:nvSpPr>
        <p:spPr>
          <a:xfrm>
            <a:off x="8610341" y="2364721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8235072C-20FB-7564-A050-BD896F2EB57F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B8860E5C-255F-C70B-4A21-A52D2F00D113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C573D349-3F29-B55E-9F3A-A0F379E589CD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E338347-C87C-DE27-1C14-0ACD67028D2D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13F72AA6-5D6D-7604-2172-A1E13A0AC176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BEA3D7D3-E755-3818-1082-7A771502E3E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DD04C494-382F-F0B4-6BA5-60DD053BDE3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76758" y="359983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B54A1CD2-8422-75F6-5E08-2E9C82996889}"/>
              </a:ext>
            </a:extLst>
          </p:cNvPr>
          <p:cNvSpPr txBox="1"/>
          <p:nvPr/>
        </p:nvSpPr>
        <p:spPr>
          <a:xfrm>
            <a:off x="9949361" y="4318725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D87571BF-ABD0-62AA-3234-0EFE5000930A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DEEEF835-491F-DE22-3D91-EAAFA9C71DD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86434497-E9E4-34D9-E605-FF0F33EA830F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4E7829B0-6CCA-F5D9-BFF1-62C4B3C9F7EC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B431AA6C-5F92-D086-6842-098BA8A9DA8B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178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3" name="Google Shape;3513;p31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514" name="Google Shape;3514;p316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316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6" name="Google Shape;3516;p316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17" name="Google Shape;3517;p316"/>
          <p:cNvSpPr txBox="1"/>
          <p:nvPr/>
        </p:nvSpPr>
        <p:spPr>
          <a:xfrm>
            <a:off x="3331829" y="5313222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SISANO1C1B4S22A3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316"/>
          <p:cNvSpPr txBox="1"/>
          <p:nvPr/>
        </p:nvSpPr>
        <p:spPr>
          <a:xfrm>
            <a:off x="3331829" y="3241925"/>
            <a:ext cx="46024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2" name="Google Shape;3522;p316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316"/>
          <p:cNvSpPr txBox="1"/>
          <p:nvPr/>
        </p:nvSpPr>
        <p:spPr>
          <a:xfrm>
            <a:off x="3331829" y="4370688"/>
            <a:ext cx="4602496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3: Cadastrando e consultando no projeto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.</a:t>
            </a:r>
            <a:endParaRPr lang="pt-BR"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C473EC1-663C-2DEC-4E2F-A7638054D376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C259DBD9-F481-DA68-14D1-B6857289E469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BD4AA09-4B6D-C29D-AEC3-BC01FAA149BA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59C21602-DEE9-5A5D-CF5A-255CA1CA3CC1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p317"/>
          <p:cNvSpPr txBox="1">
            <a:spLocks noGrp="1"/>
          </p:cNvSpPr>
          <p:nvPr>
            <p:ph type="body" idx="1"/>
          </p:nvPr>
        </p:nvSpPr>
        <p:spPr>
          <a:xfrm>
            <a:off x="1467908" y="1390650"/>
            <a:ext cx="4348429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Implementar no projeto funcionalidades de cadastro e consulta usando vetores ou listas simples.</a:t>
            </a:r>
          </a:p>
        </p:txBody>
      </p:sp>
      <p:sp>
        <p:nvSpPr>
          <p:cNvPr id="3534" name="Google Shape;3534;p317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vetores ou listas simples, condicionais compostas e repetição na implementação de cadastros em memória com menu textual.</a:t>
            </a:r>
            <a:endParaRPr/>
          </a:p>
        </p:txBody>
      </p:sp>
      <p:sp>
        <p:nvSpPr>
          <p:cNvPr id="3535" name="Google Shape;3535;p317"/>
          <p:cNvSpPr txBox="1">
            <a:spLocks noGrp="1"/>
          </p:cNvSpPr>
          <p:nvPr>
            <p:ph type="body" idx="3"/>
          </p:nvPr>
        </p:nvSpPr>
        <p:spPr>
          <a:xfrm>
            <a:off x="7467375" y="3427548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Exercer autocontrole ao organizar dados em memória e revisar a lógica do programa com atenção aos critérios definidos.</a:t>
            </a:r>
            <a:endParaRPr dirty="0"/>
          </a:p>
        </p:txBody>
      </p:sp>
      <p:sp>
        <p:nvSpPr>
          <p:cNvPr id="3536" name="Google Shape;3536;p317"/>
          <p:cNvSpPr txBox="1">
            <a:spLocks noGrp="1"/>
          </p:cNvSpPr>
          <p:nvPr>
            <p:ph type="body" idx="4"/>
          </p:nvPr>
        </p:nvSpPr>
        <p:spPr>
          <a:xfrm>
            <a:off x="1467908" y="3427548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1" name="Google Shape;3541;p318"/>
          <p:cNvSpPr txBox="1"/>
          <p:nvPr/>
        </p:nvSpPr>
        <p:spPr>
          <a:xfrm>
            <a:off x="3238725" y="2968450"/>
            <a:ext cx="3466800" cy="115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Roteiro de atividade prática;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instalado.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2" name="Google Shape;3542;p318"/>
          <p:cNvSpPr txBox="1"/>
          <p:nvPr/>
        </p:nvSpPr>
        <p:spPr>
          <a:xfrm>
            <a:off x="7312925" y="2893051"/>
            <a:ext cx="3832500" cy="166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57200" lvl="0" indent="-330200" algn="l" rt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Retome o projeto da Papelaria Ponto Certo.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 o cadastro e a consulta de produtos.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Explore a estrutura da lista em memória.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Implemente as melhorias e execute novos testes.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4" name="Google Shape;3544;p318"/>
          <p:cNvSpPr txBox="1">
            <a:spLocks noGrp="1"/>
          </p:cNvSpPr>
          <p:nvPr>
            <p:ph type="body" idx="1"/>
          </p:nvPr>
        </p:nvSpPr>
        <p:spPr>
          <a:xfrm>
            <a:off x="2768470" y="325920"/>
            <a:ext cx="7582161" cy="9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Implementando o cadastro e a consulta de produtos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" name="Google Shape;3286;p302">
            <a:extLst>
              <a:ext uri="{FF2B5EF4-FFF2-40B4-BE49-F238E27FC236}">
                <a16:creationId xmlns:a16="http://schemas.microsoft.com/office/drawing/2014/main" id="{B28B711B-DA85-E0B4-807A-8FD03953783A}"/>
              </a:ext>
            </a:extLst>
          </p:cNvPr>
          <p:cNvGrpSpPr/>
          <p:nvPr/>
        </p:nvGrpSpPr>
        <p:grpSpPr>
          <a:xfrm>
            <a:off x="464700" y="4726096"/>
            <a:ext cx="284760" cy="286054"/>
            <a:chOff x="11797069" y="2783619"/>
            <a:chExt cx="427118" cy="429059"/>
          </a:xfrm>
        </p:grpSpPr>
        <p:sp>
          <p:nvSpPr>
            <p:cNvPr id="37" name="Google Shape;3287;p302">
              <a:extLst>
                <a:ext uri="{FF2B5EF4-FFF2-40B4-BE49-F238E27FC236}">
                  <a16:creationId xmlns:a16="http://schemas.microsoft.com/office/drawing/2014/main" id="{5983B462-0B8D-8DB0-0147-C9BBE42F7316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288;p302">
              <a:extLst>
                <a:ext uri="{FF2B5EF4-FFF2-40B4-BE49-F238E27FC236}">
                  <a16:creationId xmlns:a16="http://schemas.microsoft.com/office/drawing/2014/main" id="{66314DF5-F9AD-C3DE-8793-A4AA9EE062CD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89;p302">
              <a:extLst>
                <a:ext uri="{FF2B5EF4-FFF2-40B4-BE49-F238E27FC236}">
                  <a16:creationId xmlns:a16="http://schemas.microsoft.com/office/drawing/2014/main" id="{EF203F73-3F39-C91A-8A4A-09D97F8A5BCB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290;p302">
              <a:extLst>
                <a:ext uri="{FF2B5EF4-FFF2-40B4-BE49-F238E27FC236}">
                  <a16:creationId xmlns:a16="http://schemas.microsoft.com/office/drawing/2014/main" id="{2D35DF33-5129-81A2-AB86-1594A4B89BB5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" name="Google Shape;3291;p302">
              <a:extLst>
                <a:ext uri="{FF2B5EF4-FFF2-40B4-BE49-F238E27FC236}">
                  <a16:creationId xmlns:a16="http://schemas.microsoft.com/office/drawing/2014/main" id="{B3712818-437D-BE98-291A-D11E02792ADB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</p:grpSpPr>
          <p:sp>
            <p:nvSpPr>
              <p:cNvPr id="42" name="Google Shape;3292;p302">
                <a:extLst>
                  <a:ext uri="{FF2B5EF4-FFF2-40B4-BE49-F238E27FC236}">
                    <a16:creationId xmlns:a16="http://schemas.microsoft.com/office/drawing/2014/main" id="{1A7C30AE-5F58-84BD-6028-448BB63D2AF0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3293;p302">
                <a:extLst>
                  <a:ext uri="{FF2B5EF4-FFF2-40B4-BE49-F238E27FC236}">
                    <a16:creationId xmlns:a16="http://schemas.microsoft.com/office/drawing/2014/main" id="{F76DF3A3-4A67-839A-DAC7-6A4CE9049858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3294;p302">
                <a:extLst>
                  <a:ext uri="{FF2B5EF4-FFF2-40B4-BE49-F238E27FC236}">
                    <a16:creationId xmlns:a16="http://schemas.microsoft.com/office/drawing/2014/main" id="{59FCBAE9-2F01-C0B8-1BFC-2BF1873F32C9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3295;p302">
                <a:extLst>
                  <a:ext uri="{FF2B5EF4-FFF2-40B4-BE49-F238E27FC236}">
                    <a16:creationId xmlns:a16="http://schemas.microsoft.com/office/drawing/2014/main" id="{DF74CB70-B409-6F10-BD55-5CFD9A3FE0C4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3296;p302">
                <a:extLst>
                  <a:ext uri="{FF2B5EF4-FFF2-40B4-BE49-F238E27FC236}">
                    <a16:creationId xmlns:a16="http://schemas.microsoft.com/office/drawing/2014/main" id="{FE2FFD5F-370A-3466-5BB7-19AC5DA4BE06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3297;p302">
                <a:extLst>
                  <a:ext uri="{FF2B5EF4-FFF2-40B4-BE49-F238E27FC236}">
                    <a16:creationId xmlns:a16="http://schemas.microsoft.com/office/drawing/2014/main" id="{50BB9E71-DE18-173B-2F40-403A72CA1378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3298;p302">
                <a:extLst>
                  <a:ext uri="{FF2B5EF4-FFF2-40B4-BE49-F238E27FC236}">
                    <a16:creationId xmlns:a16="http://schemas.microsoft.com/office/drawing/2014/main" id="{405166B7-4FCD-BEC6-F67C-7943F2E49941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3299;p302">
                <a:extLst>
                  <a:ext uri="{FF2B5EF4-FFF2-40B4-BE49-F238E27FC236}">
                    <a16:creationId xmlns:a16="http://schemas.microsoft.com/office/drawing/2014/main" id="{76689CFA-C14E-345A-C2FA-00D502277864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3300;p302">
                <a:extLst>
                  <a:ext uri="{FF2B5EF4-FFF2-40B4-BE49-F238E27FC236}">
                    <a16:creationId xmlns:a16="http://schemas.microsoft.com/office/drawing/2014/main" id="{6FB3BD44-3409-7672-A1EC-DA4E9C1DA0F3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3301;p302">
                <a:extLst>
                  <a:ext uri="{FF2B5EF4-FFF2-40B4-BE49-F238E27FC236}">
                    <a16:creationId xmlns:a16="http://schemas.microsoft.com/office/drawing/2014/main" id="{9E0ABE3A-D1DE-E28C-5EF5-169557921DFC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3" name="Espaço Reservado para Texto 6">
            <a:extLst>
              <a:ext uri="{FF2B5EF4-FFF2-40B4-BE49-F238E27FC236}">
                <a16:creationId xmlns:a16="http://schemas.microsoft.com/office/drawing/2014/main" id="{225F8E30-CD2B-EF42-B139-A07D5366E236}"/>
              </a:ext>
            </a:extLst>
          </p:cNvPr>
          <p:cNvSpPr txBox="1">
            <a:spLocks/>
          </p:cNvSpPr>
          <p:nvPr/>
        </p:nvSpPr>
        <p:spPr>
          <a:xfrm>
            <a:off x="854491" y="4775003"/>
            <a:ext cx="1733054" cy="2740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Durante a aula</a:t>
            </a:r>
          </a:p>
        </p:txBody>
      </p:sp>
      <p:sp>
        <p:nvSpPr>
          <p:cNvPr id="3526" name="Espaço Reservado para Texto 6">
            <a:extLst>
              <a:ext uri="{FF2B5EF4-FFF2-40B4-BE49-F238E27FC236}">
                <a16:creationId xmlns:a16="http://schemas.microsoft.com/office/drawing/2014/main" id="{39A678DF-64A3-96F8-9D2A-60ED78755AB2}"/>
              </a:ext>
            </a:extLst>
          </p:cNvPr>
          <p:cNvSpPr txBox="1">
            <a:spLocks/>
          </p:cNvSpPr>
          <p:nvPr/>
        </p:nvSpPr>
        <p:spPr>
          <a:xfrm>
            <a:off x="854491" y="5220796"/>
            <a:ext cx="1733054" cy="2740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Individual</a:t>
            </a:r>
          </a:p>
        </p:txBody>
      </p:sp>
      <p:pic>
        <p:nvPicPr>
          <p:cNvPr id="3527" name="Gráfico 3526">
            <a:extLst>
              <a:ext uri="{FF2B5EF4-FFF2-40B4-BE49-F238E27FC236}">
                <a16:creationId xmlns:a16="http://schemas.microsoft.com/office/drawing/2014/main" id="{19F7CEDC-4DA9-8801-A09C-849B96274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95" y="5164457"/>
            <a:ext cx="33655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8DDE2452-6BC5-93D6-80C2-244AB294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676DD364-B829-71A8-43AB-47DA6641D8B4}"/>
              </a:ext>
            </a:extLst>
          </p:cNvPr>
          <p:cNvSpPr/>
          <p:nvPr/>
        </p:nvSpPr>
        <p:spPr>
          <a:xfrm>
            <a:off x="3026388" y="368301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AEA6D60A-2FE9-27EC-AC29-F31CBE1B4C55}"/>
              </a:ext>
            </a:extLst>
          </p:cNvPr>
          <p:cNvSpPr/>
          <p:nvPr/>
        </p:nvSpPr>
        <p:spPr>
          <a:xfrm>
            <a:off x="6738417" y="366974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4C871066-AFCF-1083-4700-EA9AE9EA8C2A}"/>
              </a:ext>
            </a:extLst>
          </p:cNvPr>
          <p:cNvSpPr/>
          <p:nvPr/>
        </p:nvSpPr>
        <p:spPr>
          <a:xfrm>
            <a:off x="3026388" y="477231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E64BD6C4-137F-E656-4004-6CD20C34EBA2}"/>
              </a:ext>
            </a:extLst>
          </p:cNvPr>
          <p:cNvSpPr/>
          <p:nvPr/>
        </p:nvSpPr>
        <p:spPr>
          <a:xfrm>
            <a:off x="6738417" y="475904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8BDA4E13-3EE8-77ED-4F83-2A6F3CB0341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7D783D4-8209-EDAC-2B07-DBC16321D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2178E2AD-D8A1-D46F-16AA-9A674E70F33A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00D4DBA6-298E-9450-97F3-1B4C42A42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2070" y="708209"/>
            <a:ext cx="7068623" cy="2591172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/>
              <a:t>A consulta percorre a lista comparando cada item. Se a repetição terminar sem encontrar o produto, o que o programa deverá fazer?</a:t>
            </a:r>
          </a:p>
          <a:p>
            <a:pPr lvl="4"/>
            <a:endParaRPr lang="pt-BR" sz="3200" dirty="0"/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14F96CFC-9780-2BD5-8C1C-3A1A15AFE8D6}"/>
              </a:ext>
            </a:extLst>
          </p:cNvPr>
          <p:cNvSpPr txBox="1"/>
          <p:nvPr/>
        </p:nvSpPr>
        <p:spPr>
          <a:xfrm>
            <a:off x="3090629" y="4877639"/>
            <a:ext cx="326924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Informar que o produto não foi encontrado </a:t>
            </a:r>
            <a:endParaRPr lang="pt-BR" sz="2000" dirty="0"/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92B95CA1-F33B-A664-5BDA-D693BAE22271}"/>
              </a:ext>
            </a:extLst>
          </p:cNvPr>
          <p:cNvSpPr txBox="1"/>
          <p:nvPr/>
        </p:nvSpPr>
        <p:spPr>
          <a:xfrm>
            <a:off x="6809393" y="4856129"/>
            <a:ext cx="325425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Encerrar sem mostrar nenhuma mensagem</a:t>
            </a:r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DFA13911-7A5B-62D7-E537-DAA5A8215AEE}"/>
              </a:ext>
            </a:extLst>
          </p:cNvPr>
          <p:cNvSpPr txBox="1"/>
          <p:nvPr/>
        </p:nvSpPr>
        <p:spPr>
          <a:xfrm>
            <a:off x="3075254" y="3784170"/>
            <a:ext cx="32896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Criar automaticamente o produto na lista</a:t>
            </a:r>
            <a:endParaRPr lang="pt-BR" sz="2000" dirty="0"/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AFE8D2D5-8473-7E40-72B4-464732E04ED5}"/>
              </a:ext>
            </a:extLst>
          </p:cNvPr>
          <p:cNvSpPr txBox="1"/>
          <p:nvPr/>
        </p:nvSpPr>
        <p:spPr>
          <a:xfrm>
            <a:off x="7113922" y="3770898"/>
            <a:ext cx="264282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Repetir a busca desde o início</a:t>
            </a:r>
          </a:p>
        </p:txBody>
      </p:sp>
    </p:spTree>
    <p:extLst>
      <p:ext uri="{BB962C8B-B14F-4D97-AF65-F5344CB8AC3E}">
        <p14:creationId xmlns:p14="http://schemas.microsoft.com/office/powerpoint/2010/main" val="278411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90901B14-1D82-3DB6-97E1-CF4CCD2ECC31}"/>
              </a:ext>
            </a:extLst>
          </p:cNvPr>
          <p:cNvSpPr/>
          <p:nvPr/>
        </p:nvSpPr>
        <p:spPr>
          <a:xfrm>
            <a:off x="10217525" y="488057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5;p98">
            <a:extLst>
              <a:ext uri="{FF2B5EF4-FFF2-40B4-BE49-F238E27FC236}">
                <a16:creationId xmlns:a16="http://schemas.microsoft.com/office/drawing/2014/main" id="{9FD76F00-80C9-C32C-B707-9B706920B70A}"/>
              </a:ext>
            </a:extLst>
          </p:cNvPr>
          <p:cNvSpPr/>
          <p:nvPr/>
        </p:nvSpPr>
        <p:spPr>
          <a:xfrm>
            <a:off x="2437471" y="3805423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36;p98">
            <a:extLst>
              <a:ext uri="{FF2B5EF4-FFF2-40B4-BE49-F238E27FC236}">
                <a16:creationId xmlns:a16="http://schemas.microsoft.com/office/drawing/2014/main" id="{E013079C-2188-FD91-E8B8-894B37166A33}"/>
              </a:ext>
            </a:extLst>
          </p:cNvPr>
          <p:cNvSpPr/>
          <p:nvPr/>
        </p:nvSpPr>
        <p:spPr>
          <a:xfrm>
            <a:off x="10242028" y="3797393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37;p98">
            <a:extLst>
              <a:ext uri="{FF2B5EF4-FFF2-40B4-BE49-F238E27FC236}">
                <a16:creationId xmlns:a16="http://schemas.microsoft.com/office/drawing/2014/main" id="{93394F96-66FC-0DDF-4A6C-BA980A73178C}"/>
              </a:ext>
            </a:extLst>
          </p:cNvPr>
          <p:cNvSpPr/>
          <p:nvPr/>
        </p:nvSpPr>
        <p:spPr>
          <a:xfrm rot="-3043640">
            <a:off x="2508771" y="5038970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49;p64">
            <a:extLst>
              <a:ext uri="{FF2B5EF4-FFF2-40B4-BE49-F238E27FC236}">
                <a16:creationId xmlns:a16="http://schemas.microsoft.com/office/drawing/2014/main" id="{1208E0A6-6EF9-60D7-34CE-42298743874D}"/>
              </a:ext>
            </a:extLst>
          </p:cNvPr>
          <p:cNvSpPr/>
          <p:nvPr/>
        </p:nvSpPr>
        <p:spPr>
          <a:xfrm>
            <a:off x="3026388" y="368301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0;p64">
            <a:extLst>
              <a:ext uri="{FF2B5EF4-FFF2-40B4-BE49-F238E27FC236}">
                <a16:creationId xmlns:a16="http://schemas.microsoft.com/office/drawing/2014/main" id="{30498B67-B728-407A-F4E5-54AC8D8FF0FA}"/>
              </a:ext>
            </a:extLst>
          </p:cNvPr>
          <p:cNvSpPr/>
          <p:nvPr/>
        </p:nvSpPr>
        <p:spPr>
          <a:xfrm>
            <a:off x="6738417" y="366974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AA305FE2-8390-D120-BFBB-2823B337B3FD}"/>
              </a:ext>
            </a:extLst>
          </p:cNvPr>
          <p:cNvSpPr/>
          <p:nvPr/>
        </p:nvSpPr>
        <p:spPr>
          <a:xfrm>
            <a:off x="3026388" y="477231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3;p64">
            <a:extLst>
              <a:ext uri="{FF2B5EF4-FFF2-40B4-BE49-F238E27FC236}">
                <a16:creationId xmlns:a16="http://schemas.microsoft.com/office/drawing/2014/main" id="{900B4679-A9A8-F105-C725-92FCD94E5B7A}"/>
              </a:ext>
            </a:extLst>
          </p:cNvPr>
          <p:cNvSpPr/>
          <p:nvPr/>
        </p:nvSpPr>
        <p:spPr>
          <a:xfrm>
            <a:off x="6738417" y="475904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01C5FFC-29A7-3FDF-9A82-403CF8A28F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2070" y="708209"/>
            <a:ext cx="7068623" cy="2591172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/>
              <a:t>A consulta percorre a lista comparando cada item. Se a repetição terminar sem encontrar o produto, o que o programa deverá fazer?</a:t>
            </a:r>
          </a:p>
          <a:p>
            <a:pPr lvl="4"/>
            <a:endParaRPr lang="pt-BR" sz="3200" dirty="0"/>
          </a:p>
        </p:txBody>
      </p:sp>
      <p:sp>
        <p:nvSpPr>
          <p:cNvPr id="25" name="Google Shape;852;p64">
            <a:extLst>
              <a:ext uri="{FF2B5EF4-FFF2-40B4-BE49-F238E27FC236}">
                <a16:creationId xmlns:a16="http://schemas.microsoft.com/office/drawing/2014/main" id="{461F1C8C-4C39-44FC-33F8-1CD67191D2A2}"/>
              </a:ext>
            </a:extLst>
          </p:cNvPr>
          <p:cNvSpPr txBox="1"/>
          <p:nvPr/>
        </p:nvSpPr>
        <p:spPr>
          <a:xfrm>
            <a:off x="3090629" y="4877639"/>
            <a:ext cx="326924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Informar que o produto não foi encontrado </a:t>
            </a:r>
            <a:endParaRPr lang="pt-BR" sz="2000" dirty="0"/>
          </a:p>
        </p:txBody>
      </p:sp>
      <p:sp>
        <p:nvSpPr>
          <p:cNvPr id="26" name="Google Shape;854;p64">
            <a:extLst>
              <a:ext uri="{FF2B5EF4-FFF2-40B4-BE49-F238E27FC236}">
                <a16:creationId xmlns:a16="http://schemas.microsoft.com/office/drawing/2014/main" id="{CC03F5F7-A111-867B-FE5F-DFD7E5C39DC8}"/>
              </a:ext>
            </a:extLst>
          </p:cNvPr>
          <p:cNvSpPr txBox="1"/>
          <p:nvPr/>
        </p:nvSpPr>
        <p:spPr>
          <a:xfrm>
            <a:off x="6809393" y="4856129"/>
            <a:ext cx="325425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Encerrar sem mostrar nenhuma mensagem</a:t>
            </a:r>
          </a:p>
        </p:txBody>
      </p:sp>
      <p:sp>
        <p:nvSpPr>
          <p:cNvPr id="27" name="Google Shape;855;p64">
            <a:extLst>
              <a:ext uri="{FF2B5EF4-FFF2-40B4-BE49-F238E27FC236}">
                <a16:creationId xmlns:a16="http://schemas.microsoft.com/office/drawing/2014/main" id="{B3AFAD82-6D7C-ABCC-E4EE-6C8E2CF54963}"/>
              </a:ext>
            </a:extLst>
          </p:cNvPr>
          <p:cNvSpPr txBox="1"/>
          <p:nvPr/>
        </p:nvSpPr>
        <p:spPr>
          <a:xfrm>
            <a:off x="3075254" y="3784170"/>
            <a:ext cx="32896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Criar automaticamente o produto na lista</a:t>
            </a:r>
            <a:endParaRPr lang="pt-BR" sz="2000" dirty="0"/>
          </a:p>
        </p:txBody>
      </p:sp>
      <p:sp>
        <p:nvSpPr>
          <p:cNvPr id="28" name="Google Shape;856;p64">
            <a:extLst>
              <a:ext uri="{FF2B5EF4-FFF2-40B4-BE49-F238E27FC236}">
                <a16:creationId xmlns:a16="http://schemas.microsoft.com/office/drawing/2014/main" id="{46DE5EF0-4C70-96D4-4550-1B78B5D228D9}"/>
              </a:ext>
            </a:extLst>
          </p:cNvPr>
          <p:cNvSpPr txBox="1"/>
          <p:nvPr/>
        </p:nvSpPr>
        <p:spPr>
          <a:xfrm>
            <a:off x="7113922" y="3770898"/>
            <a:ext cx="264282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Repetir a busca desde o início</a:t>
            </a:r>
          </a:p>
        </p:txBody>
      </p:sp>
    </p:spTree>
    <p:extLst>
      <p:ext uri="{BB962C8B-B14F-4D97-AF65-F5344CB8AC3E}">
        <p14:creationId xmlns:p14="http://schemas.microsoft.com/office/powerpoint/2010/main" val="607450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7" name="Google Shape;3597;p321" title="diagrama (1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384" y="131977"/>
            <a:ext cx="2569443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8" name="Google Shape;3598;p321"/>
          <p:cNvSpPr txBox="1"/>
          <p:nvPr/>
        </p:nvSpPr>
        <p:spPr>
          <a:xfrm>
            <a:off x="9038400" y="6153481"/>
            <a:ext cx="2650837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Produzido pela SEDUC-SP com apoio da ferramenta ChatGPT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322"/>
          <p:cNvSpPr txBox="1">
            <a:spLocks noGrp="1"/>
          </p:cNvSpPr>
          <p:nvPr>
            <p:ph type="body" idx="1"/>
          </p:nvPr>
        </p:nvSpPr>
        <p:spPr>
          <a:xfrm>
            <a:off x="5410415" y="1703588"/>
            <a:ext cx="6344809" cy="255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Explore os exemplos da Aula de Python do Google e observe como programas podem ser desenvolvidos e aperfeiçoados por meio de pequenos testes e alterações sucessivas:</a:t>
            </a:r>
            <a:endParaRPr sz="1800" b="1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GOOGLE FOR EDUCATION. Aula de Python do Google. Disponível em: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https://developers.google.com/edu/python?hl=</a:t>
            </a:r>
            <a:r>
              <a:rPr lang="pt-BR" sz="1800" u="sng" dirty="0" err="1">
                <a:solidFill>
                  <a:schemeClr val="hlink"/>
                </a:solidFill>
                <a:hlinkClick r:id="rId3"/>
              </a:rPr>
              <a:t>pt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-BR</a:t>
            </a:r>
            <a:r>
              <a:rPr lang="pt-BR" sz="1800" u="sng" dirty="0">
                <a:solidFill>
                  <a:schemeClr val="hlink"/>
                </a:solidFill>
              </a:rPr>
              <a:t>. </a:t>
            </a:r>
            <a:r>
              <a:rPr lang="pt-BR" sz="1800" dirty="0"/>
              <a:t>Acesso em: 12 ago. 2026.</a:t>
            </a:r>
            <a:endParaRPr sz="1800" b="1" dirty="0"/>
          </a:p>
        </p:txBody>
      </p:sp>
      <p:sp>
        <p:nvSpPr>
          <p:cNvPr id="3604" name="Google Shape;3604;p322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323"/>
          <p:cNvSpPr txBox="1">
            <a:spLocks noGrp="1"/>
          </p:cNvSpPr>
          <p:nvPr>
            <p:ph type="body" idx="1"/>
          </p:nvPr>
        </p:nvSpPr>
        <p:spPr>
          <a:xfrm>
            <a:off x="592858" y="1569824"/>
            <a:ext cx="11081700" cy="262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Aula de Python do Google.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https://developers.google.com/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edu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python?hl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=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pt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-BR</a:t>
            </a:r>
            <a:r>
              <a:rPr lang="pt-BR" dirty="0"/>
              <a:t>. Acesso em: 8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EQUIPE CIELO. Controle de estoque para pequenos negócios: como fazer sem complicar. Blog Cielo, 2026.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https://blog.cielo.com.br/produtos-e-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servicos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/controle-de-estoque-pequenos-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negocios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/</a:t>
            </a:r>
            <a:r>
              <a:rPr lang="pt-BR" dirty="0"/>
              <a:t>. Acesso em: 4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Estruturas de dados. Documentação Python 3. Disponível em: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5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/3/tutorial/datastructures.html</a:t>
            </a:r>
            <a:r>
              <a:rPr lang="pt-BR" dirty="0"/>
              <a:t>. Acesso em: 4 ago. 2026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1" name="Google Shape;3621;p32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015;p287">
            <a:extLst>
              <a:ext uri="{FF2B5EF4-FFF2-40B4-BE49-F238E27FC236}">
                <a16:creationId xmlns:a16="http://schemas.microsoft.com/office/drawing/2014/main" id="{DE28EBB0-0F56-A16A-2086-674732716A83}"/>
              </a:ext>
            </a:extLst>
          </p:cNvPr>
          <p:cNvSpPr/>
          <p:nvPr/>
        </p:nvSpPr>
        <p:spPr>
          <a:xfrm>
            <a:off x="0" y="4498758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4" name="Google Shape;3624;p325"/>
          <p:cNvCxnSpPr>
            <a:cxnSpLocks/>
          </p:cNvCxnSpPr>
          <p:nvPr/>
        </p:nvCxnSpPr>
        <p:spPr>
          <a:xfrm flipH="1" flipV="1">
            <a:off x="681028" y="1018610"/>
            <a:ext cx="10200" cy="335542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622" name="Google Shape;3622;p325"/>
          <p:cNvSpPr txBox="1"/>
          <p:nvPr/>
        </p:nvSpPr>
        <p:spPr>
          <a:xfrm>
            <a:off x="985519" y="769850"/>
            <a:ext cx="7838533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3623" name="Google Shape;3623;p325"/>
          <p:cNvSpPr txBox="1"/>
          <p:nvPr/>
        </p:nvSpPr>
        <p:spPr>
          <a:xfrm>
            <a:off x="985519" y="1471449"/>
            <a:ext cx="10251300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 Utilize o roteiro da atividade prática para conduzir a evolução do sistema da Papelaria Ponto Certo. Oriente os estudantes a realizar as missões na sequência proposta, executando o programa após cada alteração para validar o funcionamento das funcionalidades implementadas.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45 minutos.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incentive os estudantes a trabalhar diretamente sobre o projeto desenvolvido na Semana 21, registrando pequenas alterações e testando continuamente o programa. Durante a atividade, circule pela sala para auxiliar na identificação de erros de lógica e estimular que os próprios estudantes interpretem as mensagens exibidas no terminal antes de realizar novas modificações.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apresente cada missão como uma etapa de evolução do sistema. Oriente a turma a validar o cadastro, explorar a estrutura da lista em memória, testar diferentes cenários de consulta e implementar as melhorias propostas. Ao final de cada missão, solicite que os estudantes executem o programa e comparem os resultados obtidos antes de prosseguir para a etapa seguinte.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disponível no roteiro de atividade prática do professor. </a:t>
            </a: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Espera-se que os estudantes compreendam como as funções manipulam a lista compartilhada do programa, realizem testes com diferentes cenários de cadastro e consulta e implementem corretamente as melhorias propostas, validando o funcionamento do sistema por meio da execução contínua do projeto.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grpSp>
        <p:nvGrpSpPr>
          <p:cNvPr id="3626" name="Google Shape;3626;p325"/>
          <p:cNvGrpSpPr/>
          <p:nvPr/>
        </p:nvGrpSpPr>
        <p:grpSpPr>
          <a:xfrm>
            <a:off x="493078" y="1457750"/>
            <a:ext cx="386100" cy="382500"/>
            <a:chOff x="497841" y="1318604"/>
            <a:chExt cx="386100" cy="382500"/>
          </a:xfrm>
        </p:grpSpPr>
        <p:sp>
          <p:nvSpPr>
            <p:cNvPr id="3627" name="Google Shape;3627;p325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325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9" name="Google Shape;3629;p325"/>
          <p:cNvGrpSpPr/>
          <p:nvPr/>
        </p:nvGrpSpPr>
        <p:grpSpPr>
          <a:xfrm>
            <a:off x="493078" y="2524432"/>
            <a:ext cx="386100" cy="382500"/>
            <a:chOff x="497841" y="2265726"/>
            <a:chExt cx="386100" cy="382500"/>
          </a:xfrm>
        </p:grpSpPr>
        <p:sp>
          <p:nvSpPr>
            <p:cNvPr id="3630" name="Google Shape;3630;p325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325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2" name="Google Shape;3632;p325"/>
          <p:cNvGrpSpPr/>
          <p:nvPr/>
        </p:nvGrpSpPr>
        <p:grpSpPr>
          <a:xfrm>
            <a:off x="493078" y="3758510"/>
            <a:ext cx="386100" cy="382500"/>
            <a:chOff x="497841" y="3801694"/>
            <a:chExt cx="386100" cy="382500"/>
          </a:xfrm>
        </p:grpSpPr>
        <p:sp>
          <p:nvSpPr>
            <p:cNvPr id="3633" name="Google Shape;3633;p32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25" name="Google Shape;3625;p325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4" name="Google Shape;3634;p325"/>
          <p:cNvGrpSpPr/>
          <p:nvPr/>
        </p:nvGrpSpPr>
        <p:grpSpPr>
          <a:xfrm>
            <a:off x="493078" y="1981519"/>
            <a:ext cx="386100" cy="382500"/>
            <a:chOff x="497841" y="1802325"/>
            <a:chExt cx="386100" cy="382500"/>
          </a:xfrm>
        </p:grpSpPr>
        <p:sp>
          <p:nvSpPr>
            <p:cNvPr id="3635" name="Google Shape;3635;p325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36" name="Google Shape;3636;p3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7" name="Google Shape;3637;p325"/>
          <p:cNvGrpSpPr/>
          <p:nvPr/>
        </p:nvGrpSpPr>
        <p:grpSpPr>
          <a:xfrm>
            <a:off x="493078" y="3126571"/>
            <a:ext cx="386100" cy="382500"/>
            <a:chOff x="497841" y="3037886"/>
            <a:chExt cx="386100" cy="382500"/>
          </a:xfrm>
        </p:grpSpPr>
        <p:sp>
          <p:nvSpPr>
            <p:cNvPr id="3638" name="Google Shape;3638;p32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39" name="Google Shape;3639;p325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" name="Google Shape;3017;p287">
            <a:extLst>
              <a:ext uri="{FF2B5EF4-FFF2-40B4-BE49-F238E27FC236}">
                <a16:creationId xmlns:a16="http://schemas.microsoft.com/office/drawing/2014/main" id="{B7400BA3-DCED-1F6B-242D-42AAD0B3E3DB}"/>
              </a:ext>
            </a:extLst>
          </p:cNvPr>
          <p:cNvCxnSpPr>
            <a:cxnSpLocks/>
          </p:cNvCxnSpPr>
          <p:nvPr/>
        </p:nvCxnSpPr>
        <p:spPr>
          <a:xfrm flipV="1">
            <a:off x="686128" y="4749281"/>
            <a:ext cx="0" cy="196260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" name="Google Shape;3016;p287">
            <a:extLst>
              <a:ext uri="{FF2B5EF4-FFF2-40B4-BE49-F238E27FC236}">
                <a16:creationId xmlns:a16="http://schemas.microsoft.com/office/drawing/2014/main" id="{8F628A42-9FE0-4EF1-B4A1-4965348558A5}"/>
              </a:ext>
            </a:extLst>
          </p:cNvPr>
          <p:cNvSpPr txBox="1"/>
          <p:nvPr/>
        </p:nvSpPr>
        <p:spPr>
          <a:xfrm>
            <a:off x="985519" y="4508918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dirty="0"/>
          </a:p>
        </p:txBody>
      </p:sp>
      <p:sp>
        <p:nvSpPr>
          <p:cNvPr id="6" name="Google Shape;3647;p338">
            <a:extLst>
              <a:ext uri="{FF2B5EF4-FFF2-40B4-BE49-F238E27FC236}">
                <a16:creationId xmlns:a16="http://schemas.microsoft.com/office/drawing/2014/main" id="{8ED62F64-61A1-B602-F107-CADA3B6AB4AE}"/>
              </a:ext>
            </a:extLst>
          </p:cNvPr>
          <p:cNvSpPr txBox="1"/>
          <p:nvPr/>
        </p:nvSpPr>
        <p:spPr>
          <a:xfrm>
            <a:off x="985519" y="5150947"/>
            <a:ext cx="10966610" cy="121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spcAft>
                <a:spcPts val="600"/>
              </a:spcAft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: 2 minutos.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Resposta correta: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informar que o produto não foi encontrado.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Feedback da atividade: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quando a repetição termina sem encontrar o dado procurado, o programa deve informar isso ao usuário, em vez de não fazer nada.</a:t>
            </a:r>
          </a:p>
        </p:txBody>
      </p:sp>
      <p:grpSp>
        <p:nvGrpSpPr>
          <p:cNvPr id="7" name="Google Shape;3650;p338">
            <a:extLst>
              <a:ext uri="{FF2B5EF4-FFF2-40B4-BE49-F238E27FC236}">
                <a16:creationId xmlns:a16="http://schemas.microsoft.com/office/drawing/2014/main" id="{B9AA426B-E9C4-3C6C-FC72-EC7D86EC0D0F}"/>
              </a:ext>
            </a:extLst>
          </p:cNvPr>
          <p:cNvGrpSpPr/>
          <p:nvPr/>
        </p:nvGrpSpPr>
        <p:grpSpPr>
          <a:xfrm>
            <a:off x="493078" y="5052599"/>
            <a:ext cx="386100" cy="382500"/>
            <a:chOff x="497841" y="1318604"/>
            <a:chExt cx="386100" cy="382500"/>
          </a:xfrm>
        </p:grpSpPr>
        <p:sp>
          <p:nvSpPr>
            <p:cNvPr id="8" name="Google Shape;3651;p338">
              <a:extLst>
                <a:ext uri="{FF2B5EF4-FFF2-40B4-BE49-F238E27FC236}">
                  <a16:creationId xmlns:a16="http://schemas.microsoft.com/office/drawing/2014/main" id="{0CB00BDB-2849-7C93-C15A-8CBDDC068A1C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652;p338">
              <a:extLst>
                <a:ext uri="{FF2B5EF4-FFF2-40B4-BE49-F238E27FC236}">
                  <a16:creationId xmlns:a16="http://schemas.microsoft.com/office/drawing/2014/main" id="{2BCC43CF-1B83-0A4E-4C6F-924FB934D4EC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3653;p338">
            <a:extLst>
              <a:ext uri="{FF2B5EF4-FFF2-40B4-BE49-F238E27FC236}">
                <a16:creationId xmlns:a16="http://schemas.microsoft.com/office/drawing/2014/main" id="{A91EF4DF-E6AB-B2FE-6FA2-D40B0DD18DE6}"/>
              </a:ext>
            </a:extLst>
          </p:cNvPr>
          <p:cNvGrpSpPr/>
          <p:nvPr/>
        </p:nvGrpSpPr>
        <p:grpSpPr>
          <a:xfrm>
            <a:off x="493078" y="5982624"/>
            <a:ext cx="386100" cy="382500"/>
            <a:chOff x="497841" y="3801694"/>
            <a:chExt cx="386100" cy="382500"/>
          </a:xfrm>
        </p:grpSpPr>
        <p:sp>
          <p:nvSpPr>
            <p:cNvPr id="11" name="Google Shape;3654;p338">
              <a:extLst>
                <a:ext uri="{FF2B5EF4-FFF2-40B4-BE49-F238E27FC236}">
                  <a16:creationId xmlns:a16="http://schemas.microsoft.com/office/drawing/2014/main" id="{4DF217E6-53C3-A2D9-82B9-2581AAE7DA40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3649;p338">
              <a:extLst>
                <a:ext uri="{FF2B5EF4-FFF2-40B4-BE49-F238E27FC236}">
                  <a16:creationId xmlns:a16="http://schemas.microsoft.com/office/drawing/2014/main" id="{AE82000D-BE61-0E34-3914-168E9293580A}"/>
                </a:ext>
              </a:extLst>
            </p:cNvPr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3655;p338">
            <a:extLst>
              <a:ext uri="{FF2B5EF4-FFF2-40B4-BE49-F238E27FC236}">
                <a16:creationId xmlns:a16="http://schemas.microsoft.com/office/drawing/2014/main" id="{E79B8A92-F4C1-84E6-79B6-9C041DE3E128}"/>
              </a:ext>
            </a:extLst>
          </p:cNvPr>
          <p:cNvGrpSpPr/>
          <p:nvPr/>
        </p:nvGrpSpPr>
        <p:grpSpPr>
          <a:xfrm>
            <a:off x="493078" y="5460120"/>
            <a:ext cx="386100" cy="382500"/>
            <a:chOff x="497841" y="1802325"/>
            <a:chExt cx="386100" cy="382500"/>
          </a:xfrm>
        </p:grpSpPr>
        <p:sp>
          <p:nvSpPr>
            <p:cNvPr id="14" name="Google Shape;3656;p338">
              <a:extLst>
                <a:ext uri="{FF2B5EF4-FFF2-40B4-BE49-F238E27FC236}">
                  <a16:creationId xmlns:a16="http://schemas.microsoft.com/office/drawing/2014/main" id="{F23A2438-DF15-764B-A0A0-794230E5BD20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3657;p338">
              <a:extLst>
                <a:ext uri="{FF2B5EF4-FFF2-40B4-BE49-F238E27FC236}">
                  <a16:creationId xmlns:a16="http://schemas.microsoft.com/office/drawing/2014/main" id="{D04FA32B-B774-231C-59E6-452219B0759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>
          <a:extLst>
            <a:ext uri="{FF2B5EF4-FFF2-40B4-BE49-F238E27FC236}">
              <a16:creationId xmlns:a16="http://schemas.microsoft.com/office/drawing/2014/main" id="{99F4AA83-5CD0-02FE-14E6-DFEEBE1A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A20B67AE-5F98-5B5B-BE6C-6ED482B349A0}"/>
              </a:ext>
            </a:extLst>
          </p:cNvPr>
          <p:cNvSpPr/>
          <p:nvPr/>
        </p:nvSpPr>
        <p:spPr>
          <a:xfrm>
            <a:off x="0" y="779963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40FC8723-C1D7-8D4E-CB3F-5DCC4C4FB3B0}"/>
              </a:ext>
            </a:extLst>
          </p:cNvPr>
          <p:cNvSpPr/>
          <p:nvPr/>
        </p:nvSpPr>
        <p:spPr>
          <a:xfrm>
            <a:off x="0" y="4934507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43AECC3C-E909-4617-D920-68E3267DB373}"/>
              </a:ext>
            </a:extLst>
          </p:cNvPr>
          <p:cNvCxnSpPr>
            <a:cxnSpLocks/>
          </p:cNvCxnSpPr>
          <p:nvPr/>
        </p:nvCxnSpPr>
        <p:spPr>
          <a:xfrm flipV="1">
            <a:off x="683554" y="5220008"/>
            <a:ext cx="0" cy="14824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F9A33243-B975-581F-63AA-B96FC57E7681}"/>
              </a:ext>
            </a:extLst>
          </p:cNvPr>
          <p:cNvCxnSpPr>
            <a:cxnSpLocks/>
          </p:cNvCxnSpPr>
          <p:nvPr/>
        </p:nvCxnSpPr>
        <p:spPr>
          <a:xfrm flipV="1">
            <a:off x="683554" y="1044198"/>
            <a:ext cx="0" cy="368805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3F5750-8892-7A3F-21FF-D42DA6CC9C26}"/>
              </a:ext>
            </a:extLst>
          </p:cNvPr>
          <p:cNvSpPr txBox="1"/>
          <p:nvPr/>
        </p:nvSpPr>
        <p:spPr>
          <a:xfrm>
            <a:off x="985520" y="776246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9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C5BA2F08-BB89-0B7D-5A3F-CF2153B5F63C}"/>
              </a:ext>
            </a:extLst>
          </p:cNvPr>
          <p:cNvSpPr/>
          <p:nvPr/>
        </p:nvSpPr>
        <p:spPr>
          <a:xfrm>
            <a:off x="492761" y="5510315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380A2BEA-FE6D-4B88-1635-97E1C887B109}"/>
              </a:ext>
            </a:extLst>
          </p:cNvPr>
          <p:cNvSpPr txBox="1"/>
          <p:nvPr/>
        </p:nvSpPr>
        <p:spPr>
          <a:xfrm>
            <a:off x="970280" y="4953160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10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10B498D0-BE53-F58D-1C2F-F2677F21E478}"/>
              </a:ext>
            </a:extLst>
          </p:cNvPr>
          <p:cNvSpPr/>
          <p:nvPr/>
        </p:nvSpPr>
        <p:spPr>
          <a:xfrm>
            <a:off x="492761" y="6080508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BDE8707E-1469-647A-1956-54F759EBB32E}"/>
              </a:ext>
            </a:extLst>
          </p:cNvPr>
          <p:cNvSpPr/>
          <p:nvPr/>
        </p:nvSpPr>
        <p:spPr>
          <a:xfrm>
            <a:off x="569898" y="5614182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0F1DD226-DBF2-BF6D-F730-A484B583EC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578" y="6168612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A1B23EE3-18E7-ECC9-2117-2A97A6B3DBD2}"/>
              </a:ext>
            </a:extLst>
          </p:cNvPr>
          <p:cNvSpPr txBox="1"/>
          <p:nvPr/>
        </p:nvSpPr>
        <p:spPr>
          <a:xfrm>
            <a:off x="992497" y="5566535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 dirty="0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 dirty="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25" name="Oval 8">
            <a:extLst>
              <a:ext uri="{FF2B5EF4-FFF2-40B4-BE49-F238E27FC236}">
                <a16:creationId xmlns:a16="http://schemas.microsoft.com/office/drawing/2014/main" id="{2936B5A6-D056-A60A-B1AD-379A29EA73FF}"/>
              </a:ext>
            </a:extLst>
          </p:cNvPr>
          <p:cNvSpPr/>
          <p:nvPr/>
        </p:nvSpPr>
        <p:spPr>
          <a:xfrm>
            <a:off x="497841" y="4084138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6" name="Oval 9">
            <a:extLst>
              <a:ext uri="{FF2B5EF4-FFF2-40B4-BE49-F238E27FC236}">
                <a16:creationId xmlns:a16="http://schemas.microsoft.com/office/drawing/2014/main" id="{68BFE9B0-630F-4AA7-E2C7-E8BD1300443A}"/>
              </a:ext>
            </a:extLst>
          </p:cNvPr>
          <p:cNvSpPr/>
          <p:nvPr/>
        </p:nvSpPr>
        <p:spPr>
          <a:xfrm>
            <a:off x="497841" y="3168294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7" name="Oval 10">
            <a:extLst>
              <a:ext uri="{FF2B5EF4-FFF2-40B4-BE49-F238E27FC236}">
                <a16:creationId xmlns:a16="http://schemas.microsoft.com/office/drawing/2014/main" id="{502520E6-3F11-E5CB-E053-30D31493BC5D}"/>
              </a:ext>
            </a:extLst>
          </p:cNvPr>
          <p:cNvSpPr/>
          <p:nvPr/>
        </p:nvSpPr>
        <p:spPr>
          <a:xfrm>
            <a:off x="497841" y="2461863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06B514B0-B3AD-4118-7FB6-08495A760733}"/>
              </a:ext>
            </a:extLst>
          </p:cNvPr>
          <p:cNvSpPr/>
          <p:nvPr/>
        </p:nvSpPr>
        <p:spPr>
          <a:xfrm>
            <a:off x="497841" y="190941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9" name="Oval 12">
            <a:extLst>
              <a:ext uri="{FF2B5EF4-FFF2-40B4-BE49-F238E27FC236}">
                <a16:creationId xmlns:a16="http://schemas.microsoft.com/office/drawing/2014/main" id="{F754762C-E85D-BCB5-FC21-5D2204D3CC9C}"/>
              </a:ext>
            </a:extLst>
          </p:cNvPr>
          <p:cNvSpPr/>
          <p:nvPr/>
        </p:nvSpPr>
        <p:spPr>
          <a:xfrm>
            <a:off x="497841" y="1396233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30" name="Google Shape;2216;p100">
            <a:extLst>
              <a:ext uri="{FF2B5EF4-FFF2-40B4-BE49-F238E27FC236}">
                <a16:creationId xmlns:a16="http://schemas.microsoft.com/office/drawing/2014/main" id="{B590FF65-2488-35B0-46C2-E4ADEB03A65E}"/>
              </a:ext>
            </a:extLst>
          </p:cNvPr>
          <p:cNvSpPr/>
          <p:nvPr/>
        </p:nvSpPr>
        <p:spPr>
          <a:xfrm>
            <a:off x="569897" y="1494788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51BA1A3F-47AF-6450-0AF3-477FF83628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865" y="2005530"/>
            <a:ext cx="156858" cy="188229"/>
          </a:xfrm>
          <a:prstGeom prst="rect">
            <a:avLst/>
          </a:prstGeom>
        </p:spPr>
      </p:pic>
      <p:sp>
        <p:nvSpPr>
          <p:cNvPr id="32" name="Google Shape;2223;p100">
            <a:extLst>
              <a:ext uri="{FF2B5EF4-FFF2-40B4-BE49-F238E27FC236}">
                <a16:creationId xmlns:a16="http://schemas.microsoft.com/office/drawing/2014/main" id="{375F731E-7A1F-B29D-9469-CE941A3D6E20}"/>
              </a:ext>
            </a:extLst>
          </p:cNvPr>
          <p:cNvSpPr>
            <a:spLocks/>
          </p:cNvSpPr>
          <p:nvPr/>
        </p:nvSpPr>
        <p:spPr>
          <a:xfrm>
            <a:off x="566852" y="2540293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ráfico 32">
            <a:extLst>
              <a:ext uri="{FF2B5EF4-FFF2-40B4-BE49-F238E27FC236}">
                <a16:creationId xmlns:a16="http://schemas.microsoft.com/office/drawing/2014/main" id="{5B372B46-0AFF-0677-0954-DDFC6411E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06" y="3238749"/>
            <a:ext cx="235296" cy="240643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3CD525C4-7C53-6F21-5C67-CBC716E11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782" y="4138258"/>
            <a:ext cx="208026" cy="266700"/>
          </a:xfrm>
          <a:prstGeom prst="rect">
            <a:avLst/>
          </a:prstGeom>
        </p:spPr>
      </p:pic>
      <p:sp>
        <p:nvSpPr>
          <p:cNvPr id="35" name="CaixaDeTexto 3">
            <a:extLst>
              <a:ext uri="{FF2B5EF4-FFF2-40B4-BE49-F238E27FC236}">
                <a16:creationId xmlns:a16="http://schemas.microsoft.com/office/drawing/2014/main" id="{731D9FFF-0473-7424-2E7A-99B4346B5478}"/>
              </a:ext>
            </a:extLst>
          </p:cNvPr>
          <p:cNvSpPr txBox="1"/>
          <p:nvPr/>
        </p:nvSpPr>
        <p:spPr>
          <a:xfrm>
            <a:off x="999415" y="1402658"/>
            <a:ext cx="10876724" cy="313932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 e articular os principais pontos da aula.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Dê explicações diretas e objetivas para manter a atividade dentro do tempo estipulado.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</p:spTree>
    <p:extLst>
      <p:ext uri="{BB962C8B-B14F-4D97-AF65-F5344CB8AC3E}">
        <p14:creationId xmlns:p14="http://schemas.microsoft.com/office/powerpoint/2010/main" val="2288228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1087</Words>
  <Application>Microsoft Office PowerPoint</Application>
  <PresentationFormat>Ecrã Panorâmico</PresentationFormat>
  <Paragraphs>117</Paragraphs>
  <Slides>15</Slides>
  <Notes>15</Notes>
  <HiddenSlides>4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15</vt:i4>
      </vt:variant>
    </vt:vector>
  </HeadingPairs>
  <TitlesOfParts>
    <vt:vector size="23" baseType="lpstr">
      <vt:lpstr>Poppins</vt:lpstr>
      <vt:lpstr>Poppins Medium</vt:lpstr>
      <vt:lpstr>Calibri</vt:lpstr>
      <vt:lpstr>Arial</vt:lpstr>
      <vt:lpstr>Poppins Light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96</cp:revision>
  <dcterms:modified xsi:type="dcterms:W3CDTF">2026-08-27T18:17:19Z</dcterms:modified>
</cp:coreProperties>
</file>